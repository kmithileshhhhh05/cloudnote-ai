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91919"/>
                </a:solidFill>
                <a:latin typeface="Times New Roman"/>
              </a:defRPr>
            </a:pPr>
            <a:r>
              <a:rPr sz="1400" b="0" i="0" u="none" strike="noStrike">
                <a:solidFill>
                  <a:srgbClr val="191919"/>
                </a:solidFill>
                <a:latin typeface="Times New Roman"/>
              </a:rPr>
              <a:t>Passed checks by category</a:t>
            </a:r>
          </a:p>
        </c:rich>
      </c:tx>
      <c:layout/>
      <c:overlay val="0"/>
    </c:title>
    <c:autoTitleDeleted val="0"/>
    <c:plotArea>
      <c:layout/>
      <c:barChart>
        <c:barDir val="bar"/>
        <c:grouping val="clustered"/>
        <c:varyColors val="0"/>
        <c:ser>
          <c:idx val="0"/>
          <c:order val="0"/>
          <c:tx>
            <c:strRef>
              <c:f>Sheet1!$B$1</c:f>
              <c:strCache>
                <c:ptCount val="1"/>
                <c:pt idx="0">
                  <c:v>Passed</c:v>
                </c:pt>
              </c:strCache>
            </c:strRef>
          </c:tx>
          <c:spPr>
            <a:solidFill>
              <a:srgbClr val="2E7D32"/>
            </a:solidFill>
            <a:effectLst/>
          </c:spPr>
          <c:invertIfNegative val="0"/>
          <c:dLbls>
            <c:numFmt formatCode="#,##0" sourceLinked="0"/>
            <c:txPr>
              <a:bodyPr/>
              <a:lstStyle/>
              <a:p>
                <a:pPr>
                  <a:defRPr b="0" i="0" strike="noStrike" sz="1100" u="none">
                    <a:solidFill>
                      <a:srgbClr val="191919"/>
                    </a:solidFill>
                    <a:latin typeface="Times New Roman"/>
                  </a:defRPr>
                </a:pPr>
              </a:p>
            </c:txPr>
            <c:showLegendKey val="0"/>
            <c:showVal val="1"/>
            <c:showCatName val="0"/>
            <c:showSerName val="0"/>
            <c:showPercent val="0"/>
            <c:showBubbleSize val="0"/>
            <c:showLeaderLines val="0"/>
          </c:dLbls>
          <c:cat>
            <c:multiLvlStrRef>
              <c:f>Sheet1!$A$2:$A$12</c:f>
              <c:multiLvlStrCache>
                <c:ptCount val="11"/>
                <c:lvl>
                  <c:pt idx="0">
                    <c:v>Engine</c:v>
                  </c:pt>
                  <c:pt idx="1">
                    <c:v>Backend core</c:v>
                  </c:pt>
                  <c:pt idx="2">
                    <c:v>API</c:v>
                  </c:pt>
                  <c:pt idx="3">
                    <c:v>Authentication</c:v>
                  </c:pt>
                  <c:pt idx="4">
                    <c:v>Isolation</c:v>
                  </c:pt>
                  <c:pt idx="5">
                    <c:v>Input validation</c:v>
                  </c:pt>
                  <c:pt idx="6">
                    <c:v>Injection</c:v>
                  </c:pt>
                  <c:pt idx="7">
                    <c:v>Storage</c:v>
                  </c:pt>
                  <c:pt idx="8">
                    <c:v>Transcription</c:v>
                  </c:pt>
                  <c:pt idx="9">
                    <c:v>Features</c:v>
                  </c:pt>
                  <c:pt idx="10">
                    <c:v>Headers</c:v>
                  </c:pt>
                </c:lvl>
              </c:multiLvlStrCache>
            </c:multiLvlStrRef>
          </c:cat>
          <c:val>
            <c:numRef>
              <c:f>Sheet1!$B$2:$B$12</c:f>
              <c:numCache>
                <c:formatCode>General</c:formatCode>
                <c:ptCount val="11"/>
                <c:pt idx="0">
                  <c:v>13</c:v>
                </c:pt>
                <c:pt idx="1">
                  <c:v>22</c:v>
                </c:pt>
                <c:pt idx="2">
                  <c:v>24</c:v>
                </c:pt>
                <c:pt idx="3">
                  <c:v>13</c:v>
                </c:pt>
                <c:pt idx="4">
                  <c:v>4</c:v>
                </c:pt>
                <c:pt idx="5">
                  <c:v>6</c:v>
                </c:pt>
                <c:pt idx="6">
                  <c:v>2</c:v>
                </c:pt>
                <c:pt idx="7">
                  <c:v>6</c:v>
                </c:pt>
                <c:pt idx="8">
                  <c:v>2</c:v>
                </c:pt>
                <c:pt idx="9">
                  <c:v>5</c:v>
                </c:pt>
                <c:pt idx="10">
                  <c:v>5</c:v>
                </c:pt>
              </c:numCache>
            </c:numRef>
          </c:val>
        </c:ser>
        <c:dLbls>
          <c:numFmt formatCode="#,##0" sourceLinked="0"/>
          <c:txPr>
            <a:bodyPr/>
            <a:lstStyle/>
            <a:p>
              <a:pPr>
                <a:defRPr b="0" i="0" strike="noStrike" sz="1100" u="none">
                  <a:solidFill>
                    <a:srgbClr val="191919"/>
                  </a:solidFill>
                  <a:latin typeface="Times New Roman"/>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91919"/>
                </a:solidFill>
                <a:latin typeface="Times New Roman"/>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3E7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5F66"/>
                </a:solidFill>
                <a:latin typeface="Times New Roma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91919"/>
                </a:solidFill>
                <a:latin typeface="Times New Roman"/>
              </a:defRPr>
            </a:pPr>
            <a:r>
              <a:rPr sz="1400" b="0" i="0" u="none" strike="noStrike">
                <a:solidFill>
                  <a:srgbClr val="191919"/>
                </a:solidFill>
                <a:latin typeface="Times New Roman"/>
              </a:rPr>
              <a:t>Median end-to-end latency from India (ms, n = 40)</a:t>
            </a:r>
          </a:p>
        </c:rich>
      </c:tx>
      <c:layout/>
      <c:overlay val="0"/>
    </c:title>
    <c:autoTitleDeleted val="0"/>
    <c:plotArea>
      <c:layout/>
      <c:barChart>
        <c:barDir val="bar"/>
        <c:grouping val="clustered"/>
        <c:varyColors val="0"/>
        <c:ser>
          <c:idx val="0"/>
          <c:order val="0"/>
          <c:tx>
            <c:strRef>
              <c:f>Sheet1!$B$1</c:f>
              <c:strCache>
                <c:ptCount val="1"/>
                <c:pt idx="0">
                  <c:v>Median end-to-end from India (ms)</c:v>
                </c:pt>
              </c:strCache>
            </c:strRef>
          </c:tx>
          <c:spPr>
            <a:solidFill>
              <a:srgbClr val="C0504D"/>
            </a:solidFill>
            <a:effectLst/>
          </c:spPr>
          <c:invertIfNegative val="0"/>
          <c:dLbls>
            <c:numFmt formatCode="0" sourceLinked="0"/>
            <c:txPr>
              <a:bodyPr/>
              <a:lstStyle/>
              <a:p>
                <a:pPr>
                  <a:defRPr b="0" i="0" strike="noStrike" sz="1100" u="none">
                    <a:solidFill>
                      <a:srgbClr val="191919"/>
                    </a:solidFill>
                    <a:latin typeface="Times New Roman"/>
                  </a:defRPr>
                </a:pPr>
              </a:p>
            </c:txPr>
            <c:showLegendKey val="0"/>
            <c:showVal val="1"/>
            <c:showCatName val="0"/>
            <c:showSerName val="0"/>
            <c:showPercent val="0"/>
            <c:showBubbleSize val="0"/>
            <c:showLeaderLines val="0"/>
          </c:dLbls>
          <c:cat>
            <c:multiLvlStrRef>
              <c:f>Sheet1!$A$2:$A$8</c:f>
              <c:multiLvlStrCache>
                <c:ptCount val="7"/>
                <c:lvl>
                  <c:pt idx="0">
                    <c:v>me</c:v>
                  </c:pt>
                  <c:pt idx="1">
                    <c:v>videos</c:v>
                  </c:pt>
                  <c:pt idx="2">
                    <c:v>videos/:id</c:v>
                  </c:pt>
                  <c:pt idx="3">
                    <c:v>notes</c:v>
                  </c:pt>
                  <c:pt idx="4">
                    <c:v>search?q=</c:v>
                  </c:pt>
                  <c:pt idx="5">
                    <c:v>map</c:v>
                  </c:pt>
                  <c:pt idx="6">
                    <c:v>notifications</c:v>
                  </c:pt>
                </c:lvl>
              </c:multiLvlStrCache>
            </c:multiLvlStrRef>
          </c:cat>
          <c:val>
            <c:numRef>
              <c:f>Sheet1!$B$2:$B$8</c:f>
              <c:numCache>
                <c:formatCode>General</c:formatCode>
                <c:ptCount val="7"/>
                <c:pt idx="0">
                  <c:v>744.6</c:v>
                </c:pt>
                <c:pt idx="1">
                  <c:v>755</c:v>
                </c:pt>
                <c:pt idx="2">
                  <c:v>800.6</c:v>
                </c:pt>
                <c:pt idx="3">
                  <c:v>1591.1</c:v>
                </c:pt>
                <c:pt idx="4">
                  <c:v>541.4</c:v>
                </c:pt>
                <c:pt idx="5">
                  <c:v>553.5</c:v>
                </c:pt>
                <c:pt idx="6">
                  <c:v>570.5</c:v>
                </c:pt>
              </c:numCache>
            </c:numRef>
          </c:val>
        </c:ser>
        <c:dLbls>
          <c:numFmt formatCode="0" sourceLinked="0"/>
          <c:txPr>
            <a:bodyPr/>
            <a:lstStyle/>
            <a:p>
              <a:pPr>
                <a:defRPr b="0" i="0" strike="noStrike" sz="1100" u="none">
                  <a:solidFill>
                    <a:srgbClr val="191919"/>
                  </a:solidFill>
                  <a:latin typeface="Times New Roman"/>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91919"/>
                </a:solidFill>
                <a:latin typeface="Times New Roman"/>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3E7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5F66"/>
                </a:solidFill>
                <a:latin typeface="Times New Roma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the final review of our Engineering Capstone Project, CloudNote AI, a cloud-based platform for video note extraction and search. Team: K. Mithilesh Reddy (2320030330), Nitin Tulugu (2320030186) and Sargu Sai Chetan (2320030348), under the guidance of Dr. G. Neelima, Department of CSE. Today we show the system we built, deployed on AWS, and the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talk has three parts: the context and problem, the design of the system, and the results we measured on the live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Lectures are now recorded everywhere, but a video cannot be skimmed and recordings refer to each other. Our approach is a cloud platform that produces notes and answers that always point back to the exact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challenges we started from, and on the right how the system responds. Our research question is shown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were set at the first review. We revisit them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reviewed fifteen papers; the key ones are shown. Each provides a building block; none connects recordings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gap maps to a concrete feature we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three feature areas on one shared, secure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CloudFront serves the app from S3 and routes the API. API Gateway checks the Cognito token before Lambda runs. Uploads go straight to S3, Transcribe converts speech, EventBridge triggers the worker, and everything is stored per user in DynamoDB.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data lives in one DynamoDB table. Because the partition key is the user's id from the verified token, a user can never address another user's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layered: identity, gateway authorisation, partition isolation, private storage, transport headers and grounded AI output. We tested each layer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sequence shows one recording from upload to notes, including the EventBridge trigger and the model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language across the stack, all infrastructure as code, and 102 passing tests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note links to its moment. Questions get an answer with citations and timestamps, and off-topic questions are declined.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tab lists references to other recordings with suggested sources. A reference with no source can be remembered; when a later upload explains it, the bell shows one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shows which recordings depend on which. When no recording covers a topic, Know more gives a clearly labelled general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is one CloudFormation stack deployed with one command. Scan the QR code to open the live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 automated tests and 43 live checks against the deployed system all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 side the API takes about 15 milliseconds; most of what a user in India waits for is the round trip to the US region. Deploying in Mumbai would remove most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objectives were achieved. For context recovery the remaining step is to measure accuracy on real lecture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system works end to end on AWS. Next we will measure accuracy on real lecture series, enable semantic search and support Indian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source code is public on GitHub; scan the QR code. We are happy to take questions or give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9-1.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block"/>
          <p:cNvSpPr txBox="1"/>
          <p:nvPr/>
        </p:nvSpPr>
        <p:spPr>
          <a:xfrm>
            <a:off x="1097280" y="274320"/>
            <a:ext cx="9966960" cy="4572000"/>
          </a:xfrm>
          <a:prstGeom prst="rect">
            <a:avLst/>
          </a:prstGeom>
          <a:noFill/>
          <a:ln/>
        </p:spPr>
        <p:txBody>
          <a:bodyPr wrap="square" lIns="0" tIns="0" rIns="0" bIns="0" rtlCol="0" anchor="t"/>
          <a:lstStyle/>
          <a:p>
            <a:pPr algn="ctr" indent="0" marL="0">
              <a:spcAft>
                <a:spcPts val="200"/>
              </a:spcAft>
              <a:buNone/>
            </a:pPr>
            <a:r>
              <a:rPr lang="en-US" sz="2800" b="1" dirty="0">
                <a:solidFill>
                  <a:srgbClr val="C00000"/>
                </a:solidFill>
                <a:latin typeface="Times New Roman" pitchFamily="34" charset="0"/>
                <a:ea typeface="Times New Roman" pitchFamily="34" charset="-122"/>
                <a:cs typeface="Times New Roman" pitchFamily="34" charset="-120"/>
              </a:rPr>
              <a:t>ENGINEERING CAPSTONE PROJECT - 1</a:t>
            </a:r>
            <a:endParaRPr lang="en-US" sz="2800" dirty="0"/>
          </a:p>
          <a:p>
            <a:pPr algn="ctr" indent="0" marL="0">
              <a:spcAft>
                <a:spcPts val="200"/>
              </a:spcAft>
              <a:buNone/>
            </a:pPr>
            <a:r>
              <a:rPr lang="en-US" sz="2400" b="1" dirty="0">
                <a:solidFill>
                  <a:srgbClr val="0070C0"/>
                </a:solidFill>
                <a:latin typeface="Times New Roman" pitchFamily="34" charset="0"/>
                <a:ea typeface="Times New Roman" pitchFamily="34" charset="-122"/>
                <a:cs typeface="Times New Roman" pitchFamily="34" charset="-120"/>
              </a:rPr>
              <a:t>FINAL PROJECT REVIEW</a:t>
            </a:r>
            <a:endParaRPr lang="en-US" sz="2800" dirty="0"/>
          </a:p>
          <a:p>
            <a:pPr algn="ctr" indent="0" marL="0">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 </a:t>
            </a:r>
            <a:endParaRPr lang="en-US" sz="2800" dirty="0"/>
          </a:p>
          <a:p>
            <a:pPr algn="ctr" indent="0" marL="0">
              <a:spcAft>
                <a:spcPts val="200"/>
              </a:spcAft>
              <a:buNone/>
            </a:pPr>
            <a:r>
              <a:rPr lang="en-US" sz="1800" b="1" dirty="0">
                <a:solidFill>
                  <a:srgbClr val="00B050"/>
                </a:solidFill>
                <a:latin typeface="Times New Roman" pitchFamily="34" charset="0"/>
                <a:ea typeface="Times New Roman" pitchFamily="34" charset="-122"/>
                <a:cs typeface="Times New Roman" pitchFamily="34" charset="-120"/>
              </a:rPr>
              <a:t>CloudNote AI: Cloud-Based Intelligent Video Note Extraction and Semantic Search Platform</a:t>
            </a:r>
            <a:endParaRPr lang="en-US" sz="2800" dirty="0"/>
          </a:p>
          <a:p>
            <a:pPr algn="ctr" indent="0" marL="0">
              <a:spcAft>
                <a:spcPts val="200"/>
              </a:spcAft>
              <a:buNone/>
            </a:pPr>
            <a:r>
              <a:rPr lang="en-US" sz="800" dirty="0">
                <a:solidFill>
                  <a:srgbClr val="000000"/>
                </a:solidFill>
                <a:latin typeface="Times New Roman" pitchFamily="34" charset="0"/>
                <a:ea typeface="Times New Roman" pitchFamily="34" charset="-122"/>
                <a:cs typeface="Times New Roman" pitchFamily="34" charset="-120"/>
              </a:rPr>
              <a:t> </a:t>
            </a:r>
            <a:endParaRPr lang="en-US" sz="2800" dirty="0"/>
          </a:p>
          <a:p>
            <a:pPr algn="ctr" indent="0" marL="0">
              <a:spcAft>
                <a:spcPts val="200"/>
              </a:spcAft>
              <a:buNone/>
            </a:pPr>
            <a:r>
              <a:rPr lang="en-US" sz="1300" b="1" dirty="0">
                <a:solidFill>
                  <a:srgbClr val="191919"/>
                </a:solidFill>
                <a:latin typeface="Times New Roman" pitchFamily="34" charset="0"/>
                <a:ea typeface="Times New Roman" pitchFamily="34" charset="-122"/>
                <a:cs typeface="Times New Roman" pitchFamily="34" charset="-120"/>
              </a:rPr>
              <a:t>TEAM / ROLL NO.</a:t>
            </a:r>
            <a:endParaRPr lang="en-US" sz="2800" dirty="0"/>
          </a:p>
          <a:p>
            <a:pPr algn="ctr" indent="0" marL="0">
              <a:spcAft>
                <a:spcPts val="200"/>
              </a:spcAft>
              <a:buNone/>
            </a:pPr>
            <a:r>
              <a:rPr lang="en-US" sz="1300" b="1" dirty="0">
                <a:solidFill>
                  <a:srgbClr val="191919"/>
                </a:solidFill>
                <a:latin typeface="Times New Roman" pitchFamily="34" charset="0"/>
                <a:ea typeface="Times New Roman" pitchFamily="34" charset="-122"/>
                <a:cs typeface="Times New Roman" pitchFamily="34" charset="-120"/>
              </a:rPr>
              <a:t>2320030330  -  K. MITHILESH REDDY</a:t>
            </a:r>
            <a:endParaRPr lang="en-US" sz="2800" dirty="0"/>
          </a:p>
          <a:p>
            <a:pPr algn="ctr" indent="0" marL="0">
              <a:spcAft>
                <a:spcPts val="200"/>
              </a:spcAft>
              <a:buNone/>
            </a:pPr>
            <a:r>
              <a:rPr lang="en-US" sz="1300" b="1" dirty="0">
                <a:solidFill>
                  <a:srgbClr val="191919"/>
                </a:solidFill>
                <a:latin typeface="Times New Roman" pitchFamily="34" charset="0"/>
                <a:ea typeface="Times New Roman" pitchFamily="34" charset="-122"/>
                <a:cs typeface="Times New Roman" pitchFamily="34" charset="-120"/>
              </a:rPr>
              <a:t>2320030186  -  NITIN TULUGU</a:t>
            </a:r>
            <a:endParaRPr lang="en-US" sz="2800" dirty="0"/>
          </a:p>
          <a:p>
            <a:pPr algn="ctr" indent="0" marL="0">
              <a:spcAft>
                <a:spcPts val="200"/>
              </a:spcAft>
              <a:buNone/>
            </a:pPr>
            <a:r>
              <a:rPr lang="en-US" sz="1300" b="1" dirty="0">
                <a:solidFill>
                  <a:srgbClr val="191919"/>
                </a:solidFill>
                <a:latin typeface="Times New Roman" pitchFamily="34" charset="0"/>
                <a:ea typeface="Times New Roman" pitchFamily="34" charset="-122"/>
                <a:cs typeface="Times New Roman" pitchFamily="34" charset="-120"/>
              </a:rPr>
              <a:t>2320030348  -  SARGU SAI CHETAN</a:t>
            </a:r>
            <a:endParaRPr lang="en-US" sz="2800" dirty="0"/>
          </a:p>
          <a:p>
            <a:pPr algn="ctr" indent="0" marL="0">
              <a:spcAft>
                <a:spcPts val="200"/>
              </a:spcAft>
              <a:buNone/>
            </a:pPr>
            <a:r>
              <a:rPr lang="en-US" sz="1400" dirty="0">
                <a:solidFill>
                  <a:srgbClr val="00B050"/>
                </a:solidFill>
                <a:latin typeface="Times New Roman" pitchFamily="34" charset="0"/>
                <a:ea typeface="Times New Roman" pitchFamily="34" charset="-122"/>
                <a:cs typeface="Times New Roman" pitchFamily="34" charset="-120"/>
              </a:rPr>
              <a:t>Under the Guidance of</a:t>
            </a:r>
            <a:endParaRPr lang="en-US" sz="2800" dirty="0"/>
          </a:p>
          <a:p>
            <a:pPr algn="ctr" indent="0" marL="0">
              <a:spcAft>
                <a:spcPts val="200"/>
              </a:spcAft>
              <a:buNone/>
            </a:pPr>
            <a:r>
              <a:rPr lang="en-US" sz="1400" dirty="0">
                <a:solidFill>
                  <a:srgbClr val="00B050"/>
                </a:solidFill>
                <a:latin typeface="Times New Roman" pitchFamily="34" charset="0"/>
                <a:ea typeface="Times New Roman" pitchFamily="34" charset="-122"/>
                <a:cs typeface="Times New Roman" pitchFamily="34" charset="-120"/>
              </a:rPr>
              <a:t>DR. G. NEELIMA</a:t>
            </a:r>
            <a:endParaRPr lang="en-US" sz="2800" dirty="0"/>
          </a:p>
          <a:p>
            <a:pPr algn="ctr" indent="0" marL="0">
              <a:spcAft>
                <a:spcPts val="200"/>
              </a:spcAft>
              <a:buNone/>
            </a:pPr>
            <a:r>
              <a:rPr lang="en-US" sz="1400" dirty="0">
                <a:solidFill>
                  <a:srgbClr val="00B050"/>
                </a:solidFill>
                <a:latin typeface="Times New Roman" pitchFamily="34" charset="0"/>
                <a:ea typeface="Times New Roman" pitchFamily="34" charset="-122"/>
                <a:cs typeface="Times New Roman" pitchFamily="34" charset="-120"/>
              </a:rPr>
              <a:t>Department of Computer Science and Engineering</a:t>
            </a:r>
            <a:endParaRPr lang="en-US" sz="2800" dirty="0"/>
          </a:p>
        </p:txBody>
      </p:sp>
      <p:pic>
        <p:nvPicPr>
          <p:cNvPr id="3" name="img-1" descr="/private/tmp/claude-501/-Users-mithilesh-Downloads-cloudnote-site--1-/6c250750-b801-43eb-9bc6-27723f42fa53/scratchpad/docgen/img/kl_title.png">    </p:cNvPr>
          <p:cNvPicPr>
            <a:picLocks noChangeAspect="1"/>
          </p:cNvPicPr>
          <p:nvPr/>
        </p:nvPicPr>
        <p:blipFill>
          <a:blip r:embed="rId1"/>
          <a:stretch>
            <a:fillRect/>
          </a:stretch>
        </p:blipFill>
        <p:spPr>
          <a:xfrm>
            <a:off x="4857116" y="4892040"/>
            <a:ext cx="2447287" cy="1005840"/>
          </a:xfrm>
          <a:prstGeom prst="rect">
            <a:avLst/>
          </a:prstGeom>
        </p:spPr>
      </p:pic>
      <p:sp>
        <p:nvSpPr>
          <p:cNvPr id="4" name="klef"/>
          <p:cNvSpPr txBox="1"/>
          <p:nvPr/>
        </p:nvSpPr>
        <p:spPr>
          <a:xfrm>
            <a:off x="2286000" y="5943600"/>
            <a:ext cx="7589520" cy="320040"/>
          </a:xfrm>
          <a:prstGeom prst="rect">
            <a:avLst/>
          </a:prstGeom>
          <a:noFill/>
          <a:ln/>
        </p:spPr>
        <p:txBody>
          <a:bodyPr wrap="square" lIns="0" tIns="0" rIns="0" bIns="0" rtlCol="0" anchor="ctr"/>
          <a:lstStyle/>
          <a:p>
            <a:pPr algn="ctr" indent="0" marL="0">
              <a:buNone/>
            </a:pPr>
            <a:r>
              <a:rPr lang="en-US" sz="1400" b="1" dirty="0">
                <a:solidFill>
                  <a:srgbClr val="C00000"/>
                </a:solidFill>
                <a:latin typeface="Times New Roman" pitchFamily="34" charset="0"/>
                <a:ea typeface="Times New Roman" pitchFamily="34" charset="-122"/>
                <a:cs typeface="Times New Roman" pitchFamily="34" charset="-120"/>
              </a:rPr>
              <a:t>KONERU LAKSHMAIAH EDUCATION FOUNDATION</a:t>
            </a:r>
            <a:endParaRPr lang="en-US" sz="1400" dirty="0"/>
          </a:p>
        </p:txBody>
      </p:sp>
      <p:sp>
        <p:nvSpPr>
          <p:cNvPr id="5" name="d1"/>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6" name="n1"/>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logo-2"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3"/>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OUTLINE</a:t>
            </a:r>
            <a:endParaRPr lang="en-US" sz="3000" dirty="0"/>
          </a:p>
        </p:txBody>
      </p:sp>
      <p:sp>
        <p:nvSpPr>
          <p:cNvPr id="4" name="date-4"/>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5"/>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6"/>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2</a:t>
            </a:r>
            <a:endParaRPr lang="en-US" sz="1000" dirty="0"/>
          </a:p>
        </p:txBody>
      </p:sp>
      <p:sp>
        <p:nvSpPr>
          <p:cNvPr id="7" name="oc-7"/>
          <p:cNvSpPr/>
          <p:nvPr/>
        </p:nvSpPr>
        <p:spPr>
          <a:xfrm>
            <a:off x="822960" y="1371600"/>
            <a:ext cx="3291840" cy="4480560"/>
          </a:xfrm>
          <a:prstGeom prst="roundRect">
            <a:avLst>
              <a:gd name="adj" fmla="val 2222"/>
            </a:avLst>
          </a:prstGeom>
          <a:solidFill>
            <a:srgbClr val="F5F7F9"/>
          </a:solidFill>
          <a:ln w="9525">
            <a:solidFill>
              <a:srgbClr val="C8CED6"/>
            </a:solidFill>
            <a:prstDash val="solid"/>
          </a:ln>
        </p:spPr>
      </p:sp>
      <p:sp>
        <p:nvSpPr>
          <p:cNvPr id="8" name="oh-8"/>
          <p:cNvSpPr txBox="1"/>
          <p:nvPr/>
        </p:nvSpPr>
        <p:spPr>
          <a:xfrm>
            <a:off x="822960" y="1554480"/>
            <a:ext cx="3291840" cy="365760"/>
          </a:xfrm>
          <a:prstGeom prst="rect">
            <a:avLst/>
          </a:prstGeom>
          <a:noFill/>
          <a:ln/>
        </p:spPr>
        <p:txBody>
          <a:bodyPr wrap="square" lIns="0" tIns="0" rIns="0" bIns="0" rtlCol="0" anchor="ctr"/>
          <a:lstStyle/>
          <a:p>
            <a:pPr algn="ctr" indent="0" marL="0">
              <a:buNone/>
            </a:pPr>
            <a:r>
              <a:rPr lang="en-US" sz="1600" b="1" dirty="0">
                <a:solidFill>
                  <a:srgbClr val="960000"/>
                </a:solidFill>
                <a:latin typeface="Times New Roman" pitchFamily="34" charset="0"/>
                <a:ea typeface="Times New Roman" pitchFamily="34" charset="-122"/>
                <a:cs typeface="Times New Roman" pitchFamily="34" charset="-120"/>
              </a:rPr>
              <a:t>CONTEXT</a:t>
            </a:r>
            <a:endParaRPr lang="en-US" sz="1600" dirty="0"/>
          </a:p>
        </p:txBody>
      </p:sp>
      <p:sp>
        <p:nvSpPr>
          <p:cNvPr id="9" name="ol-9"/>
          <p:cNvSpPr txBox="1"/>
          <p:nvPr/>
        </p:nvSpPr>
        <p:spPr>
          <a:xfrm>
            <a:off x="1143000" y="2103120"/>
            <a:ext cx="2743200" cy="3474720"/>
          </a:xfrm>
          <a:prstGeom prst="rect">
            <a:avLst/>
          </a:prstGeom>
          <a:noFill/>
          <a:ln/>
        </p:spPr>
        <p:txBody>
          <a:bodyPr wrap="square" lIns="0" tIns="0" rIns="0" bIns="0" rtlCol="0" anchor="t"/>
          <a:lstStyle/>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01  Introduction &amp; Motivation</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02  Problem Statement</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03  Objectives</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04  Literature Survey</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05  Research Gap &amp; Response</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06  Proposed System</a:t>
            </a:r>
            <a:endParaRPr lang="en-US" sz="1500" dirty="0"/>
          </a:p>
        </p:txBody>
      </p:sp>
      <p:sp>
        <p:nvSpPr>
          <p:cNvPr id="10" name="oc-10"/>
          <p:cNvSpPr/>
          <p:nvPr/>
        </p:nvSpPr>
        <p:spPr>
          <a:xfrm>
            <a:off x="4434840" y="1371600"/>
            <a:ext cx="3291840" cy="4480560"/>
          </a:xfrm>
          <a:prstGeom prst="roundRect">
            <a:avLst>
              <a:gd name="adj" fmla="val 2222"/>
            </a:avLst>
          </a:prstGeom>
          <a:solidFill>
            <a:srgbClr val="F5F7F9"/>
          </a:solidFill>
          <a:ln w="9525">
            <a:solidFill>
              <a:srgbClr val="C8CED6"/>
            </a:solidFill>
            <a:prstDash val="solid"/>
          </a:ln>
        </p:spPr>
      </p:sp>
      <p:sp>
        <p:nvSpPr>
          <p:cNvPr id="11" name="oh-11"/>
          <p:cNvSpPr txBox="1"/>
          <p:nvPr/>
        </p:nvSpPr>
        <p:spPr>
          <a:xfrm>
            <a:off x="4434840" y="1554480"/>
            <a:ext cx="3291840" cy="365760"/>
          </a:xfrm>
          <a:prstGeom prst="rect">
            <a:avLst/>
          </a:prstGeom>
          <a:noFill/>
          <a:ln/>
        </p:spPr>
        <p:txBody>
          <a:bodyPr wrap="square" lIns="0" tIns="0" rIns="0" bIns="0" rtlCol="0" anchor="ctr"/>
          <a:lstStyle/>
          <a:p>
            <a:pPr algn="ctr" indent="0" marL="0">
              <a:buNone/>
            </a:pPr>
            <a:r>
              <a:rPr lang="en-US" sz="1600" b="1" dirty="0">
                <a:solidFill>
                  <a:srgbClr val="960000"/>
                </a:solidFill>
                <a:latin typeface="Times New Roman" pitchFamily="34" charset="0"/>
                <a:ea typeface="Times New Roman" pitchFamily="34" charset="-122"/>
                <a:cs typeface="Times New Roman" pitchFamily="34" charset="-120"/>
              </a:rPr>
              <a:t>DESIGN</a:t>
            </a:r>
            <a:endParaRPr lang="en-US" sz="1600" dirty="0"/>
          </a:p>
        </p:txBody>
      </p:sp>
      <p:sp>
        <p:nvSpPr>
          <p:cNvPr id="12" name="ol-12"/>
          <p:cNvSpPr txBox="1"/>
          <p:nvPr/>
        </p:nvSpPr>
        <p:spPr>
          <a:xfrm>
            <a:off x="4754880" y="2103120"/>
            <a:ext cx="2743200" cy="3474720"/>
          </a:xfrm>
          <a:prstGeom prst="rect">
            <a:avLst/>
          </a:prstGeom>
          <a:noFill/>
          <a:ln/>
        </p:spPr>
        <p:txBody>
          <a:bodyPr wrap="square" lIns="0" tIns="0" rIns="0" bIns="0" rtlCol="0" anchor="t"/>
          <a:lstStyle/>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07  System Architecture</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08  Data Design</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09  Security Design</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10  Workflow (Sequence)</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11  Implementation &amp; Stack</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12  Module Demonstrations</a:t>
            </a:r>
            <a:endParaRPr lang="en-US" sz="1500" dirty="0"/>
          </a:p>
        </p:txBody>
      </p:sp>
      <p:sp>
        <p:nvSpPr>
          <p:cNvPr id="13" name="oc-13"/>
          <p:cNvSpPr/>
          <p:nvPr/>
        </p:nvSpPr>
        <p:spPr>
          <a:xfrm>
            <a:off x="8046720" y="1371600"/>
            <a:ext cx="3291840" cy="4480560"/>
          </a:xfrm>
          <a:prstGeom prst="roundRect">
            <a:avLst>
              <a:gd name="adj" fmla="val 2222"/>
            </a:avLst>
          </a:prstGeom>
          <a:solidFill>
            <a:srgbClr val="F5F7F9"/>
          </a:solidFill>
          <a:ln w="9525">
            <a:solidFill>
              <a:srgbClr val="C8CED6"/>
            </a:solidFill>
            <a:prstDash val="solid"/>
          </a:ln>
        </p:spPr>
      </p:sp>
      <p:sp>
        <p:nvSpPr>
          <p:cNvPr id="14" name="oh-14"/>
          <p:cNvSpPr txBox="1"/>
          <p:nvPr/>
        </p:nvSpPr>
        <p:spPr>
          <a:xfrm>
            <a:off x="8046720" y="1554480"/>
            <a:ext cx="3291840" cy="365760"/>
          </a:xfrm>
          <a:prstGeom prst="rect">
            <a:avLst/>
          </a:prstGeom>
          <a:noFill/>
          <a:ln/>
        </p:spPr>
        <p:txBody>
          <a:bodyPr wrap="square" lIns="0" tIns="0" rIns="0" bIns="0" rtlCol="0" anchor="ctr"/>
          <a:lstStyle/>
          <a:p>
            <a:pPr algn="ctr" indent="0" marL="0">
              <a:buNone/>
            </a:pPr>
            <a:r>
              <a:rPr lang="en-US" sz="1600" b="1" dirty="0">
                <a:solidFill>
                  <a:srgbClr val="960000"/>
                </a:solidFill>
                <a:latin typeface="Times New Roman" pitchFamily="34" charset="0"/>
                <a:ea typeface="Times New Roman" pitchFamily="34" charset="-122"/>
                <a:cs typeface="Times New Roman" pitchFamily="34" charset="-120"/>
              </a:rPr>
              <a:t>RESULTS</a:t>
            </a:r>
            <a:endParaRPr lang="en-US" sz="1600" dirty="0"/>
          </a:p>
        </p:txBody>
      </p:sp>
      <p:sp>
        <p:nvSpPr>
          <p:cNvPr id="15" name="ol-15"/>
          <p:cNvSpPr txBox="1"/>
          <p:nvPr/>
        </p:nvSpPr>
        <p:spPr>
          <a:xfrm>
            <a:off x="8366760" y="2103120"/>
            <a:ext cx="2743200" cy="3474720"/>
          </a:xfrm>
          <a:prstGeom prst="rect">
            <a:avLst/>
          </a:prstGeom>
          <a:noFill/>
          <a:ln/>
        </p:spPr>
        <p:txBody>
          <a:bodyPr wrap="square" lIns="0" tIns="0" rIns="0" bIns="0" rtlCol="0" anchor="t"/>
          <a:lstStyle/>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13  Cloud Deployment</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14  Testing &amp; Results</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15  Performance Results</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16  Objectives Achieved</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17  Conclusion &amp; Future Scope</a:t>
            </a:r>
            <a:endParaRPr lang="en-US" sz="1500" dirty="0"/>
          </a:p>
          <a:p>
            <a:pPr indent="0" marL="0">
              <a:spcAft>
                <a:spcPts val="1200"/>
              </a:spcAft>
              <a:buNone/>
            </a:pPr>
            <a:r>
              <a:rPr lang="en-US" sz="1500" dirty="0">
                <a:solidFill>
                  <a:srgbClr val="191919"/>
                </a:solidFill>
                <a:latin typeface="Times New Roman" pitchFamily="34" charset="0"/>
                <a:ea typeface="Times New Roman" pitchFamily="34" charset="-122"/>
                <a:cs typeface="Times New Roman" pitchFamily="34" charset="-120"/>
              </a:rPr>
              <a:t>18  References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logo-16"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17"/>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Introduction &amp; Motivation</a:t>
            </a:r>
            <a:endParaRPr lang="en-US" sz="3000" dirty="0"/>
          </a:p>
        </p:txBody>
      </p:sp>
      <p:sp>
        <p:nvSpPr>
          <p:cNvPr id="4" name="date-18"/>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19"/>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20"/>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3</a:t>
            </a:r>
            <a:endParaRPr lang="en-US" sz="1000" dirty="0"/>
          </a:p>
        </p:txBody>
      </p:sp>
      <p:sp>
        <p:nvSpPr>
          <p:cNvPr id="7" name="theme"/>
          <p:cNvSpPr txBox="1"/>
          <p:nvPr/>
        </p:nvSpPr>
        <p:spPr>
          <a:xfrm>
            <a:off x="640080" y="1234440"/>
            <a:ext cx="5669280" cy="822960"/>
          </a:xfrm>
          <a:prstGeom prst="rect">
            <a:avLst/>
          </a:prstGeom>
          <a:noFill/>
          <a:ln/>
        </p:spPr>
        <p:txBody>
          <a:bodyPr wrap="square" lIns="0" tIns="0" rIns="0" bIns="0" rtlCol="0" anchor="ctr"/>
          <a:lstStyle/>
          <a:p>
            <a:pPr indent="0" marL="0">
              <a:buNone/>
            </a:pPr>
            <a:r>
              <a:rPr lang="en-US" sz="1600" b="1" dirty="0">
                <a:solidFill>
                  <a:srgbClr val="960000"/>
                </a:solidFill>
                <a:latin typeface="Times New Roman" pitchFamily="34" charset="0"/>
                <a:ea typeface="Times New Roman" pitchFamily="34" charset="-122"/>
                <a:cs typeface="Times New Roman" pitchFamily="34" charset="-120"/>
              </a:rPr>
              <a:t>Theme: </a:t>
            </a:r>
            <a:pPr indent="0" marL="0">
              <a:buNone/>
            </a:pPr>
            <a:r>
              <a:rPr lang="en-US" sz="1600" dirty="0">
                <a:solidFill>
                  <a:srgbClr val="191919"/>
                </a:solidFill>
                <a:latin typeface="Times New Roman" pitchFamily="34" charset="0"/>
                <a:ea typeface="Times New Roman" pitchFamily="34" charset="-122"/>
                <a:cs typeface="Times New Roman" pitchFamily="34" charset="-120"/>
              </a:rPr>
              <a:t>one private, cloud-hosted library that turns recorded lectures into verifiable notes and connects recordings that refer to each other.</a:t>
            </a:r>
            <a:endParaRPr lang="en-US" sz="1600" dirty="0"/>
          </a:p>
        </p:txBody>
      </p:sp>
      <p:sp>
        <p:nvSpPr>
          <p:cNvPr id="8" name="list-21"/>
          <p:cNvSpPr txBox="1"/>
          <p:nvPr/>
        </p:nvSpPr>
        <p:spPr>
          <a:xfrm>
            <a:off x="640080" y="2148840"/>
            <a:ext cx="5669280" cy="393192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Video is slow to consult:</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a fact said at minute 37 is effectively lost.</a:t>
            </a:r>
            <a:endParaRPr lang="en-US" sz="1500" dirty="0"/>
          </a:p>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Recordings depend on each other:</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"as we discussed earlier", "in the next video".</a:t>
            </a:r>
            <a:endParaRPr lang="en-US" sz="1500" dirty="0"/>
          </a:p>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AI summaries are hard to verify:</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no link back to the moment.</a:t>
            </a:r>
            <a:endParaRPr lang="en-US" sz="1500" dirty="0"/>
          </a:p>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Students need:</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answers they can check, with timestamps.</a:t>
            </a:r>
            <a:endParaRPr lang="en-US" sz="1500" dirty="0"/>
          </a:p>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Our approach:</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serverless AWS platform with transcription, cited answers and cross-video context recovery.</a:t>
            </a:r>
            <a:endParaRPr lang="en-US" sz="1500" dirty="0"/>
          </a:p>
        </p:txBody>
      </p:sp>
      <p:pic>
        <p:nvPicPr>
          <p:cNvPr id="9" name="img-22" descr="/Users/mithilesh/Downloads/cloudnote-site (1)/docs/manual/img/05-video-notes.jpg">    </p:cNvPr>
          <p:cNvPicPr>
            <a:picLocks noChangeAspect="1"/>
          </p:cNvPicPr>
          <p:nvPr/>
        </p:nvPicPr>
        <p:blipFill>
          <a:blip r:embed="rId2"/>
          <a:stretch>
            <a:fillRect/>
          </a:stretch>
        </p:blipFill>
        <p:spPr>
          <a:xfrm>
            <a:off x="6583680" y="1280160"/>
            <a:ext cx="5029200" cy="3143250"/>
          </a:xfrm>
          <a:prstGeom prst="rect">
            <a:avLst/>
          </a:prstGeom>
        </p:spPr>
      </p:pic>
      <p:sp>
        <p:nvSpPr>
          <p:cNvPr id="10" name="cap-23"/>
          <p:cNvSpPr txBox="1"/>
          <p:nvPr/>
        </p:nvSpPr>
        <p:spPr>
          <a:xfrm>
            <a:off x="6583680" y="4469130"/>
            <a:ext cx="5029200" cy="274320"/>
          </a:xfrm>
          <a:prstGeom prst="rect">
            <a:avLst/>
          </a:prstGeom>
          <a:noFill/>
          <a:ln/>
        </p:spPr>
        <p:txBody>
          <a:bodyPr wrap="square" lIns="0" tIns="0" rIns="0" bIns="0" rtlCol="0" anchor="ctr"/>
          <a:lstStyle/>
          <a:p>
            <a:pPr algn="ctr" indent="0" marL="0">
              <a:buNone/>
            </a:pPr>
            <a:r>
              <a:rPr lang="en-US" sz="1100" i="1" dirty="0">
                <a:solidFill>
                  <a:srgbClr val="5A5F66"/>
                </a:solidFill>
                <a:latin typeface="Times New Roman" pitchFamily="34" charset="0"/>
                <a:ea typeface="Times New Roman" pitchFamily="34" charset="-122"/>
                <a:cs typeface="Times New Roman" pitchFamily="34" charset="-120"/>
              </a:rPr>
              <a:t>CloudNote AI video page with AI notes (live deployment)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logo-24"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25"/>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Problem Statement</a:t>
            </a:r>
            <a:endParaRPr lang="en-US" sz="3000" dirty="0"/>
          </a:p>
        </p:txBody>
      </p:sp>
      <p:sp>
        <p:nvSpPr>
          <p:cNvPr id="4" name="date-26"/>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27"/>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28"/>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4</a:t>
            </a:r>
            <a:endParaRPr lang="en-US" sz="1000" dirty="0"/>
          </a:p>
        </p:txBody>
      </p:sp>
      <p:sp>
        <p:nvSpPr>
          <p:cNvPr id="7" name="card-29"/>
          <p:cNvSpPr/>
          <p:nvPr/>
        </p:nvSpPr>
        <p:spPr>
          <a:xfrm>
            <a:off x="640080" y="1234440"/>
            <a:ext cx="5120640" cy="3566160"/>
          </a:xfrm>
          <a:prstGeom prst="roundRect">
            <a:avLst>
              <a:gd name="adj" fmla="val 2051"/>
            </a:avLst>
          </a:prstGeom>
          <a:solidFill>
            <a:srgbClr val="F5F7F9"/>
          </a:solidFill>
          <a:ln w="9525">
            <a:solidFill>
              <a:srgbClr val="C8CED6"/>
            </a:solidFill>
            <a:prstDash val="solid"/>
          </a:ln>
        </p:spPr>
      </p:sp>
      <p:sp>
        <p:nvSpPr>
          <p:cNvPr id="8" name="cardh-30"/>
          <p:cNvSpPr txBox="1"/>
          <p:nvPr/>
        </p:nvSpPr>
        <p:spPr>
          <a:xfrm>
            <a:off x="822960" y="1371600"/>
            <a:ext cx="475488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CURRENT CHALLENGES</a:t>
            </a:r>
            <a:endParaRPr lang="en-US" sz="1500" dirty="0"/>
          </a:p>
        </p:txBody>
      </p:sp>
      <p:sp>
        <p:nvSpPr>
          <p:cNvPr id="9" name="list-31"/>
          <p:cNvSpPr txBox="1"/>
          <p:nvPr/>
        </p:nvSpPr>
        <p:spPr>
          <a:xfrm>
            <a:off x="868680" y="1828800"/>
            <a:ext cx="466344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Scrubbing through long recordings</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Untraceable AI summaries</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References to other videos lead nowhere</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Promised follow-ups never checked</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Own notes never compared with the lecture</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Servers and AI are costly to run</a:t>
            </a:r>
            <a:endParaRPr lang="en-US" sz="1400" dirty="0"/>
          </a:p>
        </p:txBody>
      </p:sp>
      <p:sp>
        <p:nvSpPr>
          <p:cNvPr id="10" name="arrow"/>
          <p:cNvSpPr txBox="1"/>
          <p:nvPr/>
        </p:nvSpPr>
        <p:spPr>
          <a:xfrm>
            <a:off x="5806440" y="2651760"/>
            <a:ext cx="548640" cy="548640"/>
          </a:xfrm>
          <a:prstGeom prst="rect">
            <a:avLst/>
          </a:prstGeom>
          <a:noFill/>
          <a:ln/>
        </p:spPr>
        <p:txBody>
          <a:bodyPr wrap="square" lIns="0" tIns="0" rIns="0" bIns="0" rtlCol="0" anchor="ctr"/>
          <a:lstStyle/>
          <a:p>
            <a:pPr algn="ctr" indent="0" marL="0">
              <a:buNone/>
            </a:pPr>
            <a:r>
              <a:rPr lang="en-US" sz="3600" dirty="0">
                <a:solidFill>
                  <a:srgbClr val="960000"/>
                </a:solidFill>
                <a:latin typeface="Times New Roman" pitchFamily="34" charset="0"/>
                <a:ea typeface="Times New Roman" pitchFamily="34" charset="-122"/>
                <a:cs typeface="Times New Roman" pitchFamily="34" charset="-120"/>
              </a:rPr>
              <a:t>→</a:t>
            </a:r>
            <a:endParaRPr lang="en-US" sz="3600" dirty="0"/>
          </a:p>
        </p:txBody>
      </p:sp>
      <p:sp>
        <p:nvSpPr>
          <p:cNvPr id="11" name="card-32"/>
          <p:cNvSpPr/>
          <p:nvPr/>
        </p:nvSpPr>
        <p:spPr>
          <a:xfrm>
            <a:off x="6400800" y="1234440"/>
            <a:ext cx="5120640" cy="3566160"/>
          </a:xfrm>
          <a:prstGeom prst="roundRect">
            <a:avLst>
              <a:gd name="adj" fmla="val 2051"/>
            </a:avLst>
          </a:prstGeom>
          <a:solidFill>
            <a:srgbClr val="F5F7F9"/>
          </a:solidFill>
          <a:ln w="9525">
            <a:solidFill>
              <a:srgbClr val="C8CED6"/>
            </a:solidFill>
            <a:prstDash val="solid"/>
          </a:ln>
        </p:spPr>
      </p:sp>
      <p:sp>
        <p:nvSpPr>
          <p:cNvPr id="12" name="cardh-33"/>
          <p:cNvSpPr txBox="1"/>
          <p:nvPr/>
        </p:nvSpPr>
        <p:spPr>
          <a:xfrm>
            <a:off x="6583680" y="1371600"/>
            <a:ext cx="475488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PROPOSED RESPONSE</a:t>
            </a:r>
            <a:endParaRPr lang="en-US" sz="1500" dirty="0"/>
          </a:p>
        </p:txBody>
      </p:sp>
      <p:sp>
        <p:nvSpPr>
          <p:cNvPr id="13" name="list-34"/>
          <p:cNvSpPr txBox="1"/>
          <p:nvPr/>
        </p:nvSpPr>
        <p:spPr>
          <a:xfrm>
            <a:off x="6629400" y="1828800"/>
            <a:ext cx="466344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Timestamped transcription (Amazon Transcribe)</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Notes linked to moments</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Answers with citations and timestamps</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Detected, suggested and remembered references</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Notes vs Video comparison</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Pay-per-use serverless AWS stack</a:t>
            </a:r>
            <a:endParaRPr lang="en-US" sz="1400" dirty="0"/>
          </a:p>
        </p:txBody>
      </p:sp>
      <p:sp>
        <p:nvSpPr>
          <p:cNvPr id="14" name="rq"/>
          <p:cNvSpPr/>
          <p:nvPr/>
        </p:nvSpPr>
        <p:spPr>
          <a:xfrm>
            <a:off x="1097280" y="5029200"/>
            <a:ext cx="9966960" cy="1005840"/>
          </a:xfrm>
          <a:prstGeom prst="roundRect">
            <a:avLst>
              <a:gd name="adj" fmla="val 5455"/>
            </a:avLst>
          </a:prstGeom>
          <a:solidFill>
            <a:srgbClr val="FFFFFF"/>
          </a:solidFill>
          <a:ln w="12700">
            <a:solidFill>
              <a:srgbClr val="960000"/>
            </a:solidFill>
            <a:prstDash val="solid"/>
          </a:ln>
        </p:spPr>
      </p:sp>
      <p:sp>
        <p:nvSpPr>
          <p:cNvPr id="15" name="rqt"/>
          <p:cNvSpPr txBox="1"/>
          <p:nvPr/>
        </p:nvSpPr>
        <p:spPr>
          <a:xfrm>
            <a:off x="1280160" y="5074920"/>
            <a:ext cx="9601200" cy="914400"/>
          </a:xfrm>
          <a:prstGeom prst="rect">
            <a:avLst/>
          </a:prstGeom>
          <a:noFill/>
          <a:ln/>
        </p:spPr>
        <p:txBody>
          <a:bodyPr wrap="square" lIns="0" tIns="0" rIns="0" bIns="0" rtlCol="0" anchor="ctr"/>
          <a:lstStyle/>
          <a:p>
            <a:pPr algn="ctr" indent="0" marL="0">
              <a:buNone/>
            </a:pPr>
            <a:r>
              <a:rPr lang="en-US" sz="1500" b="1" dirty="0">
                <a:solidFill>
                  <a:srgbClr val="191919"/>
                </a:solidFill>
                <a:latin typeface="Times New Roman" pitchFamily="34" charset="0"/>
                <a:ea typeface="Times New Roman" pitchFamily="34" charset="-122"/>
                <a:cs typeface="Times New Roman" pitchFamily="34" charset="-120"/>
              </a:rPr>
              <a:t>Research question: </a:t>
            </a:r>
            <a:pPr algn="ctr" indent="0" marL="0">
              <a:buNone/>
            </a:pPr>
            <a:r>
              <a:rPr lang="en-US" sz="1500" dirty="0">
                <a:solidFill>
                  <a:srgbClr val="191919"/>
                </a:solidFill>
                <a:latin typeface="Times New Roman" pitchFamily="34" charset="0"/>
                <a:ea typeface="Times New Roman" pitchFamily="34" charset="-122"/>
                <a:cs typeface="Times New Roman" pitchFamily="34" charset="-120"/>
              </a:rPr>
              <a:t>How can a cloud platform turn a library of recorded lectures into searchable, verifiable notes, and recover the context that individual recordings leave out?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logo-35"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36"/>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Objectives</a:t>
            </a:r>
            <a:endParaRPr lang="en-US" sz="3000" dirty="0"/>
          </a:p>
        </p:txBody>
      </p:sp>
      <p:sp>
        <p:nvSpPr>
          <p:cNvPr id="4" name="date-37"/>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38"/>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39"/>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5</a:t>
            </a:r>
            <a:endParaRPr lang="en-US" sz="1000" dirty="0"/>
          </a:p>
        </p:txBody>
      </p:sp>
      <p:sp>
        <p:nvSpPr>
          <p:cNvPr id="7" name="obj-40"/>
          <p:cNvSpPr/>
          <p:nvPr/>
        </p:nvSpPr>
        <p:spPr>
          <a:xfrm>
            <a:off x="640080" y="1325880"/>
            <a:ext cx="3474720" cy="2148840"/>
          </a:xfrm>
          <a:prstGeom prst="roundRect">
            <a:avLst>
              <a:gd name="adj" fmla="val 3404"/>
            </a:avLst>
          </a:prstGeom>
          <a:solidFill>
            <a:srgbClr val="F5F7F9"/>
          </a:solidFill>
          <a:ln w="9525">
            <a:solidFill>
              <a:srgbClr val="C8CED6"/>
            </a:solidFill>
            <a:prstDash val="solid"/>
          </a:ln>
        </p:spPr>
      </p:sp>
      <p:sp>
        <p:nvSpPr>
          <p:cNvPr id="8" name="objh-41"/>
          <p:cNvSpPr txBox="1"/>
          <p:nvPr/>
        </p:nvSpPr>
        <p:spPr>
          <a:xfrm>
            <a:off x="822960" y="1645920"/>
            <a:ext cx="3108960" cy="548640"/>
          </a:xfrm>
          <a:prstGeom prst="rect">
            <a:avLst/>
          </a:prstGeom>
          <a:noFill/>
          <a:ln/>
        </p:spPr>
        <p:txBody>
          <a:bodyPr wrap="square" lIns="0" tIns="0" rIns="0" bIns="0" rtlCol="0" anchor="ctr"/>
          <a:lstStyle/>
          <a:p>
            <a:pPr algn="ctr" indent="0" marL="0">
              <a:buNone/>
            </a:pPr>
            <a:r>
              <a:rPr lang="en-US" sz="1600" b="1" dirty="0">
                <a:solidFill>
                  <a:srgbClr val="960000"/>
                </a:solidFill>
                <a:latin typeface="Times New Roman" pitchFamily="34" charset="0"/>
                <a:ea typeface="Times New Roman" pitchFamily="34" charset="-122"/>
                <a:cs typeface="Times New Roman" pitchFamily="34" charset="-120"/>
              </a:rPr>
              <a:t>01 Timestamped transcription</a:t>
            </a:r>
            <a:endParaRPr lang="en-US" sz="1600" dirty="0"/>
          </a:p>
        </p:txBody>
      </p:sp>
      <p:sp>
        <p:nvSpPr>
          <p:cNvPr id="9" name="objb-42"/>
          <p:cNvSpPr txBox="1"/>
          <p:nvPr/>
        </p:nvSpPr>
        <p:spPr>
          <a:xfrm>
            <a:off x="868680" y="2240280"/>
            <a:ext cx="3017520" cy="1005840"/>
          </a:xfrm>
          <a:prstGeom prst="rect">
            <a:avLst/>
          </a:prstGeom>
          <a:noFill/>
          <a:ln/>
        </p:spPr>
        <p:txBody>
          <a:bodyPr wrap="square" lIns="0" tIns="0" rIns="0" bIns="0" rtlCol="0" anchor="ctr"/>
          <a:lstStyle/>
          <a:p>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Speech to timestamped moments; transcript import</a:t>
            </a:r>
            <a:endParaRPr lang="en-US" sz="1400" dirty="0"/>
          </a:p>
        </p:txBody>
      </p:sp>
      <p:sp>
        <p:nvSpPr>
          <p:cNvPr id="10" name="obj-43"/>
          <p:cNvSpPr/>
          <p:nvPr/>
        </p:nvSpPr>
        <p:spPr>
          <a:xfrm>
            <a:off x="4343400" y="1325880"/>
            <a:ext cx="3474720" cy="2148840"/>
          </a:xfrm>
          <a:prstGeom prst="roundRect">
            <a:avLst>
              <a:gd name="adj" fmla="val 3404"/>
            </a:avLst>
          </a:prstGeom>
          <a:solidFill>
            <a:srgbClr val="F5F7F9"/>
          </a:solidFill>
          <a:ln w="9525">
            <a:solidFill>
              <a:srgbClr val="C8CED6"/>
            </a:solidFill>
            <a:prstDash val="solid"/>
          </a:ln>
        </p:spPr>
      </p:sp>
      <p:sp>
        <p:nvSpPr>
          <p:cNvPr id="11" name="objh-44"/>
          <p:cNvSpPr txBox="1"/>
          <p:nvPr/>
        </p:nvSpPr>
        <p:spPr>
          <a:xfrm>
            <a:off x="4526280" y="1645920"/>
            <a:ext cx="3108960" cy="548640"/>
          </a:xfrm>
          <a:prstGeom prst="rect">
            <a:avLst/>
          </a:prstGeom>
          <a:noFill/>
          <a:ln/>
        </p:spPr>
        <p:txBody>
          <a:bodyPr wrap="square" lIns="0" tIns="0" rIns="0" bIns="0" rtlCol="0" anchor="ctr"/>
          <a:lstStyle/>
          <a:p>
            <a:pPr algn="ctr" indent="0" marL="0">
              <a:buNone/>
            </a:pPr>
            <a:r>
              <a:rPr lang="en-US" sz="1600" b="1" dirty="0">
                <a:solidFill>
                  <a:srgbClr val="960000"/>
                </a:solidFill>
                <a:latin typeface="Times New Roman" pitchFamily="34" charset="0"/>
                <a:ea typeface="Times New Roman" pitchFamily="34" charset="-122"/>
                <a:cs typeface="Times New Roman" pitchFamily="34" charset="-120"/>
              </a:rPr>
              <a:t>02 Verifiable notes</a:t>
            </a:r>
            <a:endParaRPr lang="en-US" sz="1600" dirty="0"/>
          </a:p>
        </p:txBody>
      </p:sp>
      <p:sp>
        <p:nvSpPr>
          <p:cNvPr id="12" name="objb-45"/>
          <p:cNvSpPr txBox="1"/>
          <p:nvPr/>
        </p:nvSpPr>
        <p:spPr>
          <a:xfrm>
            <a:off x="4572000" y="2240280"/>
            <a:ext cx="3017520" cy="1005840"/>
          </a:xfrm>
          <a:prstGeom prst="rect">
            <a:avLst/>
          </a:prstGeom>
          <a:noFill/>
          <a:ln/>
        </p:spPr>
        <p:txBody>
          <a:bodyPr wrap="square" lIns="0" tIns="0" rIns="0" bIns="0" rtlCol="0" anchor="ctr"/>
          <a:lstStyle/>
          <a:p>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Summary, points, actions, decisions linked to moments</a:t>
            </a:r>
            <a:endParaRPr lang="en-US" sz="1400" dirty="0"/>
          </a:p>
        </p:txBody>
      </p:sp>
      <p:sp>
        <p:nvSpPr>
          <p:cNvPr id="13" name="obj-46"/>
          <p:cNvSpPr/>
          <p:nvPr/>
        </p:nvSpPr>
        <p:spPr>
          <a:xfrm>
            <a:off x="8046720" y="1325880"/>
            <a:ext cx="3474720" cy="2148840"/>
          </a:xfrm>
          <a:prstGeom prst="roundRect">
            <a:avLst>
              <a:gd name="adj" fmla="val 3404"/>
            </a:avLst>
          </a:prstGeom>
          <a:solidFill>
            <a:srgbClr val="F5F7F9"/>
          </a:solidFill>
          <a:ln w="9525">
            <a:solidFill>
              <a:srgbClr val="C8CED6"/>
            </a:solidFill>
            <a:prstDash val="solid"/>
          </a:ln>
        </p:spPr>
      </p:sp>
      <p:sp>
        <p:nvSpPr>
          <p:cNvPr id="14" name="objh-47"/>
          <p:cNvSpPr txBox="1"/>
          <p:nvPr/>
        </p:nvSpPr>
        <p:spPr>
          <a:xfrm>
            <a:off x="8229600" y="1645920"/>
            <a:ext cx="3108960" cy="548640"/>
          </a:xfrm>
          <a:prstGeom prst="rect">
            <a:avLst/>
          </a:prstGeom>
          <a:noFill/>
          <a:ln/>
        </p:spPr>
        <p:txBody>
          <a:bodyPr wrap="square" lIns="0" tIns="0" rIns="0" bIns="0" rtlCol="0" anchor="ctr"/>
          <a:lstStyle/>
          <a:p>
            <a:pPr algn="ctr" indent="0" marL="0">
              <a:buNone/>
            </a:pPr>
            <a:r>
              <a:rPr lang="en-US" sz="1600" b="1" dirty="0">
                <a:solidFill>
                  <a:srgbClr val="960000"/>
                </a:solidFill>
                <a:latin typeface="Times New Roman" pitchFamily="34" charset="0"/>
                <a:ea typeface="Times New Roman" pitchFamily="34" charset="-122"/>
                <a:cs typeface="Times New Roman" pitchFamily="34" charset="-120"/>
              </a:rPr>
              <a:t>03 Grounded answers</a:t>
            </a:r>
            <a:endParaRPr lang="en-US" sz="1600" dirty="0"/>
          </a:p>
        </p:txBody>
      </p:sp>
      <p:sp>
        <p:nvSpPr>
          <p:cNvPr id="15" name="objb-48"/>
          <p:cNvSpPr txBox="1"/>
          <p:nvPr/>
        </p:nvSpPr>
        <p:spPr>
          <a:xfrm>
            <a:off x="8275320" y="2240280"/>
            <a:ext cx="3017520" cy="1005840"/>
          </a:xfrm>
          <a:prstGeom prst="rect">
            <a:avLst/>
          </a:prstGeom>
          <a:noFill/>
          <a:ln/>
        </p:spPr>
        <p:txBody>
          <a:bodyPr wrap="square" lIns="0" tIns="0" rIns="0" bIns="0" rtlCol="0" anchor="ctr"/>
          <a:lstStyle/>
          <a:p>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Answers only from your material, cited, with timestamps</a:t>
            </a:r>
            <a:endParaRPr lang="en-US" sz="1400" dirty="0"/>
          </a:p>
        </p:txBody>
      </p:sp>
      <p:sp>
        <p:nvSpPr>
          <p:cNvPr id="16" name="obj-49"/>
          <p:cNvSpPr/>
          <p:nvPr/>
        </p:nvSpPr>
        <p:spPr>
          <a:xfrm>
            <a:off x="640080" y="3749040"/>
            <a:ext cx="3474720" cy="2148840"/>
          </a:xfrm>
          <a:prstGeom prst="roundRect">
            <a:avLst>
              <a:gd name="adj" fmla="val 3404"/>
            </a:avLst>
          </a:prstGeom>
          <a:solidFill>
            <a:srgbClr val="F5F7F9"/>
          </a:solidFill>
          <a:ln w="9525">
            <a:solidFill>
              <a:srgbClr val="C8CED6"/>
            </a:solidFill>
            <a:prstDash val="solid"/>
          </a:ln>
        </p:spPr>
      </p:sp>
      <p:sp>
        <p:nvSpPr>
          <p:cNvPr id="17" name="objh-50"/>
          <p:cNvSpPr txBox="1"/>
          <p:nvPr/>
        </p:nvSpPr>
        <p:spPr>
          <a:xfrm>
            <a:off x="822960" y="4069080"/>
            <a:ext cx="3108960" cy="548640"/>
          </a:xfrm>
          <a:prstGeom prst="rect">
            <a:avLst/>
          </a:prstGeom>
          <a:noFill/>
          <a:ln/>
        </p:spPr>
        <p:txBody>
          <a:bodyPr wrap="square" lIns="0" tIns="0" rIns="0" bIns="0" rtlCol="0" anchor="ctr"/>
          <a:lstStyle/>
          <a:p>
            <a:pPr algn="ctr" indent="0" marL="0">
              <a:buNone/>
            </a:pPr>
            <a:r>
              <a:rPr lang="en-US" sz="1600" b="1" dirty="0">
                <a:solidFill>
                  <a:srgbClr val="960000"/>
                </a:solidFill>
                <a:latin typeface="Times New Roman" pitchFamily="34" charset="0"/>
                <a:ea typeface="Times New Roman" pitchFamily="34" charset="-122"/>
                <a:cs typeface="Times New Roman" pitchFamily="34" charset="-120"/>
              </a:rPr>
              <a:t>04 Context recovery</a:t>
            </a:r>
            <a:endParaRPr lang="en-US" sz="1600" dirty="0"/>
          </a:p>
        </p:txBody>
      </p:sp>
      <p:sp>
        <p:nvSpPr>
          <p:cNvPr id="18" name="objb-51"/>
          <p:cNvSpPr txBox="1"/>
          <p:nvPr/>
        </p:nvSpPr>
        <p:spPr>
          <a:xfrm>
            <a:off x="868680" y="4663440"/>
            <a:ext cx="3017520" cy="1005840"/>
          </a:xfrm>
          <a:prstGeom prst="rect">
            <a:avLst/>
          </a:prstGeom>
          <a:noFill/>
          <a:ln/>
        </p:spPr>
        <p:txBody>
          <a:bodyPr wrap="square" lIns="0" tIns="0" rIns="0" bIns="0" rtlCol="0" anchor="ctr"/>
          <a:lstStyle/>
          <a:p>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Detect, suggest and remember references between videos</a:t>
            </a:r>
            <a:endParaRPr lang="en-US" sz="1400" dirty="0"/>
          </a:p>
        </p:txBody>
      </p:sp>
      <p:sp>
        <p:nvSpPr>
          <p:cNvPr id="19" name="obj-52"/>
          <p:cNvSpPr/>
          <p:nvPr/>
        </p:nvSpPr>
        <p:spPr>
          <a:xfrm>
            <a:off x="4343400" y="3749040"/>
            <a:ext cx="3474720" cy="2148840"/>
          </a:xfrm>
          <a:prstGeom prst="roundRect">
            <a:avLst>
              <a:gd name="adj" fmla="val 3404"/>
            </a:avLst>
          </a:prstGeom>
          <a:solidFill>
            <a:srgbClr val="F5F7F9"/>
          </a:solidFill>
          <a:ln w="9525">
            <a:solidFill>
              <a:srgbClr val="C8CED6"/>
            </a:solidFill>
            <a:prstDash val="solid"/>
          </a:ln>
        </p:spPr>
      </p:sp>
      <p:sp>
        <p:nvSpPr>
          <p:cNvPr id="20" name="objh-53"/>
          <p:cNvSpPr txBox="1"/>
          <p:nvPr/>
        </p:nvSpPr>
        <p:spPr>
          <a:xfrm>
            <a:off x="4526280" y="4069080"/>
            <a:ext cx="3108960" cy="548640"/>
          </a:xfrm>
          <a:prstGeom prst="rect">
            <a:avLst/>
          </a:prstGeom>
          <a:noFill/>
          <a:ln/>
        </p:spPr>
        <p:txBody>
          <a:bodyPr wrap="square" lIns="0" tIns="0" rIns="0" bIns="0" rtlCol="0" anchor="ctr"/>
          <a:lstStyle/>
          <a:p>
            <a:pPr algn="ctr" indent="0" marL="0">
              <a:buNone/>
            </a:pPr>
            <a:r>
              <a:rPr lang="en-US" sz="1600" b="1" dirty="0">
                <a:solidFill>
                  <a:srgbClr val="960000"/>
                </a:solidFill>
                <a:latin typeface="Times New Roman" pitchFamily="34" charset="0"/>
                <a:ea typeface="Times New Roman" pitchFamily="34" charset="-122"/>
                <a:cs typeface="Times New Roman" pitchFamily="34" charset="-120"/>
              </a:rPr>
              <a:t>05 Secure serverless cloud</a:t>
            </a:r>
            <a:endParaRPr lang="en-US" sz="1600" dirty="0"/>
          </a:p>
        </p:txBody>
      </p:sp>
      <p:sp>
        <p:nvSpPr>
          <p:cNvPr id="21" name="objb-54"/>
          <p:cNvSpPr txBox="1"/>
          <p:nvPr/>
        </p:nvSpPr>
        <p:spPr>
          <a:xfrm>
            <a:off x="4572000" y="4663440"/>
            <a:ext cx="3017520" cy="1005840"/>
          </a:xfrm>
          <a:prstGeom prst="rect">
            <a:avLst/>
          </a:prstGeom>
          <a:noFill/>
          <a:ln/>
        </p:spPr>
        <p:txBody>
          <a:bodyPr wrap="square" lIns="0" tIns="0" rIns="0" bIns="0" rtlCol="0" anchor="ctr"/>
          <a:lstStyle/>
          <a:p>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Per-user isolation, authenticated API, IaC</a:t>
            </a:r>
            <a:endParaRPr lang="en-US" sz="1400" dirty="0"/>
          </a:p>
        </p:txBody>
      </p:sp>
      <p:sp>
        <p:nvSpPr>
          <p:cNvPr id="22" name="obj-55"/>
          <p:cNvSpPr/>
          <p:nvPr/>
        </p:nvSpPr>
        <p:spPr>
          <a:xfrm>
            <a:off x="8046720" y="3749040"/>
            <a:ext cx="3474720" cy="2148840"/>
          </a:xfrm>
          <a:prstGeom prst="roundRect">
            <a:avLst>
              <a:gd name="adj" fmla="val 3404"/>
            </a:avLst>
          </a:prstGeom>
          <a:solidFill>
            <a:srgbClr val="F5F7F9"/>
          </a:solidFill>
          <a:ln w="9525">
            <a:solidFill>
              <a:srgbClr val="C8CED6"/>
            </a:solidFill>
            <a:prstDash val="solid"/>
          </a:ln>
        </p:spPr>
      </p:sp>
      <p:sp>
        <p:nvSpPr>
          <p:cNvPr id="23" name="objh-56"/>
          <p:cNvSpPr txBox="1"/>
          <p:nvPr/>
        </p:nvSpPr>
        <p:spPr>
          <a:xfrm>
            <a:off x="8229600" y="4069080"/>
            <a:ext cx="3108960" cy="548640"/>
          </a:xfrm>
          <a:prstGeom prst="rect">
            <a:avLst/>
          </a:prstGeom>
          <a:noFill/>
          <a:ln/>
        </p:spPr>
        <p:txBody>
          <a:bodyPr wrap="square" lIns="0" tIns="0" rIns="0" bIns="0" rtlCol="0" anchor="ctr"/>
          <a:lstStyle/>
          <a:p>
            <a:pPr algn="ctr" indent="0" marL="0">
              <a:buNone/>
            </a:pPr>
            <a:r>
              <a:rPr lang="en-US" sz="1600" b="1" dirty="0">
                <a:solidFill>
                  <a:srgbClr val="960000"/>
                </a:solidFill>
                <a:latin typeface="Times New Roman" pitchFamily="34" charset="0"/>
                <a:ea typeface="Times New Roman" pitchFamily="34" charset="-122"/>
                <a:cs typeface="Times New Roman" pitchFamily="34" charset="-120"/>
              </a:rPr>
              <a:t>06 Honest evaluation</a:t>
            </a:r>
            <a:endParaRPr lang="en-US" sz="1600" dirty="0"/>
          </a:p>
        </p:txBody>
      </p:sp>
      <p:sp>
        <p:nvSpPr>
          <p:cNvPr id="24" name="objb-57"/>
          <p:cNvSpPr txBox="1"/>
          <p:nvPr/>
        </p:nvSpPr>
        <p:spPr>
          <a:xfrm>
            <a:off x="8275320" y="4663440"/>
            <a:ext cx="3017520" cy="1005840"/>
          </a:xfrm>
          <a:prstGeom prst="rect">
            <a:avLst/>
          </a:prstGeom>
          <a:noFill/>
          <a:ln/>
        </p:spPr>
        <p:txBody>
          <a:bodyPr wrap="square" lIns="0" tIns="0" rIns="0" bIns="0" rtlCol="0" anchor="ctr"/>
          <a:lstStyle/>
          <a:p>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Live tests, measurements, stated limits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logo-58"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59"/>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Literature Survey (Key Papers)</a:t>
            </a:r>
            <a:endParaRPr lang="en-US" sz="3000" dirty="0"/>
          </a:p>
        </p:txBody>
      </p:sp>
      <p:sp>
        <p:nvSpPr>
          <p:cNvPr id="4" name="date-60"/>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61"/>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62"/>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6</a:t>
            </a:r>
            <a:endParaRPr lang="en-US" sz="1000" dirty="0"/>
          </a:p>
        </p:txBody>
      </p:sp>
      <p:graphicFrame>
        <p:nvGraphicFramePr>
          <p:cNvPr id="7" name="tbl-63"/>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914400"/>
        </p:xfrm>
        <a:graphic>
          <a:graphicData uri="http://schemas.openxmlformats.org/drawingml/2006/table">
            <a:tbl>
              <a:tblPr/>
              <a:tblGrid>
                <a:gridCol w="822960"/>
                <a:gridCol w="2194560"/>
                <a:gridCol w="4572000"/>
                <a:gridCol w="3291840"/>
              </a:tblGrid>
              <a:tr h="0">
                <a:tc>
                  <a:txBody>
                    <a:bodyP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Year</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c>
                  <a:txBody>
                    <a:bodyP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Authors</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c>
                  <a:txBody>
                    <a:bodyP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Focus / Method</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c>
                  <a:txBody>
                    <a:bodyP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Gap noted</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r>
              <a:tr h="0">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2014</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Guo, Kim, Rubin</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MOOC video engagement (6.9M edX sessions)</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No cross-video navigation</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2014</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Kim et al.</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LectureScape: interaction-driven navigation</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Single video; crowd data</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2023</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Radford et al.</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Whisper: robust speech recognition</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Transcription only</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2004</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Erkan &amp; Radev</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LexRank: graph centrality summaries</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Less readable notes</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1988</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Salton &amp; Buckley</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TF-IDF term weighting</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Misses paraphrases</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2019</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Reimers &amp; Gurevych</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Sentence-BERT embeddings</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Needs embedding service</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2020</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Lewis et al.</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Retrieval-augmented generation</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Not personal libraries</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2023</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Gao et al.</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LLM answers with citations (ALCE)</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Citations often missing</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2019</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Jonas et al.</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Serverless computing (Berkeley view)</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300" dirty="0">
                          <a:solidFill>
                            <a:srgbClr val="191919"/>
                          </a:solidFill>
                          <a:latin typeface="Times New Roman" pitchFamily="34" charset="0"/>
                          <a:ea typeface="Times New Roman" pitchFamily="34" charset="-122"/>
                          <a:cs typeface="Times New Roman" pitchFamily="34" charset="-120"/>
                        </a:rPr>
                        <a:t>Cold starts, limits</a:t>
                      </a:r>
                      <a:endParaRPr lang="en-US" sz="13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bl>
          </a:graphicData>
        </a:graphic>
      </p:graphicFrame>
      <p:sp>
        <p:nvSpPr>
          <p:cNvPr id="8" name="syn"/>
          <p:cNvSpPr txBox="1"/>
          <p:nvPr/>
        </p:nvSpPr>
        <p:spPr>
          <a:xfrm>
            <a:off x="640080" y="5760720"/>
            <a:ext cx="10881360" cy="411480"/>
          </a:xfrm>
          <a:prstGeom prst="rect">
            <a:avLst/>
          </a:prstGeom>
          <a:noFill/>
          <a:ln/>
        </p:spPr>
        <p:txBody>
          <a:bodyPr wrap="square" lIns="0" tIns="0" rIns="0" bIns="0" rtlCol="0" anchor="ctr"/>
          <a:lstStyle/>
          <a:p>
            <a:pPr algn="ctr" indent="0" marL="0">
              <a:buNone/>
            </a:pPr>
            <a:r>
              <a:rPr lang="en-US" sz="1400" b="1" dirty="0">
                <a:solidFill>
                  <a:srgbClr val="960000"/>
                </a:solidFill>
                <a:latin typeface="Times New Roman" pitchFamily="34" charset="0"/>
                <a:ea typeface="Times New Roman" pitchFamily="34" charset="-122"/>
                <a:cs typeface="Times New Roman" pitchFamily="34" charset="-120"/>
              </a:rPr>
              <a:t>Synthesis: </a:t>
            </a:r>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strong building blocks, but no tool we found links references across recordings and remembers missing explanations.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logo-64"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65"/>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Research Gap → Our Response</a:t>
            </a:r>
            <a:endParaRPr lang="en-US" sz="3000" dirty="0"/>
          </a:p>
        </p:txBody>
      </p:sp>
      <p:sp>
        <p:nvSpPr>
          <p:cNvPr id="4" name="date-66"/>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67"/>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68"/>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7</a:t>
            </a:r>
            <a:endParaRPr lang="en-US" sz="1000" dirty="0"/>
          </a:p>
        </p:txBody>
      </p:sp>
      <p:graphicFrame>
        <p:nvGraphicFramePr>
          <p:cNvPr id="8" name="tbl-69"/>
          <p:cNvGraphicFramePr>
            <a:graphicFrameLocks noGrp="1"/>
          </p:cNvGraphicFramePr>
          <p:nvPr>
            <p:extLst>
              <p:ext uri="{D42A27DB-BD31-4B8C-83A1-F6EECF244321}">
                <p14:modId xmlns:p14="http://schemas.microsoft.com/office/powerpoint/2010/main" val="1579011935"/>
              </p:ext>
            </p:extLst>
          </p:nvPr>
        </p:nvGraphicFramePr>
        <p:xfrm>
          <a:off x="822960" y="1371600"/>
          <a:ext cx="10515600" cy="914400"/>
        </p:xfrm>
        <a:graphic>
          <a:graphicData uri="http://schemas.openxmlformats.org/drawingml/2006/table">
            <a:tbl>
              <a:tblPr/>
              <a:tblGrid>
                <a:gridCol w="548640"/>
                <a:gridCol w="3840480"/>
                <a:gridCol w="6126480"/>
              </a:tblGrid>
              <a:tr h="0">
                <a:tc>
                  <a:txBody>
                    <a:bodyP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c>
                  <a:txBody>
                    <a:bodyP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Research gap</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c>
                  <a:txBody>
                    <a:bodyP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Implemented response in CloudNote AI</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r>
              <a:tr h="0">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1</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Navigation aids stop at one video</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Reference detection, suggested sources, confirmed links</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2</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No memory for missing explanations</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Remembered references re-checked after every upload</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3</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AI notes and answers hard to verify</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Citations enforced; every item has a playable timestamp</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4</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Semantic search needs extra services</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TF-IDF by default; Titan embeddings when Bedrock is available</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5</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ASR and AI costly to operate</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Serverless pay-per-use stack; free-tier AI fallback</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bl>
          </a:graphicData>
        </a:graphic>
      </p:graphicFrame>
      <p:sp>
        <p:nvSpPr>
          <p:cNvPr id="8" name="core"/>
          <p:cNvSpPr txBox="1"/>
          <p:nvPr/>
        </p:nvSpPr>
        <p:spPr>
          <a:xfrm>
            <a:off x="822960" y="5394960"/>
            <a:ext cx="10515600" cy="45720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Core gap addressed: </a:t>
            </a:r>
            <a:pPr algn="ctr" indent="0" marL="0">
              <a:buNone/>
            </a:pPr>
            <a:r>
              <a:rPr lang="en-US" sz="1500" dirty="0">
                <a:solidFill>
                  <a:srgbClr val="191919"/>
                </a:solidFill>
                <a:latin typeface="Times New Roman" pitchFamily="34" charset="0"/>
                <a:ea typeface="Times New Roman" pitchFamily="34" charset="-122"/>
                <a:cs typeface="Times New Roman" pitchFamily="34" charset="-120"/>
              </a:rPr>
              <a:t>cross-video context recovery, built, deployed and measured.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logo-70"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71"/>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Proposed System: Three Feature Modules</a:t>
            </a:r>
            <a:endParaRPr lang="en-US" sz="3000" dirty="0"/>
          </a:p>
        </p:txBody>
      </p:sp>
      <p:sp>
        <p:nvSpPr>
          <p:cNvPr id="4" name="date-72"/>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73"/>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74"/>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8</a:t>
            </a:r>
            <a:endParaRPr lang="en-US" sz="1000" dirty="0"/>
          </a:p>
        </p:txBody>
      </p:sp>
      <p:sp>
        <p:nvSpPr>
          <p:cNvPr id="7" name="card-75"/>
          <p:cNvSpPr/>
          <p:nvPr/>
        </p:nvSpPr>
        <p:spPr>
          <a:xfrm>
            <a:off x="640080" y="1280160"/>
            <a:ext cx="3520440" cy="3566160"/>
          </a:xfrm>
          <a:prstGeom prst="roundRect">
            <a:avLst>
              <a:gd name="adj" fmla="val 2078"/>
            </a:avLst>
          </a:prstGeom>
          <a:solidFill>
            <a:srgbClr val="F5F7F9"/>
          </a:solidFill>
          <a:ln w="9525">
            <a:solidFill>
              <a:srgbClr val="C8CED6"/>
            </a:solidFill>
            <a:prstDash val="solid"/>
          </a:ln>
        </p:spPr>
      </p:sp>
      <p:sp>
        <p:nvSpPr>
          <p:cNvPr id="8" name="cardh-76"/>
          <p:cNvSpPr txBox="1"/>
          <p:nvPr/>
        </p:nvSpPr>
        <p:spPr>
          <a:xfrm>
            <a:off x="822960" y="1417320"/>
            <a:ext cx="315468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INGEST &amp; NOTES</a:t>
            </a:r>
            <a:endParaRPr lang="en-US" sz="1500" dirty="0"/>
          </a:p>
        </p:txBody>
      </p:sp>
      <p:sp>
        <p:nvSpPr>
          <p:cNvPr id="9" name="list-77"/>
          <p:cNvSpPr txBox="1"/>
          <p:nvPr/>
        </p:nvSpPr>
        <p:spPr>
          <a:xfrm>
            <a:off x="868680" y="1874520"/>
            <a:ext cx="306324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Upload 8 media formats (500 MB)</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Import SRT, VTT, JSON, text</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Amazon Transcribe</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AI notes with moments</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Extractive fallback</a:t>
            </a:r>
            <a:endParaRPr lang="en-US" sz="1400" dirty="0"/>
          </a:p>
        </p:txBody>
      </p:sp>
      <p:sp>
        <p:nvSpPr>
          <p:cNvPr id="10" name="card-78"/>
          <p:cNvSpPr/>
          <p:nvPr/>
        </p:nvSpPr>
        <p:spPr>
          <a:xfrm>
            <a:off x="4343400" y="1280160"/>
            <a:ext cx="3520440" cy="3566160"/>
          </a:xfrm>
          <a:prstGeom prst="roundRect">
            <a:avLst>
              <a:gd name="adj" fmla="val 2078"/>
            </a:avLst>
          </a:prstGeom>
          <a:solidFill>
            <a:srgbClr val="F5F7F9"/>
          </a:solidFill>
          <a:ln w="9525">
            <a:solidFill>
              <a:srgbClr val="C8CED6"/>
            </a:solidFill>
            <a:prstDash val="solid"/>
          </a:ln>
        </p:spPr>
      </p:sp>
      <p:sp>
        <p:nvSpPr>
          <p:cNvPr id="11" name="cardh-79"/>
          <p:cNvSpPr txBox="1"/>
          <p:nvPr/>
        </p:nvSpPr>
        <p:spPr>
          <a:xfrm>
            <a:off x="4526280" y="1417320"/>
            <a:ext cx="315468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ASK &amp; SEARCH</a:t>
            </a:r>
            <a:endParaRPr lang="en-US" sz="1500" dirty="0"/>
          </a:p>
        </p:txBody>
      </p:sp>
      <p:sp>
        <p:nvSpPr>
          <p:cNvPr id="12" name="list-80"/>
          <p:cNvSpPr txBox="1"/>
          <p:nvPr/>
        </p:nvSpPr>
        <p:spPr>
          <a:xfrm>
            <a:off x="4572000" y="1874520"/>
            <a:ext cx="306324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Answer from the transcript + moments</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Ask your notes with citations</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Search one video or library</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Know more explanations</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Notes vs Video compare</a:t>
            </a:r>
            <a:endParaRPr lang="en-US" sz="1400" dirty="0"/>
          </a:p>
        </p:txBody>
      </p:sp>
      <p:sp>
        <p:nvSpPr>
          <p:cNvPr id="13" name="card-81"/>
          <p:cNvSpPr/>
          <p:nvPr/>
        </p:nvSpPr>
        <p:spPr>
          <a:xfrm>
            <a:off x="8046720" y="1280160"/>
            <a:ext cx="3520440" cy="3566160"/>
          </a:xfrm>
          <a:prstGeom prst="roundRect">
            <a:avLst>
              <a:gd name="adj" fmla="val 2078"/>
            </a:avLst>
          </a:prstGeom>
          <a:solidFill>
            <a:srgbClr val="F5F7F9"/>
          </a:solidFill>
          <a:ln w="9525">
            <a:solidFill>
              <a:srgbClr val="C8CED6"/>
            </a:solidFill>
            <a:prstDash val="solid"/>
          </a:ln>
        </p:spPr>
      </p:sp>
      <p:sp>
        <p:nvSpPr>
          <p:cNvPr id="14" name="cardh-82"/>
          <p:cNvSpPr txBox="1"/>
          <p:nvPr/>
        </p:nvSpPr>
        <p:spPr>
          <a:xfrm>
            <a:off x="8229600" y="1417320"/>
            <a:ext cx="315468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CONTEXT RECOVERY</a:t>
            </a:r>
            <a:endParaRPr lang="en-US" sz="1500" dirty="0"/>
          </a:p>
        </p:txBody>
      </p:sp>
      <p:sp>
        <p:nvSpPr>
          <p:cNvPr id="15" name="list-83"/>
          <p:cNvSpPr txBox="1"/>
          <p:nvPr/>
        </p:nvSpPr>
        <p:spPr>
          <a:xfrm>
            <a:off x="8275320" y="1874520"/>
            <a:ext cx="306324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Detect "earlier" / "next video"</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Suggest sources</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Remember and re-check</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One notification per match</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Library map and gaps report</a:t>
            </a:r>
            <a:endParaRPr lang="en-US" sz="1400" dirty="0"/>
          </a:p>
        </p:txBody>
      </p:sp>
      <p:sp>
        <p:nvSpPr>
          <p:cNvPr id="16" name="shared"/>
          <p:cNvSpPr/>
          <p:nvPr/>
        </p:nvSpPr>
        <p:spPr>
          <a:xfrm>
            <a:off x="640080" y="5074920"/>
            <a:ext cx="10927080" cy="822960"/>
          </a:xfrm>
          <a:prstGeom prst="roundRect">
            <a:avLst>
              <a:gd name="adj" fmla="val 6667"/>
            </a:avLst>
          </a:prstGeom>
          <a:solidFill>
            <a:srgbClr val="FFFFFF"/>
          </a:solidFill>
          <a:ln w="12700">
            <a:solidFill>
              <a:srgbClr val="960000"/>
            </a:solidFill>
            <a:prstDash val="solid"/>
          </a:ln>
        </p:spPr>
      </p:sp>
      <p:sp>
        <p:nvSpPr>
          <p:cNvPr id="17" name="sharedt"/>
          <p:cNvSpPr txBox="1"/>
          <p:nvPr/>
        </p:nvSpPr>
        <p:spPr>
          <a:xfrm>
            <a:off x="822960" y="5120640"/>
            <a:ext cx="10515600" cy="731520"/>
          </a:xfrm>
          <a:prstGeom prst="rect">
            <a:avLst/>
          </a:prstGeom>
          <a:noFill/>
          <a:ln/>
        </p:spPr>
        <p:txBody>
          <a:bodyPr wrap="square" lIns="0" tIns="0" rIns="0" bIns="0" rtlCol="0" anchor="ctr"/>
          <a:lstStyle/>
          <a:p>
            <a:pPr algn="ctr" indent="0" marL="0">
              <a:buNone/>
            </a:pPr>
            <a:r>
              <a:rPr lang="en-US" sz="1400" b="1" dirty="0">
                <a:solidFill>
                  <a:srgbClr val="191919"/>
                </a:solidFill>
                <a:latin typeface="Times New Roman" pitchFamily="34" charset="0"/>
                <a:ea typeface="Times New Roman" pitchFamily="34" charset="-122"/>
                <a:cs typeface="Times New Roman" pitchFamily="34" charset="-120"/>
              </a:rPr>
              <a:t>Shared core: </a:t>
            </a:r>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Cognito sign-in  ·  per-user DynamoDB partition  ·  REST API (28 endpoints)  ·  model chain Bedrock → Groq → Gemini</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logo-84"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85"/>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System Architecture (AWS, us-east-1)</a:t>
            </a:r>
            <a:endParaRPr lang="en-US" sz="3000" dirty="0"/>
          </a:p>
        </p:txBody>
      </p:sp>
      <p:sp>
        <p:nvSpPr>
          <p:cNvPr id="4" name="date-86"/>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87"/>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88"/>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9</a:t>
            </a:r>
            <a:endParaRPr lang="en-US" sz="1000" dirty="0"/>
          </a:p>
        </p:txBody>
      </p:sp>
      <p:pic>
        <p:nvPicPr>
          <p:cNvPr id="7" name="img-89" descr="/private/tmp/claude-501/-Users-mithilesh-Downloads-cloudnote-site--1-/6c250750-b801-43eb-9bc6-27723f42fa53/scratchpad/docgen/img/arch.png">    </p:cNvPr>
          <p:cNvPicPr>
            <a:picLocks noChangeAspect="1"/>
          </p:cNvPicPr>
          <p:nvPr/>
        </p:nvPicPr>
        <p:blipFill>
          <a:blip r:embed="rId2"/>
          <a:stretch>
            <a:fillRect/>
          </a:stretch>
        </p:blipFill>
        <p:spPr>
          <a:xfrm>
            <a:off x="1246319" y="1234440"/>
            <a:ext cx="9668882" cy="4572000"/>
          </a:xfrm>
          <a:prstGeom prst="rect">
            <a:avLst/>
          </a:prstGeom>
        </p:spPr>
      </p:pic>
      <p:sp>
        <p:nvSpPr>
          <p:cNvPr id="8" name="iac"/>
          <p:cNvSpPr txBox="1"/>
          <p:nvPr/>
        </p:nvSpPr>
        <p:spPr>
          <a:xfrm>
            <a:off x="640080" y="5897880"/>
            <a:ext cx="10881360" cy="320040"/>
          </a:xfrm>
          <a:prstGeom prst="rect">
            <a:avLst/>
          </a:prstGeom>
          <a:noFill/>
          <a:ln/>
        </p:spPr>
        <p:txBody>
          <a:bodyPr wrap="square" lIns="0" tIns="0" rIns="0" bIns="0" rtlCol="0" anchor="ctr"/>
          <a:lstStyle/>
          <a:p>
            <a:pPr algn="ctr" indent="0" marL="0">
              <a:buNone/>
            </a:pPr>
            <a:r>
              <a:rPr lang="en-US" sz="1300" b="1" dirty="0">
                <a:solidFill>
                  <a:srgbClr val="191919"/>
                </a:solidFill>
                <a:latin typeface="Times New Roman" pitchFamily="34" charset="0"/>
                <a:ea typeface="Times New Roman" pitchFamily="34" charset="-122"/>
                <a:cs typeface="Times New Roman" pitchFamily="34" charset="-120"/>
              </a:rPr>
              <a:t>Infrastructure as code: one AWS SAM / CloudFormation stack "cloudnote-ai"  ·  infra/deploy.sh: build → package → deploy → publish</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logo-90"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91"/>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Data Design (DynamoDB Single Table)</a:t>
            </a:r>
            <a:endParaRPr lang="en-US" sz="3000" dirty="0"/>
          </a:p>
        </p:txBody>
      </p:sp>
      <p:sp>
        <p:nvSpPr>
          <p:cNvPr id="4" name="date-92"/>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93"/>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94"/>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10</a:t>
            </a:r>
            <a:endParaRPr lang="en-US" sz="1000" dirty="0"/>
          </a:p>
        </p:txBody>
      </p:sp>
      <p:pic>
        <p:nvPicPr>
          <p:cNvPr id="7" name="img-95" descr="/private/tmp/claude-501/-Users-mithilesh-Downloads-cloudnote-site--1-/6c250750-b801-43eb-9bc6-27723f42fa53/scratchpad/docgen/img/er.png">    </p:cNvPr>
          <p:cNvPicPr>
            <a:picLocks noChangeAspect="1"/>
          </p:cNvPicPr>
          <p:nvPr/>
        </p:nvPicPr>
        <p:blipFill>
          <a:blip r:embed="rId2"/>
          <a:stretch>
            <a:fillRect/>
          </a:stretch>
        </p:blipFill>
        <p:spPr>
          <a:xfrm>
            <a:off x="1008542" y="1234440"/>
            <a:ext cx="5846757" cy="4937760"/>
          </a:xfrm>
          <a:prstGeom prst="rect">
            <a:avLst/>
          </a:prstGeom>
        </p:spPr>
      </p:pic>
      <p:sp>
        <p:nvSpPr>
          <p:cNvPr id="8" name="card-96"/>
          <p:cNvSpPr/>
          <p:nvPr/>
        </p:nvSpPr>
        <p:spPr>
          <a:xfrm>
            <a:off x="7589520" y="1280160"/>
            <a:ext cx="3977640" cy="4754880"/>
          </a:xfrm>
          <a:prstGeom prst="roundRect">
            <a:avLst>
              <a:gd name="adj" fmla="val 1839"/>
            </a:avLst>
          </a:prstGeom>
          <a:solidFill>
            <a:srgbClr val="F5F7F9"/>
          </a:solidFill>
          <a:ln w="9525">
            <a:solidFill>
              <a:srgbClr val="C8CED6"/>
            </a:solidFill>
            <a:prstDash val="solid"/>
          </a:ln>
        </p:spPr>
      </p:sp>
      <p:sp>
        <p:nvSpPr>
          <p:cNvPr id="9" name="cardh-97"/>
          <p:cNvSpPr txBox="1"/>
          <p:nvPr/>
        </p:nvSpPr>
        <p:spPr>
          <a:xfrm>
            <a:off x="7772400" y="1417320"/>
            <a:ext cx="361188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DESIGN NOTES</a:t>
            </a:r>
            <a:endParaRPr lang="en-US" sz="1500" dirty="0"/>
          </a:p>
        </p:txBody>
      </p:sp>
      <p:sp>
        <p:nvSpPr>
          <p:cNvPr id="10" name="list-98"/>
          <p:cNvSpPr txBox="1"/>
          <p:nvPr/>
        </p:nvSpPr>
        <p:spPr>
          <a:xfrm>
            <a:off x="7818120" y="1874520"/>
            <a:ext cx="3520440" cy="4023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pk = U#&lt;Cognito user id&gt;: isolation by design</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sk prefixes: V#, C#, N#, M#, R#, F#, META#</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On-demand billing, point-in-time recovery</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Retained if the stack is deleted</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Media in private, encrypted S3</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logo-99"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100"/>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Security Design</a:t>
            </a:r>
            <a:endParaRPr lang="en-US" sz="3000" dirty="0"/>
          </a:p>
        </p:txBody>
      </p:sp>
      <p:sp>
        <p:nvSpPr>
          <p:cNvPr id="4" name="date-101"/>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102"/>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103"/>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11</a:t>
            </a:r>
            <a:endParaRPr lang="en-US" sz="1000" dirty="0"/>
          </a:p>
        </p:txBody>
      </p:sp>
      <p:graphicFrame>
        <p:nvGraphicFramePr>
          <p:cNvPr id="12" name="tbl-104"/>
          <p:cNvGraphicFramePr>
            <a:graphicFrameLocks noGrp="1"/>
          </p:cNvGraphicFramePr>
          <p:nvPr>
            <p:extLst>
              <p:ext uri="{D42A27DB-BD31-4B8C-83A1-F6EECF244321}">
                <p14:modId xmlns:p14="http://schemas.microsoft.com/office/powerpoint/2010/main" val="1579011935"/>
              </p:ext>
            </p:extLst>
          </p:nvPr>
        </p:nvGraphicFramePr>
        <p:xfrm>
          <a:off x="640080" y="1280160"/>
          <a:ext cx="6949440" cy="914400"/>
        </p:xfrm>
        <a:graphic>
          <a:graphicData uri="http://schemas.openxmlformats.org/drawingml/2006/table">
            <a:tbl>
              <a:tblPr/>
              <a:tblGrid>
                <a:gridCol w="1645920"/>
                <a:gridCol w="5303520"/>
              </a:tblGrid>
              <a:tr h="0">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Layer</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Control</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r>
              <a:tr h="0">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Identity</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Cognito; password policy; optional domain restriction</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API access</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JWT authorizer: 401 before any code runs</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Isolation</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Partition key from verified token</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Storage</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Private encrypted S3; presigned, expiring URLs</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Transport</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HTTPS only, HSTS, CSP, X-Frame-Options DENY</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AI output</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Citations enforced; labelled explanations</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Least privilege</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400" dirty="0">
                          <a:solidFill>
                            <a:srgbClr val="191919"/>
                          </a:solidFill>
                          <a:latin typeface="Times New Roman" pitchFamily="34" charset="0"/>
                          <a:ea typeface="Times New Roman" pitchFamily="34" charset="-122"/>
                          <a:cs typeface="Times New Roman" pitchFamily="34" charset="-120"/>
                        </a:rPr>
                        <a:t>Per-function IAM policies</a:t>
                      </a:r>
                      <a:endParaRPr lang="en-US" sz="14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bl>
          </a:graphicData>
        </a:graphic>
      </p:graphicFrame>
      <p:sp>
        <p:nvSpPr>
          <p:cNvPr id="8" name="card-105"/>
          <p:cNvSpPr/>
          <p:nvPr/>
        </p:nvSpPr>
        <p:spPr>
          <a:xfrm>
            <a:off x="7863840" y="1280160"/>
            <a:ext cx="3703320" cy="2194560"/>
          </a:xfrm>
          <a:prstGeom prst="roundRect">
            <a:avLst>
              <a:gd name="adj" fmla="val 3333"/>
            </a:avLst>
          </a:prstGeom>
          <a:solidFill>
            <a:srgbClr val="F5F7F9"/>
          </a:solidFill>
          <a:ln w="9525">
            <a:solidFill>
              <a:srgbClr val="C8CED6"/>
            </a:solidFill>
            <a:prstDash val="solid"/>
          </a:ln>
        </p:spPr>
      </p:sp>
      <p:sp>
        <p:nvSpPr>
          <p:cNvPr id="9" name="cardh-106"/>
          <p:cNvSpPr txBox="1"/>
          <p:nvPr/>
        </p:nvSpPr>
        <p:spPr>
          <a:xfrm>
            <a:off x="8046720" y="1417320"/>
            <a:ext cx="333756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VERIFIED LIVE</a:t>
            </a:r>
            <a:endParaRPr lang="en-US" sz="1500" dirty="0"/>
          </a:p>
        </p:txBody>
      </p:sp>
      <p:sp>
        <p:nvSpPr>
          <p:cNvPr id="10" name="list-107"/>
          <p:cNvSpPr txBox="1"/>
          <p:nvPr/>
        </p:nvSpPr>
        <p:spPr>
          <a:xfrm>
            <a:off x="8092440" y="1874520"/>
            <a:ext cx="324612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43/43 live checks passed</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Cross-user access → 404</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Unsigned S3 write → 403</a:t>
            </a:r>
            <a:endParaRPr lang="en-US" sz="1400" dirty="0"/>
          </a:p>
        </p:txBody>
      </p:sp>
      <p:sp>
        <p:nvSpPr>
          <p:cNvPr id="11" name="card-108"/>
          <p:cNvSpPr/>
          <p:nvPr/>
        </p:nvSpPr>
        <p:spPr>
          <a:xfrm>
            <a:off x="7863840" y="3657600"/>
            <a:ext cx="3703320" cy="2286000"/>
          </a:xfrm>
          <a:prstGeom prst="roundRect">
            <a:avLst>
              <a:gd name="adj" fmla="val 3200"/>
            </a:avLst>
          </a:prstGeom>
          <a:solidFill>
            <a:srgbClr val="F5F7F9"/>
          </a:solidFill>
          <a:ln w="9525">
            <a:solidFill>
              <a:srgbClr val="C8CED6"/>
            </a:solidFill>
            <a:prstDash val="solid"/>
          </a:ln>
        </p:spPr>
      </p:sp>
      <p:sp>
        <p:nvSpPr>
          <p:cNvPr id="12" name="cardh-109"/>
          <p:cNvSpPr txBox="1"/>
          <p:nvPr/>
        </p:nvSpPr>
        <p:spPr>
          <a:xfrm>
            <a:off x="8046720" y="3794760"/>
            <a:ext cx="333756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KNOWN GAPS</a:t>
            </a:r>
            <a:endParaRPr lang="en-US" sz="1500" dirty="0"/>
          </a:p>
        </p:txBody>
      </p:sp>
      <p:sp>
        <p:nvSpPr>
          <p:cNvPr id="13" name="list-110"/>
          <p:cNvSpPr txBox="1"/>
          <p:nvPr/>
        </p:nvSpPr>
        <p:spPr>
          <a:xfrm>
            <a:off x="8092440" y="4251960"/>
            <a:ext cx="324612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Open sign-up, no MFA</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No WAF or alarms yet</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Third-party AI while Bedrock is 0</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logo-111"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112"/>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Workflow: Upload → Transcribe → Notes</a:t>
            </a:r>
            <a:endParaRPr lang="en-US" sz="3000" dirty="0"/>
          </a:p>
        </p:txBody>
      </p:sp>
      <p:sp>
        <p:nvSpPr>
          <p:cNvPr id="4" name="date-113"/>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114"/>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115"/>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12</a:t>
            </a:r>
            <a:endParaRPr lang="en-US" sz="1000" dirty="0"/>
          </a:p>
        </p:txBody>
      </p:sp>
      <p:pic>
        <p:nvPicPr>
          <p:cNvPr id="7" name="img-116" descr="/private/tmp/claude-501/-Users-mithilesh-Downloads-cloudnote-site--1-/6c250750-b801-43eb-9bc6-27723f42fa53/scratchpad/docgen/img/seq_upload.png">    </p:cNvPr>
          <p:cNvPicPr>
            <a:picLocks noChangeAspect="1"/>
          </p:cNvPicPr>
          <p:nvPr/>
        </p:nvPicPr>
        <p:blipFill>
          <a:blip r:embed="rId2"/>
          <a:stretch>
            <a:fillRect/>
          </a:stretch>
        </p:blipFill>
        <p:spPr>
          <a:xfrm>
            <a:off x="638990" y="1234440"/>
            <a:ext cx="10883540" cy="4480560"/>
          </a:xfrm>
          <a:prstGeom prst="rect">
            <a:avLst/>
          </a:prstGeom>
        </p:spPr>
      </p:pic>
      <p:sp>
        <p:nvSpPr>
          <p:cNvPr id="8" name="safe"/>
          <p:cNvSpPr txBox="1"/>
          <p:nvPr/>
        </p:nvSpPr>
        <p:spPr>
          <a:xfrm>
            <a:off x="640080" y="5806440"/>
            <a:ext cx="10881360" cy="365760"/>
          </a:xfrm>
          <a:prstGeom prst="rect">
            <a:avLst/>
          </a:prstGeom>
          <a:noFill/>
          <a:ln/>
        </p:spPr>
        <p:txBody>
          <a:bodyPr wrap="square" lIns="0" tIns="0" rIns="0" bIns="0" rtlCol="0" anchor="ctr"/>
          <a:lstStyle/>
          <a:p>
            <a:pPr algn="ctr" indent="0" marL="0">
              <a:buNone/>
            </a:pPr>
            <a:r>
              <a:rPr lang="en-US" sz="1400" b="1" dirty="0">
                <a:solidFill>
                  <a:srgbClr val="960000"/>
                </a:solidFill>
                <a:latin typeface="Times New Roman" pitchFamily="34" charset="0"/>
                <a:ea typeface="Times New Roman" pitchFamily="34" charset="-122"/>
                <a:cs typeface="Times New Roman" pitchFamily="34" charset="-120"/>
              </a:rPr>
              <a:t>Safe start: </a:t>
            </a:r>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a conditional update reserves the video, so a double click cannot start two Transcribe jobs.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logo-117"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118"/>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Implementation &amp; Technology Stack</a:t>
            </a:r>
            <a:endParaRPr lang="en-US" sz="3000" dirty="0"/>
          </a:p>
        </p:txBody>
      </p:sp>
      <p:sp>
        <p:nvSpPr>
          <p:cNvPr id="4" name="date-119"/>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120"/>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121"/>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13</a:t>
            </a:r>
            <a:endParaRPr lang="en-US" sz="1000" dirty="0"/>
          </a:p>
        </p:txBody>
      </p:sp>
      <p:sp>
        <p:nvSpPr>
          <p:cNvPr id="7" name="card-122"/>
          <p:cNvSpPr/>
          <p:nvPr/>
        </p:nvSpPr>
        <p:spPr>
          <a:xfrm>
            <a:off x="640080" y="1280160"/>
            <a:ext cx="2606040" cy="2743200"/>
          </a:xfrm>
          <a:prstGeom prst="roundRect">
            <a:avLst>
              <a:gd name="adj" fmla="val 2807"/>
            </a:avLst>
          </a:prstGeom>
          <a:solidFill>
            <a:srgbClr val="F5F7F9"/>
          </a:solidFill>
          <a:ln w="9525">
            <a:solidFill>
              <a:srgbClr val="C8CED6"/>
            </a:solidFill>
            <a:prstDash val="solid"/>
          </a:ln>
        </p:spPr>
      </p:sp>
      <p:sp>
        <p:nvSpPr>
          <p:cNvPr id="8" name="cardh-123"/>
          <p:cNvSpPr txBox="1"/>
          <p:nvPr/>
        </p:nvSpPr>
        <p:spPr>
          <a:xfrm>
            <a:off x="822960" y="1417320"/>
            <a:ext cx="224028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FRONTEND</a:t>
            </a:r>
            <a:endParaRPr lang="en-US" sz="1500" dirty="0"/>
          </a:p>
        </p:txBody>
      </p:sp>
      <p:sp>
        <p:nvSpPr>
          <p:cNvPr id="9" name="list-124"/>
          <p:cNvSpPr txBox="1"/>
          <p:nvPr/>
        </p:nvSpPr>
        <p:spPr>
          <a:xfrm>
            <a:off x="868680" y="1874520"/>
            <a:ext cx="214884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Vanilla JS SPA</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esbuild</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Responsive, Ctrl+K</a:t>
            </a:r>
            <a:endParaRPr lang="en-US" sz="1400" dirty="0"/>
          </a:p>
        </p:txBody>
      </p:sp>
      <p:sp>
        <p:nvSpPr>
          <p:cNvPr id="10" name="card-125"/>
          <p:cNvSpPr/>
          <p:nvPr/>
        </p:nvSpPr>
        <p:spPr>
          <a:xfrm>
            <a:off x="3429000" y="1280160"/>
            <a:ext cx="2606040" cy="2743200"/>
          </a:xfrm>
          <a:prstGeom prst="roundRect">
            <a:avLst>
              <a:gd name="adj" fmla="val 2807"/>
            </a:avLst>
          </a:prstGeom>
          <a:solidFill>
            <a:srgbClr val="F5F7F9"/>
          </a:solidFill>
          <a:ln w="9525">
            <a:solidFill>
              <a:srgbClr val="C8CED6"/>
            </a:solidFill>
            <a:prstDash val="solid"/>
          </a:ln>
        </p:spPr>
      </p:sp>
      <p:sp>
        <p:nvSpPr>
          <p:cNvPr id="11" name="cardh-126"/>
          <p:cNvSpPr txBox="1"/>
          <p:nvPr/>
        </p:nvSpPr>
        <p:spPr>
          <a:xfrm>
            <a:off x="3611880" y="1417320"/>
            <a:ext cx="224028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BACKEND</a:t>
            </a:r>
            <a:endParaRPr lang="en-US" sz="1500" dirty="0"/>
          </a:p>
        </p:txBody>
      </p:sp>
      <p:sp>
        <p:nvSpPr>
          <p:cNvPr id="12" name="list-127"/>
          <p:cNvSpPr txBox="1"/>
          <p:nvPr/>
        </p:nvSpPr>
        <p:spPr>
          <a:xfrm>
            <a:off x="3657600" y="1874520"/>
            <a:ext cx="214884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Node.js 22 on Lambda</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AWS SDK v3</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Shared NLP engine</a:t>
            </a:r>
            <a:endParaRPr lang="en-US" sz="1400" dirty="0"/>
          </a:p>
        </p:txBody>
      </p:sp>
      <p:sp>
        <p:nvSpPr>
          <p:cNvPr id="13" name="card-128"/>
          <p:cNvSpPr/>
          <p:nvPr/>
        </p:nvSpPr>
        <p:spPr>
          <a:xfrm>
            <a:off x="6217920" y="1280160"/>
            <a:ext cx="2606040" cy="2743200"/>
          </a:xfrm>
          <a:prstGeom prst="roundRect">
            <a:avLst>
              <a:gd name="adj" fmla="val 2807"/>
            </a:avLst>
          </a:prstGeom>
          <a:solidFill>
            <a:srgbClr val="F5F7F9"/>
          </a:solidFill>
          <a:ln w="9525">
            <a:solidFill>
              <a:srgbClr val="C8CED6"/>
            </a:solidFill>
            <a:prstDash val="solid"/>
          </a:ln>
        </p:spPr>
      </p:sp>
      <p:sp>
        <p:nvSpPr>
          <p:cNvPr id="14" name="cardh-129"/>
          <p:cNvSpPr txBox="1"/>
          <p:nvPr/>
        </p:nvSpPr>
        <p:spPr>
          <a:xfrm>
            <a:off x="6400800" y="1417320"/>
            <a:ext cx="224028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DATA &amp; AI</a:t>
            </a:r>
            <a:endParaRPr lang="en-US" sz="1500" dirty="0"/>
          </a:p>
        </p:txBody>
      </p:sp>
      <p:sp>
        <p:nvSpPr>
          <p:cNvPr id="15" name="list-130"/>
          <p:cNvSpPr txBox="1"/>
          <p:nvPr/>
        </p:nvSpPr>
        <p:spPr>
          <a:xfrm>
            <a:off x="6446520" y="1874520"/>
            <a:ext cx="214884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DynamoDB, S3</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Transcribe</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Bedrock / Groq / Gemini</a:t>
            </a:r>
            <a:endParaRPr lang="en-US" sz="1400" dirty="0"/>
          </a:p>
        </p:txBody>
      </p:sp>
      <p:sp>
        <p:nvSpPr>
          <p:cNvPr id="16" name="card-131"/>
          <p:cNvSpPr/>
          <p:nvPr/>
        </p:nvSpPr>
        <p:spPr>
          <a:xfrm>
            <a:off x="9006840" y="1280160"/>
            <a:ext cx="2606040" cy="2743200"/>
          </a:xfrm>
          <a:prstGeom prst="roundRect">
            <a:avLst>
              <a:gd name="adj" fmla="val 2807"/>
            </a:avLst>
          </a:prstGeom>
          <a:solidFill>
            <a:srgbClr val="F5F7F9"/>
          </a:solidFill>
          <a:ln w="9525">
            <a:solidFill>
              <a:srgbClr val="C8CED6"/>
            </a:solidFill>
            <a:prstDash val="solid"/>
          </a:ln>
        </p:spPr>
      </p:sp>
      <p:sp>
        <p:nvSpPr>
          <p:cNvPr id="17" name="cardh-132"/>
          <p:cNvSpPr txBox="1"/>
          <p:nvPr/>
        </p:nvSpPr>
        <p:spPr>
          <a:xfrm>
            <a:off x="9189720" y="1417320"/>
            <a:ext cx="224028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CLOUD / DEVOPS</a:t>
            </a:r>
            <a:endParaRPr lang="en-US" sz="1500" dirty="0"/>
          </a:p>
        </p:txBody>
      </p:sp>
      <p:sp>
        <p:nvSpPr>
          <p:cNvPr id="18" name="list-133"/>
          <p:cNvSpPr txBox="1"/>
          <p:nvPr/>
        </p:nvSpPr>
        <p:spPr>
          <a:xfrm>
            <a:off x="9235440" y="1874520"/>
            <a:ext cx="214884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CloudFront, Cognito</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API Gateway, EventBridge</a:t>
            </a:r>
            <a:endParaRPr lang="en-US" sz="1400" dirty="0"/>
          </a:p>
          <a:p>
            <a:pPr marL="342900" indent="-342900">
              <a:spcAft>
                <a:spcPts val="800"/>
              </a:spcAft>
              <a:buSzPct val="100000"/>
              <a:buChar char="•"/>
            </a:pPr>
            <a:r>
              <a:rPr lang="en-US" sz="1400" dirty="0">
                <a:solidFill>
                  <a:srgbClr val="191919"/>
                </a:solidFill>
                <a:latin typeface="Times New Roman" pitchFamily="34" charset="0"/>
                <a:ea typeface="Times New Roman" pitchFamily="34" charset="-122"/>
                <a:cs typeface="Times New Roman" pitchFamily="34" charset="-120"/>
              </a:rPr>
              <a:t>SAM / CloudFormation</a:t>
            </a:r>
            <a:endParaRPr lang="en-US" sz="1400" dirty="0"/>
          </a:p>
        </p:txBody>
      </p:sp>
      <p:sp>
        <p:nvSpPr>
          <p:cNvPr id="19" name="sv-134"/>
          <p:cNvSpPr txBox="1"/>
          <p:nvPr/>
        </p:nvSpPr>
        <p:spPr>
          <a:xfrm>
            <a:off x="640080" y="4343400"/>
            <a:ext cx="2606040" cy="822960"/>
          </a:xfrm>
          <a:prstGeom prst="rect">
            <a:avLst/>
          </a:prstGeom>
          <a:noFill/>
          <a:ln/>
        </p:spPr>
        <p:txBody>
          <a:bodyPr wrap="square" lIns="0" tIns="0" rIns="0" bIns="0" rtlCol="0" anchor="ctr"/>
          <a:lstStyle/>
          <a:p>
            <a:pPr algn="ctr" indent="0" marL="0">
              <a:buNone/>
            </a:pPr>
            <a:r>
              <a:rPr lang="en-US" sz="4000" b="1" dirty="0">
                <a:solidFill>
                  <a:srgbClr val="960000"/>
                </a:solidFill>
                <a:latin typeface="Times New Roman" pitchFamily="34" charset="0"/>
                <a:ea typeface="Times New Roman" pitchFamily="34" charset="-122"/>
                <a:cs typeface="Times New Roman" pitchFamily="34" charset="-120"/>
              </a:rPr>
              <a:t>28</a:t>
            </a:r>
            <a:endParaRPr lang="en-US" sz="4000" dirty="0"/>
          </a:p>
        </p:txBody>
      </p:sp>
      <p:sp>
        <p:nvSpPr>
          <p:cNvPr id="20" name="sl-135"/>
          <p:cNvSpPr txBox="1"/>
          <p:nvPr/>
        </p:nvSpPr>
        <p:spPr>
          <a:xfrm>
            <a:off x="640080" y="5166360"/>
            <a:ext cx="2606040" cy="411480"/>
          </a:xfrm>
          <a:prstGeom prst="rect">
            <a:avLst/>
          </a:prstGeom>
          <a:noFill/>
          <a:ln/>
        </p:spPr>
        <p:txBody>
          <a:bodyPr wrap="square" lIns="0" tIns="0" rIns="0" bIns="0" rtlCol="0" anchor="ctr"/>
          <a:lstStyle/>
          <a:p>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REST endpoints</a:t>
            </a:r>
            <a:endParaRPr lang="en-US" sz="1400" dirty="0"/>
          </a:p>
        </p:txBody>
      </p:sp>
      <p:sp>
        <p:nvSpPr>
          <p:cNvPr id="21" name="sv-136"/>
          <p:cNvSpPr txBox="1"/>
          <p:nvPr/>
        </p:nvSpPr>
        <p:spPr>
          <a:xfrm>
            <a:off x="3429000" y="4343400"/>
            <a:ext cx="2606040" cy="822960"/>
          </a:xfrm>
          <a:prstGeom prst="rect">
            <a:avLst/>
          </a:prstGeom>
          <a:noFill/>
          <a:ln/>
        </p:spPr>
        <p:txBody>
          <a:bodyPr wrap="square" lIns="0" tIns="0" rIns="0" bIns="0" rtlCol="0" anchor="ctr"/>
          <a:lstStyle/>
          <a:p>
            <a:pPr algn="ctr" indent="0" marL="0">
              <a:buNone/>
            </a:pPr>
            <a:r>
              <a:rPr lang="en-US" sz="4000" b="1" dirty="0">
                <a:solidFill>
                  <a:srgbClr val="960000"/>
                </a:solidFill>
                <a:latin typeface="Times New Roman" pitchFamily="34" charset="0"/>
                <a:ea typeface="Times New Roman" pitchFamily="34" charset="-122"/>
                <a:cs typeface="Times New Roman" pitchFamily="34" charset="-120"/>
              </a:rPr>
              <a:t>102</a:t>
            </a:r>
            <a:endParaRPr lang="en-US" sz="4000" dirty="0"/>
          </a:p>
        </p:txBody>
      </p:sp>
      <p:sp>
        <p:nvSpPr>
          <p:cNvPr id="22" name="sl-137"/>
          <p:cNvSpPr txBox="1"/>
          <p:nvPr/>
        </p:nvSpPr>
        <p:spPr>
          <a:xfrm>
            <a:off x="3429000" y="5166360"/>
            <a:ext cx="2606040" cy="411480"/>
          </a:xfrm>
          <a:prstGeom prst="rect">
            <a:avLst/>
          </a:prstGeom>
          <a:noFill/>
          <a:ln/>
        </p:spPr>
        <p:txBody>
          <a:bodyPr wrap="square" lIns="0" tIns="0" rIns="0" bIns="0" rtlCol="0" anchor="ctr"/>
          <a:lstStyle/>
          <a:p>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tests passed (59 + 43)</a:t>
            </a:r>
            <a:endParaRPr lang="en-US" sz="1400" dirty="0"/>
          </a:p>
        </p:txBody>
      </p:sp>
      <p:sp>
        <p:nvSpPr>
          <p:cNvPr id="23" name="sv-138"/>
          <p:cNvSpPr txBox="1"/>
          <p:nvPr/>
        </p:nvSpPr>
        <p:spPr>
          <a:xfrm>
            <a:off x="6217920" y="4343400"/>
            <a:ext cx="2606040" cy="822960"/>
          </a:xfrm>
          <a:prstGeom prst="rect">
            <a:avLst/>
          </a:prstGeom>
          <a:noFill/>
          <a:ln/>
        </p:spPr>
        <p:txBody>
          <a:bodyPr wrap="square" lIns="0" tIns="0" rIns="0" bIns="0" rtlCol="0" anchor="ctr"/>
          <a:lstStyle/>
          <a:p>
            <a:pPr algn="ctr" indent="0" marL="0">
              <a:buNone/>
            </a:pPr>
            <a:r>
              <a:rPr lang="en-US" sz="4000" b="1" dirty="0">
                <a:solidFill>
                  <a:srgbClr val="960000"/>
                </a:solidFill>
                <a:latin typeface="Times New Roman" pitchFamily="34" charset="0"/>
                <a:ea typeface="Times New Roman" pitchFamily="34" charset="-122"/>
                <a:cs typeface="Times New Roman" pitchFamily="34" charset="-120"/>
              </a:rPr>
              <a:t>13</a:t>
            </a:r>
            <a:endParaRPr lang="en-US" sz="4000" dirty="0"/>
          </a:p>
        </p:txBody>
      </p:sp>
      <p:sp>
        <p:nvSpPr>
          <p:cNvPr id="24" name="sl-139"/>
          <p:cNvSpPr txBox="1"/>
          <p:nvPr/>
        </p:nvSpPr>
        <p:spPr>
          <a:xfrm>
            <a:off x="6217920" y="5166360"/>
            <a:ext cx="2606040" cy="411480"/>
          </a:xfrm>
          <a:prstGeom prst="rect">
            <a:avLst/>
          </a:prstGeom>
          <a:noFill/>
          <a:ln/>
        </p:spPr>
        <p:txBody>
          <a:bodyPr wrap="square" lIns="0" tIns="0" rIns="0" bIns="0" rtlCol="0" anchor="ctr"/>
          <a:lstStyle/>
          <a:p>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reference patterns</a:t>
            </a:r>
            <a:endParaRPr lang="en-US" sz="1400" dirty="0"/>
          </a:p>
        </p:txBody>
      </p:sp>
      <p:sp>
        <p:nvSpPr>
          <p:cNvPr id="25" name="sv-140"/>
          <p:cNvSpPr txBox="1"/>
          <p:nvPr/>
        </p:nvSpPr>
        <p:spPr>
          <a:xfrm>
            <a:off x="9006840" y="4343400"/>
            <a:ext cx="2606040" cy="822960"/>
          </a:xfrm>
          <a:prstGeom prst="rect">
            <a:avLst/>
          </a:prstGeom>
          <a:noFill/>
          <a:ln/>
        </p:spPr>
        <p:txBody>
          <a:bodyPr wrap="square" lIns="0" tIns="0" rIns="0" bIns="0" rtlCol="0" anchor="ctr"/>
          <a:lstStyle/>
          <a:p>
            <a:pPr algn="ctr" indent="0" marL="0">
              <a:buNone/>
            </a:pPr>
            <a:r>
              <a:rPr lang="en-US" sz="4000" b="1" dirty="0">
                <a:solidFill>
                  <a:srgbClr val="960000"/>
                </a:solidFill>
                <a:latin typeface="Times New Roman" pitchFamily="34" charset="0"/>
                <a:ea typeface="Times New Roman" pitchFamily="34" charset="-122"/>
                <a:cs typeface="Times New Roman" pitchFamily="34" charset="-120"/>
              </a:rPr>
              <a:t>~4,600</a:t>
            </a:r>
            <a:endParaRPr lang="en-US" sz="4000" dirty="0"/>
          </a:p>
        </p:txBody>
      </p:sp>
      <p:sp>
        <p:nvSpPr>
          <p:cNvPr id="26" name="sl-141"/>
          <p:cNvSpPr txBox="1"/>
          <p:nvPr/>
        </p:nvSpPr>
        <p:spPr>
          <a:xfrm>
            <a:off x="9006840" y="5166360"/>
            <a:ext cx="2606040" cy="411480"/>
          </a:xfrm>
          <a:prstGeom prst="rect">
            <a:avLst/>
          </a:prstGeom>
          <a:noFill/>
          <a:ln/>
        </p:spPr>
        <p:txBody>
          <a:bodyPr wrap="square" lIns="0" tIns="0" rIns="0" bIns="0" rtlCol="0" anchor="ctr"/>
          <a:lstStyle/>
          <a:p>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lines of code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logo-142"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143"/>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Module Demo 1: Notes &amp; Answers</a:t>
            </a:r>
            <a:endParaRPr lang="en-US" sz="3000" dirty="0"/>
          </a:p>
        </p:txBody>
      </p:sp>
      <p:sp>
        <p:nvSpPr>
          <p:cNvPr id="4" name="date-144"/>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145"/>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146"/>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14</a:t>
            </a:r>
            <a:endParaRPr lang="en-US" sz="1000" dirty="0"/>
          </a:p>
        </p:txBody>
      </p:sp>
      <p:pic>
        <p:nvPicPr>
          <p:cNvPr id="7" name="img-147" descr="/Users/mithilesh/Downloads/cloudnote-site (1)/docs/manual/img/05-video-notes.jpg">    </p:cNvPr>
          <p:cNvPicPr>
            <a:picLocks noChangeAspect="1"/>
          </p:cNvPicPr>
          <p:nvPr/>
        </p:nvPicPr>
        <p:blipFill>
          <a:blip r:embed="rId2"/>
          <a:stretch>
            <a:fillRect/>
          </a:stretch>
        </p:blipFill>
        <p:spPr>
          <a:xfrm>
            <a:off x="548640" y="1234440"/>
            <a:ext cx="5486400" cy="3429000"/>
          </a:xfrm>
          <a:prstGeom prst="rect">
            <a:avLst/>
          </a:prstGeom>
        </p:spPr>
      </p:pic>
      <p:sp>
        <p:nvSpPr>
          <p:cNvPr id="8" name="cap-148"/>
          <p:cNvSpPr txBox="1"/>
          <p:nvPr/>
        </p:nvSpPr>
        <p:spPr>
          <a:xfrm>
            <a:off x="548640" y="4709160"/>
            <a:ext cx="5486400" cy="274320"/>
          </a:xfrm>
          <a:prstGeom prst="rect">
            <a:avLst/>
          </a:prstGeom>
          <a:noFill/>
          <a:ln/>
        </p:spPr>
        <p:txBody>
          <a:bodyPr wrap="square" lIns="0" tIns="0" rIns="0" bIns="0" rtlCol="0" anchor="ctr"/>
          <a:lstStyle/>
          <a:p>
            <a:pPr algn="ctr" indent="0" marL="0">
              <a:buNone/>
            </a:pPr>
            <a:r>
              <a:rPr lang="en-US" sz="1100" i="1" dirty="0">
                <a:solidFill>
                  <a:srgbClr val="5A5F66"/>
                </a:solidFill>
                <a:latin typeface="Times New Roman" pitchFamily="34" charset="0"/>
                <a:ea typeface="Times New Roman" pitchFamily="34" charset="-122"/>
                <a:cs typeface="Times New Roman" pitchFamily="34" charset="-120"/>
              </a:rPr>
              <a:t>Video page: AI notes, moments timeline, transcript</a:t>
            </a:r>
            <a:endParaRPr lang="en-US" sz="1100" dirty="0"/>
          </a:p>
        </p:txBody>
      </p:sp>
      <p:pic>
        <p:nvPicPr>
          <p:cNvPr id="9" name="img-149" descr="/Users/mithilesh/Downloads/cloudnote-site (1)/docs/manual/img/10-notes-ask.jpg">    </p:cNvPr>
          <p:cNvPicPr>
            <a:picLocks noChangeAspect="1"/>
          </p:cNvPicPr>
          <p:nvPr/>
        </p:nvPicPr>
        <p:blipFill>
          <a:blip r:embed="rId3"/>
          <a:stretch>
            <a:fillRect/>
          </a:stretch>
        </p:blipFill>
        <p:spPr>
          <a:xfrm>
            <a:off x="6172200" y="1234440"/>
            <a:ext cx="5486400" cy="3429000"/>
          </a:xfrm>
          <a:prstGeom prst="rect">
            <a:avLst/>
          </a:prstGeom>
        </p:spPr>
      </p:pic>
      <p:sp>
        <p:nvSpPr>
          <p:cNvPr id="10" name="cap-150"/>
          <p:cNvSpPr txBox="1"/>
          <p:nvPr/>
        </p:nvSpPr>
        <p:spPr>
          <a:xfrm>
            <a:off x="6172200" y="4709160"/>
            <a:ext cx="5486400" cy="274320"/>
          </a:xfrm>
          <a:prstGeom prst="rect">
            <a:avLst/>
          </a:prstGeom>
          <a:noFill/>
          <a:ln/>
        </p:spPr>
        <p:txBody>
          <a:bodyPr wrap="square" lIns="0" tIns="0" rIns="0" bIns="0" rtlCol="0" anchor="ctr"/>
          <a:lstStyle/>
          <a:p>
            <a:pPr algn="ctr" indent="0" marL="0">
              <a:buNone/>
            </a:pPr>
            <a:r>
              <a:rPr lang="en-US" sz="1100" i="1" dirty="0">
                <a:solidFill>
                  <a:srgbClr val="5A5F66"/>
                </a:solidFill>
                <a:latin typeface="Times New Roman" pitchFamily="34" charset="0"/>
                <a:ea typeface="Times New Roman" pitchFamily="34" charset="-122"/>
                <a:cs typeface="Times New Roman" pitchFamily="34" charset="-120"/>
              </a:rPr>
              <a:t>Ask your notes: answer with citations</a:t>
            </a:r>
            <a:endParaRPr lang="en-US" sz="1100" dirty="0"/>
          </a:p>
        </p:txBody>
      </p:sp>
      <p:sp>
        <p:nvSpPr>
          <p:cNvPr id="11" name="also1"/>
          <p:cNvSpPr txBox="1"/>
          <p:nvPr/>
        </p:nvSpPr>
        <p:spPr>
          <a:xfrm>
            <a:off x="640080" y="5760720"/>
            <a:ext cx="10881360" cy="365760"/>
          </a:xfrm>
          <a:prstGeom prst="rect">
            <a:avLst/>
          </a:prstGeom>
          <a:noFill/>
          <a:ln/>
        </p:spPr>
        <p:txBody>
          <a:bodyPr wrap="square" lIns="0" tIns="0" rIns="0" bIns="0" rtlCol="0" anchor="ctr"/>
          <a:lstStyle/>
          <a:p>
            <a:pPr algn="ctr" indent="0" marL="0">
              <a:buNone/>
            </a:pPr>
            <a:r>
              <a:rPr lang="en-US" sz="1400" b="1" dirty="0">
                <a:solidFill>
                  <a:srgbClr val="191919"/>
                </a:solidFill>
                <a:latin typeface="Times New Roman" pitchFamily="34" charset="0"/>
                <a:ea typeface="Times New Roman" pitchFamily="34" charset="-122"/>
                <a:cs typeface="Times New Roman" pitchFamily="34" charset="-120"/>
              </a:rPr>
              <a:t>Also: </a:t>
            </a:r>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Ask tab answers "what is DFS" from the transcript and lists the moments (9:30, 12:10, 15:36).</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logo-151"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152"/>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Module Demo 2: Context Recovery</a:t>
            </a:r>
            <a:endParaRPr lang="en-US" sz="3000" dirty="0"/>
          </a:p>
        </p:txBody>
      </p:sp>
      <p:sp>
        <p:nvSpPr>
          <p:cNvPr id="4" name="date-153"/>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154"/>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155"/>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15</a:t>
            </a:r>
            <a:endParaRPr lang="en-US" sz="1000" dirty="0"/>
          </a:p>
        </p:txBody>
      </p:sp>
      <p:pic>
        <p:nvPicPr>
          <p:cNvPr id="7" name="img-156" descr="/Users/mithilesh/Downloads/cloudnote-site (1)/docs/manual/img/07-video-context.jpg">    </p:cNvPr>
          <p:cNvPicPr>
            <a:picLocks noChangeAspect="1"/>
          </p:cNvPicPr>
          <p:nvPr/>
        </p:nvPicPr>
        <p:blipFill>
          <a:blip r:embed="rId2"/>
          <a:stretch>
            <a:fillRect/>
          </a:stretch>
        </p:blipFill>
        <p:spPr>
          <a:xfrm>
            <a:off x="548640" y="1234440"/>
            <a:ext cx="5486400" cy="3429000"/>
          </a:xfrm>
          <a:prstGeom prst="rect">
            <a:avLst/>
          </a:prstGeom>
        </p:spPr>
      </p:pic>
      <p:sp>
        <p:nvSpPr>
          <p:cNvPr id="8" name="cap-157"/>
          <p:cNvSpPr txBox="1"/>
          <p:nvPr/>
        </p:nvSpPr>
        <p:spPr>
          <a:xfrm>
            <a:off x="548640" y="4709160"/>
            <a:ext cx="5486400" cy="274320"/>
          </a:xfrm>
          <a:prstGeom prst="rect">
            <a:avLst/>
          </a:prstGeom>
          <a:noFill/>
          <a:ln/>
        </p:spPr>
        <p:txBody>
          <a:bodyPr wrap="square" lIns="0" tIns="0" rIns="0" bIns="0" rtlCol="0" anchor="ctr"/>
          <a:lstStyle/>
          <a:p>
            <a:pPr algn="ctr" indent="0" marL="0">
              <a:buNone/>
            </a:pPr>
            <a:r>
              <a:rPr lang="en-US" sz="1100" i="1" dirty="0">
                <a:solidFill>
                  <a:srgbClr val="5A5F66"/>
                </a:solidFill>
                <a:latin typeface="Times New Roman" pitchFamily="34" charset="0"/>
                <a:ea typeface="Times New Roman" pitchFamily="34" charset="-122"/>
                <a:cs typeface="Times New Roman" pitchFamily="34" charset="-120"/>
              </a:rPr>
              <a:t>Context tab: references and candidate sources</a:t>
            </a:r>
            <a:endParaRPr lang="en-US" sz="1100" dirty="0"/>
          </a:p>
        </p:txBody>
      </p:sp>
      <p:pic>
        <p:nvPicPr>
          <p:cNvPr id="9" name="img-158" descr="/Users/mithilesh/Downloads/cloudnote-site (1)/docs/manual/img/14-notifications.jpg">    </p:cNvPr>
          <p:cNvPicPr>
            <a:picLocks noChangeAspect="1"/>
          </p:cNvPicPr>
          <p:nvPr/>
        </p:nvPicPr>
        <p:blipFill>
          <a:blip r:embed="rId3"/>
          <a:stretch>
            <a:fillRect/>
          </a:stretch>
        </p:blipFill>
        <p:spPr>
          <a:xfrm>
            <a:off x="6172200" y="1234440"/>
            <a:ext cx="5486400" cy="3429000"/>
          </a:xfrm>
          <a:prstGeom prst="rect">
            <a:avLst/>
          </a:prstGeom>
        </p:spPr>
      </p:pic>
      <p:sp>
        <p:nvSpPr>
          <p:cNvPr id="10" name="cap-159"/>
          <p:cNvSpPr txBox="1"/>
          <p:nvPr/>
        </p:nvSpPr>
        <p:spPr>
          <a:xfrm>
            <a:off x="6172200" y="4709160"/>
            <a:ext cx="5486400" cy="274320"/>
          </a:xfrm>
          <a:prstGeom prst="rect">
            <a:avLst/>
          </a:prstGeom>
          <a:noFill/>
          <a:ln/>
        </p:spPr>
        <p:txBody>
          <a:bodyPr wrap="square" lIns="0" tIns="0" rIns="0" bIns="0" rtlCol="0" anchor="ctr"/>
          <a:lstStyle/>
          <a:p>
            <a:pPr algn="ctr" indent="0" marL="0">
              <a:buNone/>
            </a:pPr>
            <a:r>
              <a:rPr lang="en-US" sz="1100" i="1" dirty="0">
                <a:solidFill>
                  <a:srgbClr val="5A5F66"/>
                </a:solidFill>
                <a:latin typeface="Times New Roman" pitchFamily="34" charset="0"/>
                <a:ea typeface="Times New Roman" pitchFamily="34" charset="-122"/>
                <a:cs typeface="Times New Roman" pitchFamily="34" charset="-120"/>
              </a:rPr>
              <a:t>One notification when a remembered reference is explained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logo-160"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161"/>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Module Demo 3: Library Map &amp; Know More</a:t>
            </a:r>
            <a:endParaRPr lang="en-US" sz="3000" dirty="0"/>
          </a:p>
        </p:txBody>
      </p:sp>
      <p:sp>
        <p:nvSpPr>
          <p:cNvPr id="4" name="date-162"/>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163"/>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164"/>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16</a:t>
            </a:r>
            <a:endParaRPr lang="en-US" sz="1000" dirty="0"/>
          </a:p>
        </p:txBody>
      </p:sp>
      <p:pic>
        <p:nvPicPr>
          <p:cNvPr id="7" name="img-165" descr="/Users/mithilesh/Downloads/cloudnote-site (1)/docs/manual/img/13-map.jpg">    </p:cNvPr>
          <p:cNvPicPr>
            <a:picLocks noChangeAspect="1"/>
          </p:cNvPicPr>
          <p:nvPr/>
        </p:nvPicPr>
        <p:blipFill>
          <a:blip r:embed="rId2"/>
          <a:stretch>
            <a:fillRect/>
          </a:stretch>
        </p:blipFill>
        <p:spPr>
          <a:xfrm>
            <a:off x="548640" y="1234440"/>
            <a:ext cx="5486400" cy="3429000"/>
          </a:xfrm>
          <a:prstGeom prst="rect">
            <a:avLst/>
          </a:prstGeom>
        </p:spPr>
      </p:pic>
      <p:sp>
        <p:nvSpPr>
          <p:cNvPr id="8" name="cap-166"/>
          <p:cNvSpPr txBox="1"/>
          <p:nvPr/>
        </p:nvSpPr>
        <p:spPr>
          <a:xfrm>
            <a:off x="548640" y="4709160"/>
            <a:ext cx="5486400" cy="274320"/>
          </a:xfrm>
          <a:prstGeom prst="rect">
            <a:avLst/>
          </a:prstGeom>
          <a:noFill/>
          <a:ln/>
        </p:spPr>
        <p:txBody>
          <a:bodyPr wrap="square" lIns="0" tIns="0" rIns="0" bIns="0" rtlCol="0" anchor="ctr"/>
          <a:lstStyle/>
          <a:p>
            <a:pPr algn="ctr" indent="0" marL="0">
              <a:buNone/>
            </a:pPr>
            <a:r>
              <a:rPr lang="en-US" sz="1100" i="1" dirty="0">
                <a:solidFill>
                  <a:srgbClr val="5A5F66"/>
                </a:solidFill>
                <a:latin typeface="Times New Roman" pitchFamily="34" charset="0"/>
                <a:ea typeface="Times New Roman" pitchFamily="34" charset="-122"/>
                <a:cs typeface="Times New Roman" pitchFamily="34" charset="-120"/>
              </a:rPr>
              <a:t>Library map: dependencies, watch order, gaps</a:t>
            </a:r>
            <a:endParaRPr lang="en-US" sz="1100" dirty="0"/>
          </a:p>
        </p:txBody>
      </p:sp>
      <p:pic>
        <p:nvPicPr>
          <p:cNvPr id="9" name="img-167" descr="/private/tmp/claude-501/-Users-mithilesh-Downloads-cloudnote-site--1-/6c250750-b801-43eb-9bc6-27723f42fa53/scratchpad/docgen/../km-context.png">    </p:cNvPr>
          <p:cNvPicPr>
            <a:picLocks noChangeAspect="1"/>
          </p:cNvPicPr>
          <p:nvPr/>
        </p:nvPicPr>
        <p:blipFill>
          <a:blip r:embed="rId3"/>
          <a:stretch>
            <a:fillRect/>
          </a:stretch>
        </p:blipFill>
        <p:spPr>
          <a:xfrm>
            <a:off x="6172200" y="1234440"/>
            <a:ext cx="5486400" cy="3429000"/>
          </a:xfrm>
          <a:prstGeom prst="rect">
            <a:avLst/>
          </a:prstGeom>
        </p:spPr>
      </p:pic>
      <p:sp>
        <p:nvSpPr>
          <p:cNvPr id="10" name="cap-168"/>
          <p:cNvSpPr txBox="1"/>
          <p:nvPr/>
        </p:nvSpPr>
        <p:spPr>
          <a:xfrm>
            <a:off x="6172200" y="4709160"/>
            <a:ext cx="5486400" cy="274320"/>
          </a:xfrm>
          <a:prstGeom prst="rect">
            <a:avLst/>
          </a:prstGeom>
          <a:noFill/>
          <a:ln/>
        </p:spPr>
        <p:txBody>
          <a:bodyPr wrap="square" lIns="0" tIns="0" rIns="0" bIns="0" rtlCol="0" anchor="ctr"/>
          <a:lstStyle/>
          <a:p>
            <a:pPr algn="ctr" indent="0" marL="0">
              <a:buNone/>
            </a:pPr>
            <a:r>
              <a:rPr lang="en-US" sz="1100" i="1" dirty="0">
                <a:solidFill>
                  <a:srgbClr val="5A5F66"/>
                </a:solidFill>
                <a:latin typeface="Times New Roman" pitchFamily="34" charset="0"/>
                <a:ea typeface="Times New Roman" pitchFamily="34" charset="-122"/>
                <a:cs typeface="Times New Roman" pitchFamily="34" charset="-120"/>
              </a:rPr>
              <a:t>Know more: labelled general explanation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logo-169"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170"/>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Cloud Deployment</a:t>
            </a:r>
            <a:endParaRPr lang="en-US" sz="3000" dirty="0"/>
          </a:p>
        </p:txBody>
      </p:sp>
      <p:sp>
        <p:nvSpPr>
          <p:cNvPr id="4" name="date-171"/>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172"/>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173"/>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17</a:t>
            </a:r>
            <a:endParaRPr lang="en-US" sz="1000" dirty="0"/>
          </a:p>
        </p:txBody>
      </p:sp>
      <p:sp>
        <p:nvSpPr>
          <p:cNvPr id="7" name="list-174"/>
          <p:cNvSpPr txBox="1"/>
          <p:nvPr/>
        </p:nvSpPr>
        <p:spPr>
          <a:xfrm>
            <a:off x="640080" y="1325880"/>
            <a:ext cx="6766560" cy="393192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Infrastructure as code:</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one SAM stack (cloudnote-ai)</a:t>
            </a:r>
            <a:endParaRPr lang="en-US" sz="1500" dirty="0"/>
          </a:p>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Edge:</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CloudFront HTTPS, security headers, private S3 via OAC</a:t>
            </a:r>
            <a:endParaRPr lang="en-US" sz="1500" dirty="0"/>
          </a:p>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Identity:</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Cognito + API Gateway JWT authorizer</a:t>
            </a:r>
            <a:endParaRPr lang="en-US" sz="1500" dirty="0"/>
          </a:p>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Compute:</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Lambda API (1024 MB) and worker (1536 MB), ARM64</a:t>
            </a:r>
            <a:endParaRPr lang="en-US" sz="1500" dirty="0"/>
          </a:p>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Data:</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DynamoDB on-demand with PITR; private S3 media</a:t>
            </a:r>
            <a:endParaRPr lang="en-US" sz="1500" dirty="0"/>
          </a:p>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Speech:</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Transcribe + EventBridge</a:t>
            </a:r>
            <a:endParaRPr lang="en-US" sz="1500" dirty="0"/>
          </a:p>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AI:</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Bedrock → Groq → Gemini fallback (Bedrock quota 0)</a:t>
            </a:r>
            <a:endParaRPr lang="en-US" sz="1500" dirty="0"/>
          </a:p>
          <a:p>
            <a:pPr marL="342900" indent="-342900">
              <a:spcAft>
                <a:spcPts val="800"/>
              </a:spcAft>
              <a:buSzPct val="100000"/>
              <a:buChar char="•"/>
            </a:pPr>
            <a:r>
              <a:rPr lang="en-US" sz="1500" b="1" dirty="0">
                <a:solidFill>
                  <a:srgbClr val="191919"/>
                </a:solidFill>
                <a:latin typeface="Times New Roman" pitchFamily="34" charset="0"/>
                <a:ea typeface="Times New Roman" pitchFamily="34" charset="-122"/>
                <a:cs typeface="Times New Roman" pitchFamily="34" charset="-120"/>
              </a:rPr>
              <a:t>Region:</a:t>
            </a:r>
            <a:pPr indent="0" marL="0">
              <a:spcAft>
                <a:spcPts val="800"/>
              </a:spcAft>
              <a:buNone/>
            </a:pPr>
            <a:r>
              <a:rPr lang="en-US" sz="1500" dirty="0">
                <a:solidFill>
                  <a:srgbClr val="191919"/>
                </a:solidFill>
                <a:latin typeface="Times New Roman" pitchFamily="34" charset="0"/>
                <a:ea typeface="Times New Roman" pitchFamily="34" charset="-122"/>
                <a:cs typeface="Times New Roman" pitchFamily="34" charset="-120"/>
              </a:rPr>
              <a:t> us-east-1 (N. Virginia)</a:t>
            </a:r>
            <a:endParaRPr lang="en-US" sz="1500" dirty="0"/>
          </a:p>
        </p:txBody>
      </p:sp>
      <p:pic>
        <p:nvPicPr>
          <p:cNvPr id="8" name="qr1" descr="/private/tmp/claude-501/-Users-mithilesh-Downloads-cloudnote-site--1-/6c250750-b801-43eb-9bc6-27723f42fa53/scratchpad/docgen/img/qr_live.png">    </p:cNvPr>
          <p:cNvPicPr>
            <a:picLocks noChangeAspect="1"/>
          </p:cNvPicPr>
          <p:nvPr/>
        </p:nvPicPr>
        <p:blipFill>
          <a:blip r:embed="rId2"/>
          <a:stretch>
            <a:fillRect/>
          </a:stretch>
        </p:blipFill>
        <p:spPr>
          <a:xfrm>
            <a:off x="8229600" y="1371600"/>
            <a:ext cx="2377440" cy="2377440"/>
          </a:xfrm>
          <a:prstGeom prst="rect">
            <a:avLst/>
          </a:prstGeom>
        </p:spPr>
      </p:pic>
      <p:sp>
        <p:nvSpPr>
          <p:cNvPr id="9" name="qrl"/>
          <p:cNvSpPr txBox="1"/>
          <p:nvPr/>
        </p:nvSpPr>
        <p:spPr>
          <a:xfrm>
            <a:off x="7589520" y="3840480"/>
            <a:ext cx="3657600" cy="731520"/>
          </a:xfrm>
          <a:prstGeom prst="rect">
            <a:avLst/>
          </a:prstGeom>
          <a:noFill/>
          <a:ln/>
        </p:spPr>
        <p:txBody>
          <a:bodyPr wrap="square" lIns="0" tIns="0" rIns="0" bIns="0" rtlCol="0" anchor="ctr"/>
          <a:lstStyle/>
          <a:p>
            <a:pPr algn="ctr" indent="0" marL="0">
              <a:buNone/>
            </a:pPr>
            <a:r>
              <a:rPr lang="en-US" sz="1400" b="1" dirty="0">
                <a:solidFill>
                  <a:srgbClr val="960000"/>
                </a:solidFill>
                <a:latin typeface="Times New Roman" pitchFamily="34" charset="0"/>
                <a:ea typeface="Times New Roman" pitchFamily="34" charset="-122"/>
                <a:cs typeface="Times New Roman" pitchFamily="34" charset="-120"/>
              </a:rPr>
              <a:t>LIVE SYSTEM</a:t>
            </a:r>
            <a:endParaRPr lang="en-US" sz="1400" dirty="0"/>
          </a:p>
          <a:p>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d349qer3boe6fg.cloudfront.net</a:t>
            </a:r>
            <a:endParaRPr lang="en-US" sz="1400" dirty="0"/>
          </a:p>
        </p:txBody>
      </p:sp>
      <p:sp>
        <p:nvSpPr>
          <p:cNvPr id="10" name="dk-175"/>
          <p:cNvSpPr/>
          <p:nvPr/>
        </p:nvSpPr>
        <p:spPr>
          <a:xfrm>
            <a:off x="640080" y="5349240"/>
            <a:ext cx="2103120" cy="822960"/>
          </a:xfrm>
          <a:prstGeom prst="roundRect">
            <a:avLst>
              <a:gd name="adj" fmla="val 6667"/>
            </a:avLst>
          </a:prstGeom>
          <a:solidFill>
            <a:srgbClr val="F5F7F9"/>
          </a:solidFill>
          <a:ln w="9525">
            <a:solidFill>
              <a:srgbClr val="C8CED6"/>
            </a:solidFill>
            <a:prstDash val="solid"/>
          </a:ln>
        </p:spPr>
      </p:sp>
      <p:sp>
        <p:nvSpPr>
          <p:cNvPr id="11" name="dkt-176"/>
          <p:cNvSpPr txBox="1"/>
          <p:nvPr/>
        </p:nvSpPr>
        <p:spPr>
          <a:xfrm>
            <a:off x="640080" y="5376672"/>
            <a:ext cx="2103120" cy="777240"/>
          </a:xfrm>
          <a:prstGeom prst="rect">
            <a:avLst/>
          </a:prstGeom>
          <a:noFill/>
          <a:ln/>
        </p:spPr>
        <p:txBody>
          <a:bodyPr wrap="square" lIns="0" tIns="0" rIns="0" bIns="0" rtlCol="0" anchor="ctr"/>
          <a:lstStyle/>
          <a:p>
            <a:pPr algn="ctr" indent="0" marL="0">
              <a:buNone/>
            </a:pPr>
            <a:r>
              <a:rPr lang="en-US" sz="1800" b="1" dirty="0">
                <a:solidFill>
                  <a:srgbClr val="960000"/>
                </a:solidFill>
                <a:latin typeface="Times New Roman" pitchFamily="34" charset="0"/>
                <a:ea typeface="Times New Roman" pitchFamily="34" charset="-122"/>
                <a:cs typeface="Times New Roman" pitchFamily="34" charset="-120"/>
              </a:rPr>
              <a:t>0.00 USD</a:t>
            </a:r>
            <a:endParaRPr lang="en-US" sz="1800" dirty="0"/>
          </a:p>
          <a:p>
            <a:pPr algn="ctr" indent="0" marL="0">
              <a:buNone/>
            </a:pPr>
            <a:r>
              <a:rPr lang="en-US" sz="1100" dirty="0">
                <a:solidFill>
                  <a:srgbClr val="191919"/>
                </a:solidFill>
                <a:latin typeface="Times New Roman" pitchFamily="34" charset="0"/>
                <a:ea typeface="Times New Roman" pitchFamily="34" charset="-122"/>
                <a:cs typeface="Times New Roman" pitchFamily="34" charset="-120"/>
              </a:rPr>
              <a:t>AWS cost, Oct 2026</a:t>
            </a:r>
            <a:endParaRPr lang="en-US" sz="1800" dirty="0"/>
          </a:p>
        </p:txBody>
      </p:sp>
      <p:sp>
        <p:nvSpPr>
          <p:cNvPr id="12" name="dk-177"/>
          <p:cNvSpPr/>
          <p:nvPr/>
        </p:nvSpPr>
        <p:spPr>
          <a:xfrm>
            <a:off x="2926080" y="5349240"/>
            <a:ext cx="2103120" cy="822960"/>
          </a:xfrm>
          <a:prstGeom prst="roundRect">
            <a:avLst>
              <a:gd name="adj" fmla="val 6667"/>
            </a:avLst>
          </a:prstGeom>
          <a:solidFill>
            <a:srgbClr val="F5F7F9"/>
          </a:solidFill>
          <a:ln w="9525">
            <a:solidFill>
              <a:srgbClr val="C8CED6"/>
            </a:solidFill>
            <a:prstDash val="solid"/>
          </a:ln>
        </p:spPr>
      </p:sp>
      <p:sp>
        <p:nvSpPr>
          <p:cNvPr id="13" name="dkt-178"/>
          <p:cNvSpPr txBox="1"/>
          <p:nvPr/>
        </p:nvSpPr>
        <p:spPr>
          <a:xfrm>
            <a:off x="2926080" y="5376672"/>
            <a:ext cx="2103120" cy="777240"/>
          </a:xfrm>
          <a:prstGeom prst="rect">
            <a:avLst/>
          </a:prstGeom>
          <a:noFill/>
          <a:ln/>
        </p:spPr>
        <p:txBody>
          <a:bodyPr wrap="square" lIns="0" tIns="0" rIns="0" bIns="0" rtlCol="0" anchor="ctr"/>
          <a:lstStyle/>
          <a:p>
            <a:pPr algn="ctr" indent="0" marL="0">
              <a:buNone/>
            </a:pPr>
            <a:r>
              <a:rPr lang="en-US" sz="1800" b="1" dirty="0">
                <a:solidFill>
                  <a:srgbClr val="960000"/>
                </a:solidFill>
                <a:latin typeface="Times New Roman" pitchFamily="34" charset="0"/>
                <a:ea typeface="Times New Roman" pitchFamily="34" charset="-122"/>
                <a:cs typeface="Times New Roman" pitchFamily="34" charset="-120"/>
              </a:rPr>
              <a:t>28</a:t>
            </a:r>
            <a:endParaRPr lang="en-US" sz="1800" dirty="0"/>
          </a:p>
          <a:p>
            <a:pPr algn="ctr" indent="0" marL="0">
              <a:buNone/>
            </a:pPr>
            <a:r>
              <a:rPr lang="en-US" sz="1100" dirty="0">
                <a:solidFill>
                  <a:srgbClr val="191919"/>
                </a:solidFill>
                <a:latin typeface="Times New Roman" pitchFamily="34" charset="0"/>
                <a:ea typeface="Times New Roman" pitchFamily="34" charset="-122"/>
                <a:cs typeface="Times New Roman" pitchFamily="34" charset="-120"/>
              </a:rPr>
              <a:t>API endpoints</a:t>
            </a:r>
            <a:endParaRPr lang="en-US" sz="1800" dirty="0"/>
          </a:p>
        </p:txBody>
      </p:sp>
      <p:sp>
        <p:nvSpPr>
          <p:cNvPr id="14" name="dk-179"/>
          <p:cNvSpPr/>
          <p:nvPr/>
        </p:nvSpPr>
        <p:spPr>
          <a:xfrm>
            <a:off x="5212080" y="5349240"/>
            <a:ext cx="2103120" cy="822960"/>
          </a:xfrm>
          <a:prstGeom prst="roundRect">
            <a:avLst>
              <a:gd name="adj" fmla="val 6667"/>
            </a:avLst>
          </a:prstGeom>
          <a:solidFill>
            <a:srgbClr val="F5F7F9"/>
          </a:solidFill>
          <a:ln w="9525">
            <a:solidFill>
              <a:srgbClr val="C8CED6"/>
            </a:solidFill>
            <a:prstDash val="solid"/>
          </a:ln>
        </p:spPr>
      </p:sp>
      <p:sp>
        <p:nvSpPr>
          <p:cNvPr id="15" name="dkt-180"/>
          <p:cNvSpPr txBox="1"/>
          <p:nvPr/>
        </p:nvSpPr>
        <p:spPr>
          <a:xfrm>
            <a:off x="5212080" y="5376672"/>
            <a:ext cx="2103120" cy="777240"/>
          </a:xfrm>
          <a:prstGeom prst="rect">
            <a:avLst/>
          </a:prstGeom>
          <a:noFill/>
          <a:ln/>
        </p:spPr>
        <p:txBody>
          <a:bodyPr wrap="square" lIns="0" tIns="0" rIns="0" bIns="0" rtlCol="0" anchor="ctr"/>
          <a:lstStyle/>
          <a:p>
            <a:pPr algn="ctr" indent="0" marL="0">
              <a:buNone/>
            </a:pPr>
            <a:r>
              <a:rPr lang="en-US" sz="1800" b="1" dirty="0">
                <a:solidFill>
                  <a:srgbClr val="960000"/>
                </a:solidFill>
                <a:latin typeface="Times New Roman" pitchFamily="34" charset="0"/>
                <a:ea typeface="Times New Roman" pitchFamily="34" charset="-122"/>
                <a:cs typeface="Times New Roman" pitchFamily="34" charset="-120"/>
              </a:rPr>
              <a:t>1</a:t>
            </a:r>
            <a:endParaRPr lang="en-US" sz="1800" dirty="0"/>
          </a:p>
          <a:p>
            <a:pPr algn="ctr" indent="0" marL="0">
              <a:buNone/>
            </a:pPr>
            <a:r>
              <a:rPr lang="en-US" sz="1100" dirty="0">
                <a:solidFill>
                  <a:srgbClr val="191919"/>
                </a:solidFill>
                <a:latin typeface="Times New Roman" pitchFamily="34" charset="0"/>
                <a:ea typeface="Times New Roman" pitchFamily="34" charset="-122"/>
                <a:cs typeface="Times New Roman" pitchFamily="34" charset="-120"/>
              </a:rPr>
              <a:t>command to deploy</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logo-181"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182"/>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Testing &amp; Results</a:t>
            </a:r>
            <a:endParaRPr lang="en-US" sz="3000" dirty="0"/>
          </a:p>
        </p:txBody>
      </p:sp>
      <p:sp>
        <p:nvSpPr>
          <p:cNvPr id="4" name="date-183"/>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184"/>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185"/>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18</a:t>
            </a:r>
            <a:endParaRPr lang="en-US" sz="1000" dirty="0"/>
          </a:p>
        </p:txBody>
      </p:sp>
      <p:sp>
        <p:nvSpPr>
          <p:cNvPr id="7" name="big"/>
          <p:cNvSpPr txBox="1"/>
          <p:nvPr/>
        </p:nvSpPr>
        <p:spPr>
          <a:xfrm>
            <a:off x="640080" y="1463040"/>
            <a:ext cx="3657600" cy="914400"/>
          </a:xfrm>
          <a:prstGeom prst="rect">
            <a:avLst/>
          </a:prstGeom>
          <a:noFill/>
          <a:ln/>
        </p:spPr>
        <p:txBody>
          <a:bodyPr wrap="square" lIns="0" tIns="0" rIns="0" bIns="0" rtlCol="0" anchor="ctr"/>
          <a:lstStyle/>
          <a:p>
            <a:pPr algn="ctr" indent="0" marL="0">
              <a:buNone/>
            </a:pPr>
            <a:r>
              <a:rPr lang="en-US" sz="4800" b="1" dirty="0">
                <a:solidFill>
                  <a:srgbClr val="2E7D32"/>
                </a:solidFill>
                <a:latin typeface="Times New Roman" pitchFamily="34" charset="0"/>
                <a:ea typeface="Times New Roman" pitchFamily="34" charset="-122"/>
                <a:cs typeface="Times New Roman" pitchFamily="34" charset="-120"/>
              </a:rPr>
              <a:t>102 / 102</a:t>
            </a:r>
            <a:endParaRPr lang="en-US" sz="4800" dirty="0"/>
          </a:p>
        </p:txBody>
      </p:sp>
      <p:sp>
        <p:nvSpPr>
          <p:cNvPr id="8" name="bigl"/>
          <p:cNvSpPr txBox="1"/>
          <p:nvPr/>
        </p:nvSpPr>
        <p:spPr>
          <a:xfrm>
            <a:off x="640080" y="2377440"/>
            <a:ext cx="3657600" cy="365760"/>
          </a:xfrm>
          <a:prstGeom prst="rect">
            <a:avLst/>
          </a:prstGeom>
          <a:noFill/>
          <a:ln/>
        </p:spPr>
        <p:txBody>
          <a:bodyPr wrap="square" lIns="0" tIns="0" rIns="0" bIns="0" rtlCol="0" anchor="ctr"/>
          <a:lstStyle/>
          <a:p>
            <a:pPr algn="ctr" indent="0" marL="0">
              <a:buNone/>
            </a:pPr>
            <a:r>
              <a:rPr lang="en-US" sz="1400" dirty="0">
                <a:solidFill>
                  <a:srgbClr val="191919"/>
                </a:solidFill>
                <a:latin typeface="Times New Roman" pitchFamily="34" charset="0"/>
                <a:ea typeface="Times New Roman" pitchFamily="34" charset="-122"/>
                <a:cs typeface="Times New Roman" pitchFamily="34" charset="-120"/>
              </a:rPr>
              <a:t>tests passed  ·  0 failed</a:t>
            </a:r>
            <a:endParaRPr lang="en-US" sz="1400" dirty="0"/>
          </a:p>
        </p:txBody>
      </p:sp>
      <p:sp>
        <p:nvSpPr>
          <p:cNvPr id="9" name="card-186"/>
          <p:cNvSpPr/>
          <p:nvPr/>
        </p:nvSpPr>
        <p:spPr>
          <a:xfrm>
            <a:off x="640080" y="3017520"/>
            <a:ext cx="3657600" cy="1371600"/>
          </a:xfrm>
          <a:prstGeom prst="roundRect">
            <a:avLst>
              <a:gd name="adj" fmla="val 5333"/>
            </a:avLst>
          </a:prstGeom>
          <a:solidFill>
            <a:srgbClr val="F5F7F9"/>
          </a:solidFill>
          <a:ln w="9525">
            <a:solidFill>
              <a:srgbClr val="C8CED6"/>
            </a:solidFill>
            <a:prstDash val="solid"/>
          </a:ln>
        </p:spPr>
      </p:sp>
      <p:sp>
        <p:nvSpPr>
          <p:cNvPr id="10" name="cardh-187"/>
          <p:cNvSpPr txBox="1"/>
          <p:nvPr/>
        </p:nvSpPr>
        <p:spPr>
          <a:xfrm>
            <a:off x="822960" y="3154680"/>
            <a:ext cx="329184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DEFECTS FOUND &amp; FIXED</a:t>
            </a:r>
            <a:endParaRPr lang="en-US" sz="1500" dirty="0"/>
          </a:p>
        </p:txBody>
      </p:sp>
      <p:sp>
        <p:nvSpPr>
          <p:cNvPr id="11" name="list-188"/>
          <p:cNvSpPr txBox="1"/>
          <p:nvPr/>
        </p:nvSpPr>
        <p:spPr>
          <a:xfrm>
            <a:off x="868680" y="3611880"/>
            <a:ext cx="3200400" cy="640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91919"/>
                </a:solidFill>
                <a:latin typeface="Times New Roman" pitchFamily="34" charset="0"/>
                <a:ea typeface="Times New Roman" pitchFamily="34" charset="-122"/>
                <a:cs typeface="Times New Roman" pitchFamily="34" charset="-120"/>
              </a:rPr>
              <a:t>6 issues seen only on real AWS (packaging, IAM, plan, quota, models, citations)</a:t>
            </a:r>
            <a:endParaRPr lang="en-US" sz="1300" dirty="0"/>
          </a:p>
        </p:txBody>
      </p:sp>
      <p:sp>
        <p:nvSpPr>
          <p:cNvPr id="12" name="card-189"/>
          <p:cNvSpPr/>
          <p:nvPr/>
        </p:nvSpPr>
        <p:spPr>
          <a:xfrm>
            <a:off x="640080" y="4572000"/>
            <a:ext cx="3657600" cy="1371600"/>
          </a:xfrm>
          <a:prstGeom prst="roundRect">
            <a:avLst>
              <a:gd name="adj" fmla="val 5333"/>
            </a:avLst>
          </a:prstGeom>
          <a:solidFill>
            <a:srgbClr val="F5F7F9"/>
          </a:solidFill>
          <a:ln w="9525">
            <a:solidFill>
              <a:srgbClr val="C8CED6"/>
            </a:solidFill>
            <a:prstDash val="solid"/>
          </a:ln>
        </p:spPr>
      </p:sp>
      <p:sp>
        <p:nvSpPr>
          <p:cNvPr id="13" name="cardh-190"/>
          <p:cNvSpPr txBox="1"/>
          <p:nvPr/>
        </p:nvSpPr>
        <p:spPr>
          <a:xfrm>
            <a:off x="822960" y="4709160"/>
            <a:ext cx="329184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KNOWN LIMITATION</a:t>
            </a:r>
            <a:endParaRPr lang="en-US" sz="1500" dirty="0"/>
          </a:p>
        </p:txBody>
      </p:sp>
      <p:sp>
        <p:nvSpPr>
          <p:cNvPr id="14" name="list-191"/>
          <p:cNvSpPr txBox="1"/>
          <p:nvPr/>
        </p:nvSpPr>
        <p:spPr>
          <a:xfrm>
            <a:off x="868680" y="5166360"/>
            <a:ext cx="3200400" cy="640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91919"/>
                </a:solidFill>
                <a:latin typeface="Times New Roman" pitchFamily="34" charset="0"/>
                <a:ea typeface="Times New Roman" pitchFamily="34" charset="-122"/>
                <a:cs typeface="Times New Roman" pitchFamily="34" charset="-120"/>
              </a:rPr>
              <a:t>Reference accuracy on real lecture series not yet measured</a:t>
            </a:r>
            <a:endParaRPr lang="en-US" sz="1300" dirty="0"/>
          </a:p>
        </p:txBody>
      </p:sp>
      <p:graphicFrame>
        <p:nvGraphicFramePr>
          <p:cNvPr id="15" name="testchart" descr=""/>
          <p:cNvGraphicFramePr/>
          <p:nvPr/>
        </p:nvGraphicFramePr>
        <p:xfrm>
          <a:off x="4572000" y="1234440"/>
          <a:ext cx="7040880" cy="48920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logo-192"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193"/>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Performance Results</a:t>
            </a:r>
            <a:endParaRPr lang="en-US" sz="3000" dirty="0"/>
          </a:p>
        </p:txBody>
      </p:sp>
      <p:sp>
        <p:nvSpPr>
          <p:cNvPr id="4" name="date-194"/>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195"/>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196"/>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19</a:t>
            </a:r>
            <a:endParaRPr lang="en-US" sz="1000" dirty="0"/>
          </a:p>
        </p:txBody>
      </p:sp>
      <p:graphicFrame>
        <p:nvGraphicFramePr>
          <p:cNvPr id="7" name="perfchart" descr=""/>
          <p:cNvGraphicFramePr/>
          <p:nvPr/>
        </p:nvGraphicFramePr>
        <p:xfrm>
          <a:off x="548640" y="1234440"/>
          <a:ext cx="6949440" cy="4892040"/>
        </p:xfrm>
        <a:graphic xmlns:a="http://schemas.openxmlformats.org/drawingml/2006/main">
          <a:graphicData uri="http://schemas.openxmlformats.org/drawingml/2006/chart">
            <c:chart xmlns:c="http://schemas.openxmlformats.org/drawingml/2006/chart" r:id="rId2"/>
          </a:graphicData>
        </a:graphic>
      </p:graphicFrame>
      <p:sp>
        <p:nvSpPr>
          <p:cNvPr id="8" name="pk-197"/>
          <p:cNvSpPr/>
          <p:nvPr/>
        </p:nvSpPr>
        <p:spPr>
          <a:xfrm>
            <a:off x="7772400" y="1280160"/>
            <a:ext cx="3794760" cy="841248"/>
          </a:xfrm>
          <a:prstGeom prst="roundRect">
            <a:avLst>
              <a:gd name="adj" fmla="val 6522"/>
            </a:avLst>
          </a:prstGeom>
          <a:solidFill>
            <a:srgbClr val="F5F7F9"/>
          </a:solidFill>
          <a:ln w="9525">
            <a:solidFill>
              <a:srgbClr val="C8CED6"/>
            </a:solidFill>
            <a:prstDash val="solid"/>
          </a:ln>
        </p:spPr>
      </p:sp>
      <p:sp>
        <p:nvSpPr>
          <p:cNvPr id="9" name="pv-198"/>
          <p:cNvSpPr txBox="1"/>
          <p:nvPr/>
        </p:nvSpPr>
        <p:spPr>
          <a:xfrm>
            <a:off x="7863840" y="1280160"/>
            <a:ext cx="1600200" cy="841248"/>
          </a:xfrm>
          <a:prstGeom prst="rect">
            <a:avLst/>
          </a:prstGeom>
          <a:noFill/>
          <a:ln/>
        </p:spPr>
        <p:txBody>
          <a:bodyPr wrap="square" lIns="0" tIns="0" rIns="0" bIns="0" rtlCol="0" anchor="ctr"/>
          <a:lstStyle/>
          <a:p>
            <a:pPr indent="0" marL="0">
              <a:buNone/>
            </a:pPr>
            <a:r>
              <a:rPr lang="en-US" sz="2000" b="1" dirty="0">
                <a:solidFill>
                  <a:srgbClr val="960000"/>
                </a:solidFill>
                <a:latin typeface="Times New Roman" pitchFamily="34" charset="0"/>
                <a:ea typeface="Times New Roman" pitchFamily="34" charset="-122"/>
                <a:cs typeface="Times New Roman" pitchFamily="34" charset="-120"/>
              </a:rPr>
              <a:t>14.9 ms</a:t>
            </a:r>
            <a:endParaRPr lang="en-US" sz="2000" dirty="0"/>
          </a:p>
        </p:txBody>
      </p:sp>
      <p:sp>
        <p:nvSpPr>
          <p:cNvPr id="10" name="pl-199"/>
          <p:cNvSpPr txBox="1"/>
          <p:nvPr/>
        </p:nvSpPr>
        <p:spPr>
          <a:xfrm>
            <a:off x="9464040" y="1280160"/>
            <a:ext cx="2011680" cy="841248"/>
          </a:xfrm>
          <a:prstGeom prst="rect">
            <a:avLst/>
          </a:prstGeom>
          <a:noFill/>
          <a:ln/>
        </p:spPr>
        <p:txBody>
          <a:bodyPr wrap="square" lIns="0" tIns="0" rIns="0" bIns="0" rtlCol="0" anchor="ctr"/>
          <a:lstStyle/>
          <a:p>
            <a:pPr indent="0" marL="0">
              <a:buNone/>
            </a:pPr>
            <a:r>
              <a:rPr lang="en-US" sz="1200" dirty="0">
                <a:solidFill>
                  <a:srgbClr val="191919"/>
                </a:solidFill>
                <a:latin typeface="Times New Roman" pitchFamily="34" charset="0"/>
                <a:ea typeface="Times New Roman" pitchFamily="34" charset="-122"/>
                <a:cs typeface="Times New Roman" pitchFamily="34" charset="-120"/>
              </a:rPr>
              <a:t>Lambda median (server side)</a:t>
            </a:r>
            <a:endParaRPr lang="en-US" sz="1200" dirty="0"/>
          </a:p>
        </p:txBody>
      </p:sp>
      <p:sp>
        <p:nvSpPr>
          <p:cNvPr id="11" name="pk-200"/>
          <p:cNvSpPr/>
          <p:nvPr/>
        </p:nvSpPr>
        <p:spPr>
          <a:xfrm>
            <a:off x="7772400" y="2258568"/>
            <a:ext cx="3794760" cy="841248"/>
          </a:xfrm>
          <a:prstGeom prst="roundRect">
            <a:avLst>
              <a:gd name="adj" fmla="val 6522"/>
            </a:avLst>
          </a:prstGeom>
          <a:solidFill>
            <a:srgbClr val="F5F7F9"/>
          </a:solidFill>
          <a:ln w="9525">
            <a:solidFill>
              <a:srgbClr val="C8CED6"/>
            </a:solidFill>
            <a:prstDash val="solid"/>
          </a:ln>
        </p:spPr>
      </p:sp>
      <p:sp>
        <p:nvSpPr>
          <p:cNvPr id="12" name="pv-201"/>
          <p:cNvSpPr txBox="1"/>
          <p:nvPr/>
        </p:nvSpPr>
        <p:spPr>
          <a:xfrm>
            <a:off x="7863840" y="2258568"/>
            <a:ext cx="1600200" cy="841248"/>
          </a:xfrm>
          <a:prstGeom prst="rect">
            <a:avLst/>
          </a:prstGeom>
          <a:noFill/>
          <a:ln/>
        </p:spPr>
        <p:txBody>
          <a:bodyPr wrap="square" lIns="0" tIns="0" rIns="0" bIns="0" rtlCol="0" anchor="ctr"/>
          <a:lstStyle/>
          <a:p>
            <a:pPr indent="0" marL="0">
              <a:buNone/>
            </a:pPr>
            <a:r>
              <a:rPr lang="en-US" sz="2000" b="1" dirty="0">
                <a:solidFill>
                  <a:srgbClr val="960000"/>
                </a:solidFill>
                <a:latin typeface="Times New Roman" pitchFamily="34" charset="0"/>
                <a:ea typeface="Times New Roman" pitchFamily="34" charset="-122"/>
                <a:cs typeface="Times New Roman" pitchFamily="34" charset="-120"/>
              </a:rPr>
              <a:t>~340 ms</a:t>
            </a:r>
            <a:endParaRPr lang="en-US" sz="2000" dirty="0"/>
          </a:p>
        </p:txBody>
      </p:sp>
      <p:sp>
        <p:nvSpPr>
          <p:cNvPr id="13" name="pl-202"/>
          <p:cNvSpPr txBox="1"/>
          <p:nvPr/>
        </p:nvSpPr>
        <p:spPr>
          <a:xfrm>
            <a:off x="9464040" y="2258568"/>
            <a:ext cx="2011680" cy="841248"/>
          </a:xfrm>
          <a:prstGeom prst="rect">
            <a:avLst/>
          </a:prstGeom>
          <a:noFill/>
          <a:ln/>
        </p:spPr>
        <p:txBody>
          <a:bodyPr wrap="square" lIns="0" tIns="0" rIns="0" bIns="0" rtlCol="0" anchor="ctr"/>
          <a:lstStyle/>
          <a:p>
            <a:pPr indent="0" marL="0">
              <a:buNone/>
            </a:pPr>
            <a:r>
              <a:rPr lang="en-US" sz="1200" dirty="0">
                <a:solidFill>
                  <a:srgbClr val="191919"/>
                </a:solidFill>
                <a:latin typeface="Times New Roman" pitchFamily="34" charset="0"/>
                <a:ea typeface="Times New Roman" pitchFamily="34" charset="-122"/>
                <a:cs typeface="Times New Roman" pitchFamily="34" charset="-120"/>
              </a:rPr>
              <a:t>network floor India → us-east-1</a:t>
            </a:r>
            <a:endParaRPr lang="en-US" sz="1200" dirty="0"/>
          </a:p>
        </p:txBody>
      </p:sp>
      <p:sp>
        <p:nvSpPr>
          <p:cNvPr id="14" name="pk-203"/>
          <p:cNvSpPr/>
          <p:nvPr/>
        </p:nvSpPr>
        <p:spPr>
          <a:xfrm>
            <a:off x="7772400" y="3236976"/>
            <a:ext cx="3794760" cy="841248"/>
          </a:xfrm>
          <a:prstGeom prst="roundRect">
            <a:avLst>
              <a:gd name="adj" fmla="val 6522"/>
            </a:avLst>
          </a:prstGeom>
          <a:solidFill>
            <a:srgbClr val="F5F7F9"/>
          </a:solidFill>
          <a:ln w="9525">
            <a:solidFill>
              <a:srgbClr val="C8CED6"/>
            </a:solidFill>
            <a:prstDash val="solid"/>
          </a:ln>
        </p:spPr>
      </p:sp>
      <p:sp>
        <p:nvSpPr>
          <p:cNvPr id="15" name="pv-204"/>
          <p:cNvSpPr txBox="1"/>
          <p:nvPr/>
        </p:nvSpPr>
        <p:spPr>
          <a:xfrm>
            <a:off x="7863840" y="3236976"/>
            <a:ext cx="1600200" cy="841248"/>
          </a:xfrm>
          <a:prstGeom prst="rect">
            <a:avLst/>
          </a:prstGeom>
          <a:noFill/>
          <a:ln/>
        </p:spPr>
        <p:txBody>
          <a:bodyPr wrap="square" lIns="0" tIns="0" rIns="0" bIns="0" rtlCol="0" anchor="ctr"/>
          <a:lstStyle/>
          <a:p>
            <a:pPr indent="0" marL="0">
              <a:buNone/>
            </a:pPr>
            <a:r>
              <a:rPr lang="en-US" sz="2000" b="1" dirty="0">
                <a:solidFill>
                  <a:srgbClr val="960000"/>
                </a:solidFill>
                <a:latin typeface="Times New Roman" pitchFamily="34" charset="0"/>
                <a:ea typeface="Times New Roman" pitchFamily="34" charset="-122"/>
                <a:cs typeface="Times New Roman" pitchFamily="34" charset="-120"/>
              </a:rPr>
              <a:t>17.3 s</a:t>
            </a:r>
            <a:endParaRPr lang="en-US" sz="2000" dirty="0"/>
          </a:p>
        </p:txBody>
      </p:sp>
      <p:sp>
        <p:nvSpPr>
          <p:cNvPr id="16" name="pl-205"/>
          <p:cNvSpPr txBox="1"/>
          <p:nvPr/>
        </p:nvSpPr>
        <p:spPr>
          <a:xfrm>
            <a:off x="9464040" y="3236976"/>
            <a:ext cx="2011680" cy="841248"/>
          </a:xfrm>
          <a:prstGeom prst="rect">
            <a:avLst/>
          </a:prstGeom>
          <a:noFill/>
          <a:ln/>
        </p:spPr>
        <p:txBody>
          <a:bodyPr wrap="square" lIns="0" tIns="0" rIns="0" bIns="0" rtlCol="0" anchor="ctr"/>
          <a:lstStyle/>
          <a:p>
            <a:pPr indent="0" marL="0">
              <a:buNone/>
            </a:pPr>
            <a:r>
              <a:rPr lang="en-US" sz="1200" dirty="0">
                <a:solidFill>
                  <a:srgbClr val="191919"/>
                </a:solidFill>
                <a:latin typeface="Times New Roman" pitchFamily="34" charset="0"/>
                <a:ea typeface="Times New Roman" pitchFamily="34" charset="-122"/>
                <a:cs typeface="Times New Roman" pitchFamily="34" charset="-120"/>
              </a:rPr>
              <a:t>11-s clip: upload → AI notes</a:t>
            </a:r>
            <a:endParaRPr lang="en-US" sz="1200" dirty="0"/>
          </a:p>
        </p:txBody>
      </p:sp>
      <p:sp>
        <p:nvSpPr>
          <p:cNvPr id="17" name="pk-206"/>
          <p:cNvSpPr/>
          <p:nvPr/>
        </p:nvSpPr>
        <p:spPr>
          <a:xfrm>
            <a:off x="7772400" y="4215384"/>
            <a:ext cx="3794760" cy="841248"/>
          </a:xfrm>
          <a:prstGeom prst="roundRect">
            <a:avLst>
              <a:gd name="adj" fmla="val 6522"/>
            </a:avLst>
          </a:prstGeom>
          <a:solidFill>
            <a:srgbClr val="F5F7F9"/>
          </a:solidFill>
          <a:ln w="9525">
            <a:solidFill>
              <a:srgbClr val="C8CED6"/>
            </a:solidFill>
            <a:prstDash val="solid"/>
          </a:ln>
        </p:spPr>
      </p:sp>
      <p:sp>
        <p:nvSpPr>
          <p:cNvPr id="18" name="pv-207"/>
          <p:cNvSpPr txBox="1"/>
          <p:nvPr/>
        </p:nvSpPr>
        <p:spPr>
          <a:xfrm>
            <a:off x="7863840" y="4215384"/>
            <a:ext cx="1600200" cy="841248"/>
          </a:xfrm>
          <a:prstGeom prst="rect">
            <a:avLst/>
          </a:prstGeom>
          <a:noFill/>
          <a:ln/>
        </p:spPr>
        <p:txBody>
          <a:bodyPr wrap="square" lIns="0" tIns="0" rIns="0" bIns="0" rtlCol="0" anchor="ctr"/>
          <a:lstStyle/>
          <a:p>
            <a:pPr indent="0" marL="0">
              <a:buNone/>
            </a:pPr>
            <a:r>
              <a:rPr lang="en-US" sz="2000" b="1" dirty="0">
                <a:solidFill>
                  <a:srgbClr val="960000"/>
                </a:solidFill>
                <a:latin typeface="Times New Roman" pitchFamily="34" charset="0"/>
                <a:ea typeface="Times New Roman" pitchFamily="34" charset="-122"/>
                <a:cs typeface="Times New Roman" pitchFamily="34" charset="-120"/>
              </a:rPr>
              <a:t>~2.5 s</a:t>
            </a:r>
            <a:endParaRPr lang="en-US" sz="2000" dirty="0"/>
          </a:p>
        </p:txBody>
      </p:sp>
      <p:sp>
        <p:nvSpPr>
          <p:cNvPr id="19" name="pl-208"/>
          <p:cNvSpPr txBox="1"/>
          <p:nvPr/>
        </p:nvSpPr>
        <p:spPr>
          <a:xfrm>
            <a:off x="9464040" y="4215384"/>
            <a:ext cx="2011680" cy="841248"/>
          </a:xfrm>
          <a:prstGeom prst="rect">
            <a:avLst/>
          </a:prstGeom>
          <a:noFill/>
          <a:ln/>
        </p:spPr>
        <p:txBody>
          <a:bodyPr wrap="square" lIns="0" tIns="0" rIns="0" bIns="0" rtlCol="0" anchor="ctr"/>
          <a:lstStyle/>
          <a:p>
            <a:pPr indent="0" marL="0">
              <a:buNone/>
            </a:pPr>
            <a:r>
              <a:rPr lang="en-US" sz="1200" dirty="0">
                <a:solidFill>
                  <a:srgbClr val="191919"/>
                </a:solidFill>
                <a:latin typeface="Times New Roman" pitchFamily="34" charset="0"/>
                <a:ea typeface="Times New Roman" pitchFamily="34" charset="-122"/>
                <a:cs typeface="Times New Roman" pitchFamily="34" charset="-120"/>
              </a:rPr>
              <a:t>AI answer (median)</a:t>
            </a:r>
            <a:endParaRPr lang="en-US" sz="1200" dirty="0"/>
          </a:p>
        </p:txBody>
      </p:sp>
      <p:sp>
        <p:nvSpPr>
          <p:cNvPr id="20" name="pk-209"/>
          <p:cNvSpPr/>
          <p:nvPr/>
        </p:nvSpPr>
        <p:spPr>
          <a:xfrm>
            <a:off x="7772400" y="5193792"/>
            <a:ext cx="3794760" cy="841248"/>
          </a:xfrm>
          <a:prstGeom prst="roundRect">
            <a:avLst>
              <a:gd name="adj" fmla="val 6522"/>
            </a:avLst>
          </a:prstGeom>
          <a:solidFill>
            <a:srgbClr val="F5F7F9"/>
          </a:solidFill>
          <a:ln w="9525">
            <a:solidFill>
              <a:srgbClr val="C8CED6"/>
            </a:solidFill>
            <a:prstDash val="solid"/>
          </a:ln>
        </p:spPr>
      </p:sp>
      <p:sp>
        <p:nvSpPr>
          <p:cNvPr id="21" name="pv-210"/>
          <p:cNvSpPr txBox="1"/>
          <p:nvPr/>
        </p:nvSpPr>
        <p:spPr>
          <a:xfrm>
            <a:off x="7863840" y="5193792"/>
            <a:ext cx="1600200" cy="841248"/>
          </a:xfrm>
          <a:prstGeom prst="rect">
            <a:avLst/>
          </a:prstGeom>
          <a:noFill/>
          <a:ln/>
        </p:spPr>
        <p:txBody>
          <a:bodyPr wrap="square" lIns="0" tIns="0" rIns="0" bIns="0" rtlCol="0" anchor="ctr"/>
          <a:lstStyle/>
          <a:p>
            <a:pPr indent="0" marL="0">
              <a:buNone/>
            </a:pPr>
            <a:r>
              <a:rPr lang="en-US" sz="2000" b="1" dirty="0">
                <a:solidFill>
                  <a:srgbClr val="960000"/>
                </a:solidFill>
                <a:latin typeface="Times New Roman" pitchFamily="34" charset="0"/>
                <a:ea typeface="Times New Roman" pitchFamily="34" charset="-122"/>
                <a:cs typeface="Times New Roman" pitchFamily="34" charset="-120"/>
              </a:rPr>
              <a:t>47 KB</a:t>
            </a:r>
            <a:endParaRPr lang="en-US" sz="2000" dirty="0"/>
          </a:p>
        </p:txBody>
      </p:sp>
      <p:sp>
        <p:nvSpPr>
          <p:cNvPr id="22" name="pl-211"/>
          <p:cNvSpPr txBox="1"/>
          <p:nvPr/>
        </p:nvSpPr>
        <p:spPr>
          <a:xfrm>
            <a:off x="9464040" y="5193792"/>
            <a:ext cx="2011680" cy="841248"/>
          </a:xfrm>
          <a:prstGeom prst="rect">
            <a:avLst/>
          </a:prstGeom>
          <a:noFill/>
          <a:ln/>
        </p:spPr>
        <p:txBody>
          <a:bodyPr wrap="square" lIns="0" tIns="0" rIns="0" bIns="0" rtlCol="0" anchor="ctr"/>
          <a:lstStyle/>
          <a:p>
            <a:pPr indent="0" marL="0">
              <a:buNone/>
            </a:pPr>
            <a:r>
              <a:rPr lang="en-US" sz="1200" dirty="0">
                <a:solidFill>
                  <a:srgbClr val="191919"/>
                </a:solidFill>
                <a:latin typeface="Times New Roman" pitchFamily="34" charset="0"/>
                <a:ea typeface="Times New Roman" pitchFamily="34" charset="-122"/>
                <a:cs typeface="Times New Roman" pitchFamily="34" charset="-120"/>
              </a:rPr>
              <a:t>app JS (gzip)</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logo-212"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213"/>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Objectives Achieved</a:t>
            </a:r>
            <a:endParaRPr lang="en-US" sz="3000" dirty="0"/>
          </a:p>
        </p:txBody>
      </p:sp>
      <p:sp>
        <p:nvSpPr>
          <p:cNvPr id="4" name="date-214"/>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215"/>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216"/>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20</a:t>
            </a:r>
            <a:endParaRPr lang="en-US" sz="1000" dirty="0"/>
          </a:p>
        </p:txBody>
      </p:sp>
      <p:graphicFrame>
        <p:nvGraphicFramePr>
          <p:cNvPr id="21" name="tbl-217"/>
          <p:cNvGraphicFramePr>
            <a:graphicFrameLocks noGrp="1"/>
          </p:cNvGraphicFramePr>
          <p:nvPr>
            <p:extLst>
              <p:ext uri="{D42A27DB-BD31-4B8C-83A1-F6EECF244321}">
                <p14:modId xmlns:p14="http://schemas.microsoft.com/office/powerpoint/2010/main" val="1579011935"/>
              </p:ext>
            </p:extLst>
          </p:nvPr>
        </p:nvGraphicFramePr>
        <p:xfrm>
          <a:off x="640080" y="1325880"/>
          <a:ext cx="10881360" cy="914400"/>
        </p:xfrm>
        <a:graphic>
          <a:graphicData uri="http://schemas.openxmlformats.org/drawingml/2006/table">
            <a:tbl>
              <a:tblPr/>
              <a:tblGrid>
                <a:gridCol w="548640"/>
                <a:gridCol w="2743200"/>
                <a:gridCol w="6035040"/>
                <a:gridCol w="1554480"/>
              </a:tblGrid>
              <a:tr h="0">
                <a:tc>
                  <a:txBody>
                    <a:bodyP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c>
                  <a:txBody>
                    <a:bodyP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Objective</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c>
                  <a:txBody>
                    <a:bodyP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How it was achieved</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c>
                  <a:txBody>
                    <a:bodyP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Status</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solidFill>
                      <a:srgbClr val="960000"/>
                    </a:solidFill>
                  </a:tcPr>
                </a:tc>
              </a:tr>
              <a:tr h="0">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1</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Timestamped transcription</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Transcribe + EventBridge; 4 transcript formats</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Achieved</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2</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Verifiable notes</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Notes tied to moments; extractive fallback</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Achieved</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3</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Grounded answers</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Citations enforced; answers with timestamps</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Achieved</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4</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Context recovery</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Detect, suggest, remember, notify, map</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Achieved*</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5</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Secure serverless cloud</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Cognito, JWT authorizer, per-user partitions, IaC</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Achieved</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r h="0">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6</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Honest evaluation</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102 tests, live timings, documented limits</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c>
                  <a:txBody>
                    <a:bodyPr/>
                    <a:lstStyle/>
                    <a:p>
                      <a:pPr indent="0" marL="0">
                        <a:buNone/>
                      </a:pPr>
                      <a:r>
                        <a:rPr lang="en-US" sz="1500" dirty="0">
                          <a:solidFill>
                            <a:srgbClr val="191919"/>
                          </a:solidFill>
                          <a:latin typeface="Times New Roman" pitchFamily="34" charset="0"/>
                          <a:ea typeface="Times New Roman" pitchFamily="34" charset="-122"/>
                          <a:cs typeface="Times New Roman" pitchFamily="34" charset="-120"/>
                        </a:rPr>
                        <a:t>Achieved</a:t>
                      </a:r>
                      <a:endParaRPr lang="en-US" sz="1500" dirty="0">
                        <a:latin typeface="Times New Roman" charset="0"/>
                        <a:ea typeface="Times New Roman" charset="0"/>
                        <a:cs typeface="Times New Roman" charset="0"/>
                      </a:endParaRPr>
                    </a:p>
                  </a:txBody>
                  <a:tcPr marL="63500" marR="63500" marT="38100" marB="38100" anchor="ctr">
                    <a:lnL w="9525" cap="flat" cmpd="sng" algn="ctr">
                      <a:solidFill>
                        <a:srgbClr val="C8CED6"/>
                      </a:solidFill>
                      <a:prstDash val="solid"/>
                      <a:round/>
                      <a:headEnd type="none" w="med" len="med"/>
                      <a:tailEnd type="none" w="med" len="med"/>
                    </a:lnL>
                    <a:lnR w="9525" cap="flat" cmpd="sng" algn="ctr">
                      <a:solidFill>
                        <a:srgbClr val="C8CED6"/>
                      </a:solidFill>
                      <a:prstDash val="solid"/>
                      <a:round/>
                      <a:headEnd type="none" w="med" len="med"/>
                      <a:tailEnd type="none" w="med" len="med"/>
                    </a:lnR>
                    <a:lnT w="9525" cap="flat" cmpd="sng" algn="ctr">
                      <a:solidFill>
                        <a:srgbClr val="C8CED6"/>
                      </a:solidFill>
                      <a:prstDash val="solid"/>
                      <a:round/>
                      <a:headEnd type="none" w="med" len="med"/>
                      <a:tailEnd type="none" w="med" len="med"/>
                    </a:lnT>
                    <a:lnB w="9525" cap="flat" cmpd="sng" algn="ctr">
                      <a:solidFill>
                        <a:srgbClr val="C8CED6"/>
                      </a:solidFill>
                      <a:prstDash val="solid"/>
                      <a:round/>
                      <a:headEnd type="none" w="med" len="med"/>
                      <a:tailEnd type="none" w="med" len="med"/>
                    </a:lnB>
                  </a:tcPr>
                </a:tc>
              </a:tr>
            </a:tbl>
          </a:graphicData>
        </a:graphic>
      </p:graphicFrame>
      <p:sp>
        <p:nvSpPr>
          <p:cNvPr id="8" name="star"/>
          <p:cNvSpPr txBox="1"/>
          <p:nvPr/>
        </p:nvSpPr>
        <p:spPr>
          <a:xfrm>
            <a:off x="640080" y="5577840"/>
            <a:ext cx="10881360" cy="320040"/>
          </a:xfrm>
          <a:prstGeom prst="rect">
            <a:avLst/>
          </a:prstGeom>
          <a:noFill/>
          <a:ln/>
        </p:spPr>
        <p:txBody>
          <a:bodyPr wrap="square" lIns="0" tIns="0" rIns="0" bIns="0" rtlCol="0" anchor="ctr"/>
          <a:lstStyle/>
          <a:p>
            <a:pPr algn="ctr" indent="0" marL="0">
              <a:buNone/>
            </a:pPr>
            <a:r>
              <a:rPr lang="en-US" sz="1200" i="1" dirty="0">
                <a:solidFill>
                  <a:srgbClr val="5A5F66"/>
                </a:solidFill>
                <a:latin typeface="Times New Roman" pitchFamily="34" charset="0"/>
                <a:ea typeface="Times New Roman" pitchFamily="34" charset="-122"/>
                <a:cs typeface="Times New Roman" pitchFamily="34" charset="-120"/>
              </a:rPr>
              <a:t>* accuracy on real lecture series is the next step</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logo-218"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219"/>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Conclusion &amp; Future Scope</a:t>
            </a:r>
            <a:endParaRPr lang="en-US" sz="3000" dirty="0"/>
          </a:p>
        </p:txBody>
      </p:sp>
      <p:sp>
        <p:nvSpPr>
          <p:cNvPr id="4" name="date-220"/>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221"/>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222"/>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21</a:t>
            </a:r>
            <a:endParaRPr lang="en-US" sz="1000" dirty="0"/>
          </a:p>
        </p:txBody>
      </p:sp>
      <p:sp>
        <p:nvSpPr>
          <p:cNvPr id="7" name="card-223"/>
          <p:cNvSpPr/>
          <p:nvPr/>
        </p:nvSpPr>
        <p:spPr>
          <a:xfrm>
            <a:off x="640080" y="1280160"/>
            <a:ext cx="5303520" cy="4754880"/>
          </a:xfrm>
          <a:prstGeom prst="roundRect">
            <a:avLst>
              <a:gd name="adj" fmla="val 1538"/>
            </a:avLst>
          </a:prstGeom>
          <a:solidFill>
            <a:srgbClr val="F5F7F9"/>
          </a:solidFill>
          <a:ln w="9525">
            <a:solidFill>
              <a:srgbClr val="C8CED6"/>
            </a:solidFill>
            <a:prstDash val="solid"/>
          </a:ln>
        </p:spPr>
      </p:sp>
      <p:sp>
        <p:nvSpPr>
          <p:cNvPr id="8" name="cardh-224"/>
          <p:cNvSpPr txBox="1"/>
          <p:nvPr/>
        </p:nvSpPr>
        <p:spPr>
          <a:xfrm>
            <a:off x="822960" y="1417320"/>
            <a:ext cx="493776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CONCLUSION</a:t>
            </a:r>
            <a:endParaRPr lang="en-US" sz="1500" dirty="0"/>
          </a:p>
        </p:txBody>
      </p:sp>
      <p:sp>
        <p:nvSpPr>
          <p:cNvPr id="9" name="list-225"/>
          <p:cNvSpPr txBox="1"/>
          <p:nvPr/>
        </p:nvSpPr>
        <p:spPr>
          <a:xfrm>
            <a:off x="868680" y="1874520"/>
            <a:ext cx="4846320" cy="4023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91919"/>
                </a:solidFill>
                <a:latin typeface="Times New Roman" pitchFamily="34" charset="0"/>
                <a:ea typeface="Times New Roman" pitchFamily="34" charset="-122"/>
                <a:cs typeface="Times New Roman" pitchFamily="34" charset="-120"/>
              </a:rPr>
              <a:t>Working, deployed platform on AWS</a:t>
            </a:r>
            <a:endParaRPr lang="en-US" sz="1500" dirty="0"/>
          </a:p>
          <a:p>
            <a:pPr marL="342900" indent="-342900">
              <a:spcAft>
                <a:spcPts val="800"/>
              </a:spcAft>
              <a:buSzPct val="100000"/>
              <a:buChar char="•"/>
            </a:pPr>
            <a:r>
              <a:rPr lang="en-US" sz="1500" dirty="0">
                <a:solidFill>
                  <a:srgbClr val="191919"/>
                </a:solidFill>
                <a:latin typeface="Times New Roman" pitchFamily="34" charset="0"/>
                <a:ea typeface="Times New Roman" pitchFamily="34" charset="-122"/>
                <a:cs typeface="Times New Roman" pitchFamily="34" charset="-120"/>
              </a:rPr>
              <a:t>Notes and answers always point to a moment</a:t>
            </a:r>
            <a:endParaRPr lang="en-US" sz="1500" dirty="0"/>
          </a:p>
          <a:p>
            <a:pPr marL="342900" indent="-342900">
              <a:spcAft>
                <a:spcPts val="800"/>
              </a:spcAft>
              <a:buSzPct val="100000"/>
              <a:buChar char="•"/>
            </a:pPr>
            <a:r>
              <a:rPr lang="en-US" sz="1500" dirty="0">
                <a:solidFill>
                  <a:srgbClr val="191919"/>
                </a:solidFill>
                <a:latin typeface="Times New Roman" pitchFamily="34" charset="0"/>
                <a:ea typeface="Times New Roman" pitchFamily="34" charset="-122"/>
                <a:cs typeface="Times New Roman" pitchFamily="34" charset="-120"/>
              </a:rPr>
              <a:t>Recordings linked; missing explanations remembered</a:t>
            </a:r>
            <a:endParaRPr lang="en-US" sz="1500" dirty="0"/>
          </a:p>
          <a:p>
            <a:pPr marL="342900" indent="-342900">
              <a:spcAft>
                <a:spcPts val="800"/>
              </a:spcAft>
              <a:buSzPct val="100000"/>
              <a:buChar char="•"/>
            </a:pPr>
            <a:r>
              <a:rPr lang="en-US" sz="1500" dirty="0">
                <a:solidFill>
                  <a:srgbClr val="191919"/>
                </a:solidFill>
                <a:latin typeface="Times New Roman" pitchFamily="34" charset="0"/>
                <a:ea typeface="Times New Roman" pitchFamily="34" charset="-122"/>
                <a:cs typeface="Times New Roman" pitchFamily="34" charset="-120"/>
              </a:rPr>
              <a:t>Layered security, verified live</a:t>
            </a:r>
            <a:endParaRPr lang="en-US" sz="1500" dirty="0"/>
          </a:p>
          <a:p>
            <a:pPr marL="342900" indent="-342900">
              <a:spcAft>
                <a:spcPts val="800"/>
              </a:spcAft>
              <a:buSzPct val="100000"/>
              <a:buChar char="•"/>
            </a:pPr>
            <a:r>
              <a:rPr lang="en-US" sz="1500" dirty="0">
                <a:solidFill>
                  <a:srgbClr val="191919"/>
                </a:solidFill>
                <a:latin typeface="Times New Roman" pitchFamily="34" charset="0"/>
                <a:ea typeface="Times New Roman" pitchFamily="34" charset="-122"/>
                <a:cs typeface="Times New Roman" pitchFamily="34" charset="-120"/>
              </a:rPr>
              <a:t>Zero cost so far; one-command deploy</a:t>
            </a:r>
            <a:endParaRPr lang="en-US" sz="1500" dirty="0"/>
          </a:p>
        </p:txBody>
      </p:sp>
      <p:sp>
        <p:nvSpPr>
          <p:cNvPr id="10" name="card-226"/>
          <p:cNvSpPr/>
          <p:nvPr/>
        </p:nvSpPr>
        <p:spPr>
          <a:xfrm>
            <a:off x="6217920" y="1280160"/>
            <a:ext cx="5349240" cy="4754880"/>
          </a:xfrm>
          <a:prstGeom prst="roundRect">
            <a:avLst>
              <a:gd name="adj" fmla="val 1538"/>
            </a:avLst>
          </a:prstGeom>
          <a:solidFill>
            <a:srgbClr val="F5F7F9"/>
          </a:solidFill>
          <a:ln w="9525">
            <a:solidFill>
              <a:srgbClr val="C8CED6"/>
            </a:solidFill>
            <a:prstDash val="solid"/>
          </a:ln>
        </p:spPr>
      </p:sp>
      <p:sp>
        <p:nvSpPr>
          <p:cNvPr id="11" name="cardh-227"/>
          <p:cNvSpPr txBox="1"/>
          <p:nvPr/>
        </p:nvSpPr>
        <p:spPr>
          <a:xfrm>
            <a:off x="6400800" y="1417320"/>
            <a:ext cx="4983480" cy="365760"/>
          </a:xfrm>
          <a:prstGeom prst="rect">
            <a:avLst/>
          </a:prstGeom>
          <a:noFill/>
          <a:ln/>
        </p:spPr>
        <p:txBody>
          <a:bodyPr wrap="square" lIns="0" tIns="0" rIns="0" bIns="0" rtlCol="0" anchor="ctr"/>
          <a:lstStyle/>
          <a:p>
            <a:pPr algn="ctr" indent="0" marL="0">
              <a:buNone/>
            </a:pPr>
            <a:r>
              <a:rPr lang="en-US" sz="1500" b="1" dirty="0">
                <a:solidFill>
                  <a:srgbClr val="960000"/>
                </a:solidFill>
                <a:latin typeface="Times New Roman" pitchFamily="34" charset="0"/>
                <a:ea typeface="Times New Roman" pitchFamily="34" charset="-122"/>
                <a:cs typeface="Times New Roman" pitchFamily="34" charset="-120"/>
              </a:rPr>
              <a:t>FUTURE SCOPE</a:t>
            </a:r>
            <a:endParaRPr lang="en-US" sz="1500" dirty="0"/>
          </a:p>
        </p:txBody>
      </p:sp>
      <p:sp>
        <p:nvSpPr>
          <p:cNvPr id="12" name="list-228"/>
          <p:cNvSpPr txBox="1"/>
          <p:nvPr/>
        </p:nvSpPr>
        <p:spPr>
          <a:xfrm>
            <a:off x="6446520" y="1874520"/>
            <a:ext cx="4892040" cy="4023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91919"/>
                </a:solidFill>
                <a:latin typeface="Times New Roman" pitchFamily="34" charset="0"/>
                <a:ea typeface="Times New Roman" pitchFamily="34" charset="-122"/>
                <a:cs typeface="Times New Roman" pitchFamily="34" charset="-120"/>
              </a:rPr>
              <a:t>Measure reference accuracy on real series</a:t>
            </a:r>
            <a:endParaRPr lang="en-US" sz="1500" dirty="0"/>
          </a:p>
          <a:p>
            <a:pPr marL="342900" indent="-342900">
              <a:spcAft>
                <a:spcPts val="800"/>
              </a:spcAft>
              <a:buSzPct val="100000"/>
              <a:buChar char="•"/>
            </a:pPr>
            <a:r>
              <a:rPr lang="en-US" sz="1500" dirty="0">
                <a:solidFill>
                  <a:srgbClr val="191919"/>
                </a:solidFill>
                <a:latin typeface="Times New Roman" pitchFamily="34" charset="0"/>
                <a:ea typeface="Times New Roman" pitchFamily="34" charset="-122"/>
                <a:cs typeface="Times New Roman" pitchFamily="34" charset="-120"/>
              </a:rPr>
              <a:t>Bedrock + Titan semantic search</a:t>
            </a:r>
            <a:endParaRPr lang="en-US" sz="1500" dirty="0"/>
          </a:p>
          <a:p>
            <a:pPr marL="342900" indent="-342900">
              <a:spcAft>
                <a:spcPts val="800"/>
              </a:spcAft>
              <a:buSzPct val="100000"/>
              <a:buChar char="•"/>
            </a:pPr>
            <a:r>
              <a:rPr lang="en-US" sz="1500" dirty="0">
                <a:solidFill>
                  <a:srgbClr val="191919"/>
                </a:solidFill>
                <a:latin typeface="Times New Roman" pitchFamily="34" charset="0"/>
                <a:ea typeface="Times New Roman" pitchFamily="34" charset="-122"/>
                <a:cs typeface="Times New Roman" pitchFamily="34" charset="-120"/>
              </a:rPr>
              <a:t>Hindi and Telugu reference patterns</a:t>
            </a:r>
            <a:endParaRPr lang="en-US" sz="1500" dirty="0"/>
          </a:p>
          <a:p>
            <a:pPr marL="342900" indent="-342900">
              <a:spcAft>
                <a:spcPts val="800"/>
              </a:spcAft>
              <a:buSzPct val="100000"/>
              <a:buChar char="•"/>
            </a:pPr>
            <a:r>
              <a:rPr lang="en-US" sz="1500" dirty="0">
                <a:solidFill>
                  <a:srgbClr val="191919"/>
                </a:solidFill>
                <a:latin typeface="Times New Roman" pitchFamily="34" charset="0"/>
                <a:ea typeface="Times New Roman" pitchFamily="34" charset="-122"/>
                <a:cs typeface="Times New Roman" pitchFamily="34" charset="-120"/>
              </a:rPr>
              <a:t>Shared course libraries for classes</a:t>
            </a:r>
            <a:endParaRPr lang="en-US" sz="1500" dirty="0"/>
          </a:p>
          <a:p>
            <a:pPr marL="342900" indent="-342900">
              <a:spcAft>
                <a:spcPts val="800"/>
              </a:spcAft>
              <a:buSzPct val="100000"/>
              <a:buChar char="•"/>
            </a:pPr>
            <a:r>
              <a:rPr lang="en-US" sz="1500" dirty="0">
                <a:solidFill>
                  <a:srgbClr val="191919"/>
                </a:solidFill>
                <a:latin typeface="Times New Roman" pitchFamily="34" charset="0"/>
                <a:ea typeface="Times New Roman" pitchFamily="34" charset="-122"/>
                <a:cs typeface="Times New Roman" pitchFamily="34" charset="-120"/>
              </a:rPr>
              <a:t>Mumbai region, MFA, WAF, alarms</a:t>
            </a:r>
            <a:endParaRPr lang="en-US" sz="1500" dirty="0"/>
          </a:p>
          <a:p>
            <a:pPr marL="342900" indent="-342900">
              <a:spcAft>
                <a:spcPts val="800"/>
              </a:spcAft>
              <a:buSzPct val="100000"/>
              <a:buChar char="•"/>
            </a:pPr>
            <a:r>
              <a:rPr lang="en-US" sz="1500" dirty="0">
                <a:solidFill>
                  <a:srgbClr val="191919"/>
                </a:solidFill>
                <a:latin typeface="Times New Roman" pitchFamily="34" charset="0"/>
                <a:ea typeface="Times New Roman" pitchFamily="34" charset="-122"/>
                <a:cs typeface="Times New Roman" pitchFamily="34" charset="-120"/>
              </a:rPr>
              <a:t>User study with students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logo-229" descr="/private/tmp/claude-501/-Users-mithilesh-Downloads-cloudnote-site--1-/6c250750-b801-43eb-9bc6-27723f42fa53/scratchpad/docgen/img/klh_small.png">    </p:cNvPr>
          <p:cNvPicPr>
            <a:picLocks noChangeAspect="1"/>
          </p:cNvPicPr>
          <p:nvPr/>
        </p:nvPicPr>
        <p:blipFill>
          <a:blip r:embed="rId1"/>
          <a:stretch>
            <a:fillRect/>
          </a:stretch>
        </p:blipFill>
        <p:spPr>
          <a:xfrm>
            <a:off x="320040" y="228600"/>
            <a:ext cx="1188720" cy="563078"/>
          </a:xfrm>
          <a:prstGeom prst="rect">
            <a:avLst/>
          </a:prstGeom>
        </p:spPr>
      </p:pic>
      <p:sp>
        <p:nvSpPr>
          <p:cNvPr id="3" name="title-230"/>
          <p:cNvSpPr txBox="1"/>
          <p:nvPr/>
        </p:nvSpPr>
        <p:spPr>
          <a:xfrm>
            <a:off x="1554480" y="274320"/>
            <a:ext cx="9079992" cy="731520"/>
          </a:xfrm>
          <a:prstGeom prst="rect">
            <a:avLst/>
          </a:prstGeom>
          <a:noFill/>
          <a:ln/>
        </p:spPr>
        <p:txBody>
          <a:bodyPr wrap="square" lIns="0" tIns="0" rIns="0" bIns="0" rtlCol="0" anchor="ctr"/>
          <a:lstStyle/>
          <a:p>
            <a:pPr algn="ctr" indent="0" marL="0">
              <a:buNone/>
            </a:pPr>
            <a:r>
              <a:rPr lang="en-US" sz="3000" b="1" dirty="0">
                <a:solidFill>
                  <a:srgbClr val="191919"/>
                </a:solidFill>
                <a:latin typeface="Times New Roman" pitchFamily="34" charset="0"/>
                <a:ea typeface="Times New Roman" pitchFamily="34" charset="-122"/>
                <a:cs typeface="Times New Roman" pitchFamily="34" charset="-120"/>
              </a:rPr>
              <a:t>References &amp; Thank You</a:t>
            </a:r>
            <a:endParaRPr lang="en-US" sz="3000" dirty="0"/>
          </a:p>
        </p:txBody>
      </p:sp>
      <p:sp>
        <p:nvSpPr>
          <p:cNvPr id="4" name="date-231"/>
          <p:cNvSpPr txBox="1"/>
          <p:nvPr/>
        </p:nvSpPr>
        <p:spPr>
          <a:xfrm>
            <a:off x="822960" y="6355080"/>
            <a:ext cx="2743200" cy="274320"/>
          </a:xfrm>
          <a:prstGeom prst="rect">
            <a:avLst/>
          </a:prstGeom>
          <a:noFill/>
          <a:ln/>
        </p:spPr>
        <p:txBody>
          <a:bodyPr wrap="square" lIns="0" tIns="0" rIns="0" bIns="0" rtlCol="0" anchor="ctr"/>
          <a:lstStyle/>
          <a:p>
            <a:pPr indent="0" marL="0">
              <a:buNone/>
            </a:pPr>
            <a:r>
              <a:rPr lang="en-US" sz="1000" dirty="0">
                <a:solidFill>
                  <a:srgbClr val="5A5F66"/>
                </a:solidFill>
                <a:latin typeface="Times New Roman" pitchFamily="34" charset="0"/>
                <a:ea typeface="Times New Roman" pitchFamily="34" charset="-122"/>
                <a:cs typeface="Times New Roman" pitchFamily="34" charset="-120"/>
              </a:rPr>
              <a:t>31-10-2026</a:t>
            </a:r>
            <a:endParaRPr lang="en-US" sz="1000" dirty="0"/>
          </a:p>
        </p:txBody>
      </p:sp>
      <p:sp>
        <p:nvSpPr>
          <p:cNvPr id="5" name="ftr-232"/>
          <p:cNvSpPr txBox="1"/>
          <p:nvPr/>
        </p:nvSpPr>
        <p:spPr>
          <a:xfrm>
            <a:off x="4023360" y="6355080"/>
            <a:ext cx="4114800" cy="274320"/>
          </a:xfrm>
          <a:prstGeom prst="rect">
            <a:avLst/>
          </a:prstGeom>
          <a:noFill/>
          <a:ln/>
        </p:spPr>
        <p:txBody>
          <a:bodyPr wrap="square" lIns="0" tIns="0" rIns="0" bIns="0" rtlCol="0" anchor="ctr"/>
          <a:lstStyle/>
          <a:p>
            <a:pPr algn="ctr" indent="0" marL="0">
              <a:buNone/>
            </a:pPr>
            <a:r>
              <a:rPr lang="en-US" sz="1000" dirty="0">
                <a:solidFill>
                  <a:srgbClr val="5A5F66"/>
                </a:solidFill>
                <a:latin typeface="Times New Roman" pitchFamily="34" charset="0"/>
                <a:ea typeface="Times New Roman" pitchFamily="34" charset="-122"/>
                <a:cs typeface="Times New Roman" pitchFamily="34" charset="-120"/>
              </a:rPr>
              <a:t>FINAL REVIEW</a:t>
            </a:r>
            <a:endParaRPr lang="en-US" sz="1000" dirty="0"/>
          </a:p>
        </p:txBody>
      </p:sp>
      <p:sp>
        <p:nvSpPr>
          <p:cNvPr id="6" name="num-233"/>
          <p:cNvSpPr txBox="1"/>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5A5F66"/>
                </a:solidFill>
                <a:latin typeface="Times New Roman" pitchFamily="34" charset="0"/>
                <a:ea typeface="Times New Roman" pitchFamily="34" charset="-122"/>
                <a:cs typeface="Times New Roman" pitchFamily="34" charset="-120"/>
              </a:rPr>
              <a:t>22</a:t>
            </a:r>
            <a:endParaRPr lang="en-US" sz="1000" dirty="0"/>
          </a:p>
        </p:txBody>
      </p:sp>
      <p:sp>
        <p:nvSpPr>
          <p:cNvPr id="7" name="refs"/>
          <p:cNvSpPr txBox="1"/>
          <p:nvPr/>
        </p:nvSpPr>
        <p:spPr>
          <a:xfrm>
            <a:off x="640080" y="1325880"/>
            <a:ext cx="6949440" cy="4754880"/>
          </a:xfrm>
          <a:prstGeom prst="rect">
            <a:avLst/>
          </a:prstGeom>
          <a:noFill/>
          <a:ln/>
        </p:spPr>
        <p:txBody>
          <a:bodyPr wrap="square" lIns="0" tIns="0" rIns="0" bIns="0" rtlCol="0" anchor="t"/>
          <a:lstStyle/>
          <a:p>
            <a:pPr indent="0" marL="0">
              <a:spcAft>
                <a:spcPts val="600"/>
              </a:spcAft>
              <a:buNone/>
            </a:pPr>
            <a:r>
              <a:rPr lang="en-US" sz="1200" dirty="0">
                <a:solidFill>
                  <a:srgbClr val="191919"/>
                </a:solidFill>
                <a:latin typeface="Times New Roman" pitchFamily="34" charset="0"/>
                <a:ea typeface="Times New Roman" pitchFamily="34" charset="-122"/>
                <a:cs typeface="Times New Roman" pitchFamily="34" charset="-120"/>
              </a:rPr>
              <a:t>[1] P. J. Guo, J. Kim, R. Rubin, "How video production affects student engagement," L@S, 2014.</a:t>
            </a:r>
            <a:endParaRPr lang="en-US" sz="1200" dirty="0"/>
          </a:p>
          <a:p>
            <a:pPr indent="0" marL="0">
              <a:spcAft>
                <a:spcPts val="600"/>
              </a:spcAft>
              <a:buNone/>
            </a:pPr>
            <a:r>
              <a:rPr lang="en-US" sz="1200" dirty="0">
                <a:solidFill>
                  <a:srgbClr val="191919"/>
                </a:solidFill>
                <a:latin typeface="Times New Roman" pitchFamily="34" charset="0"/>
                <a:ea typeface="Times New Roman" pitchFamily="34" charset="-122"/>
                <a:cs typeface="Times New Roman" pitchFamily="34" charset="-120"/>
              </a:rPr>
              <a:t>[2] J. Kim et al., "Data-driven interaction techniques for improving navigation of educational videos," UIST, 2014.</a:t>
            </a:r>
            <a:endParaRPr lang="en-US" sz="1200" dirty="0"/>
          </a:p>
          <a:p>
            <a:pPr indent="0" marL="0">
              <a:spcAft>
                <a:spcPts val="600"/>
              </a:spcAft>
              <a:buNone/>
            </a:pPr>
            <a:r>
              <a:rPr lang="en-US" sz="1200" dirty="0">
                <a:solidFill>
                  <a:srgbClr val="191919"/>
                </a:solidFill>
                <a:latin typeface="Times New Roman" pitchFamily="34" charset="0"/>
                <a:ea typeface="Times New Roman" pitchFamily="34" charset="-122"/>
                <a:cs typeface="Times New Roman" pitchFamily="34" charset="-120"/>
              </a:rPr>
              <a:t>[3] A. Radford et al., "Robust speech recognition via large-scale weak supervision," ICML, 2023.</a:t>
            </a:r>
            <a:endParaRPr lang="en-US" sz="1200" dirty="0"/>
          </a:p>
          <a:p>
            <a:pPr indent="0" marL="0">
              <a:spcAft>
                <a:spcPts val="600"/>
              </a:spcAft>
              <a:buNone/>
            </a:pPr>
            <a:r>
              <a:rPr lang="en-US" sz="1200" dirty="0">
                <a:solidFill>
                  <a:srgbClr val="191919"/>
                </a:solidFill>
                <a:latin typeface="Times New Roman" pitchFamily="34" charset="0"/>
                <a:ea typeface="Times New Roman" pitchFamily="34" charset="-122"/>
                <a:cs typeface="Times New Roman" pitchFamily="34" charset="-120"/>
              </a:rPr>
              <a:t>[4] G. Erkan, D. R. Radev, "LexRank," JAIR, vol. 22, 2004.</a:t>
            </a:r>
            <a:endParaRPr lang="en-US" sz="1200" dirty="0"/>
          </a:p>
          <a:p>
            <a:pPr indent="0" marL="0">
              <a:spcAft>
                <a:spcPts val="600"/>
              </a:spcAft>
              <a:buNone/>
            </a:pPr>
            <a:r>
              <a:rPr lang="en-US" sz="1200" dirty="0">
                <a:solidFill>
                  <a:srgbClr val="191919"/>
                </a:solidFill>
                <a:latin typeface="Times New Roman" pitchFamily="34" charset="0"/>
                <a:ea typeface="Times New Roman" pitchFamily="34" charset="-122"/>
                <a:cs typeface="Times New Roman" pitchFamily="34" charset="-120"/>
              </a:rPr>
              <a:t>[5] N. Reimers, I. Gurevych, "Sentence-BERT," EMNLP-IJCNLP, 2019.</a:t>
            </a:r>
            <a:endParaRPr lang="en-US" sz="1200" dirty="0"/>
          </a:p>
          <a:p>
            <a:pPr indent="0" marL="0">
              <a:spcAft>
                <a:spcPts val="600"/>
              </a:spcAft>
              <a:buNone/>
            </a:pPr>
            <a:r>
              <a:rPr lang="en-US" sz="1200" dirty="0">
                <a:solidFill>
                  <a:srgbClr val="191919"/>
                </a:solidFill>
                <a:latin typeface="Times New Roman" pitchFamily="34" charset="0"/>
                <a:ea typeface="Times New Roman" pitchFamily="34" charset="-122"/>
                <a:cs typeface="Times New Roman" pitchFamily="34" charset="-120"/>
              </a:rPr>
              <a:t>[6] P. Lewis et al., "Retrieval-augmented generation," NeurIPS, 2020.</a:t>
            </a:r>
            <a:endParaRPr lang="en-US" sz="1200" dirty="0"/>
          </a:p>
          <a:p>
            <a:pPr indent="0" marL="0">
              <a:spcAft>
                <a:spcPts val="600"/>
              </a:spcAft>
              <a:buNone/>
            </a:pPr>
            <a:r>
              <a:rPr lang="en-US" sz="1200" dirty="0">
                <a:solidFill>
                  <a:srgbClr val="191919"/>
                </a:solidFill>
                <a:latin typeface="Times New Roman" pitchFamily="34" charset="0"/>
                <a:ea typeface="Times New Roman" pitchFamily="34" charset="-122"/>
                <a:cs typeface="Times New Roman" pitchFamily="34" charset="-120"/>
              </a:rPr>
              <a:t>[7] T. Gao et al., "Enabling LLMs to generate text with citations," EMNLP, 2023.</a:t>
            </a:r>
            <a:endParaRPr lang="en-US" sz="1200" dirty="0"/>
          </a:p>
          <a:p>
            <a:pPr indent="0" marL="0">
              <a:spcAft>
                <a:spcPts val="600"/>
              </a:spcAft>
              <a:buNone/>
            </a:pPr>
            <a:r>
              <a:rPr lang="en-US" sz="1200" dirty="0">
                <a:solidFill>
                  <a:srgbClr val="191919"/>
                </a:solidFill>
                <a:latin typeface="Times New Roman" pitchFamily="34" charset="0"/>
                <a:ea typeface="Times New Roman" pitchFamily="34" charset="-122"/>
                <a:cs typeface="Times New Roman" pitchFamily="34" charset="-120"/>
              </a:rPr>
              <a:t>[8] E. Jonas et al., "Cloud programming simplified: A Berkeley view on serverless computing," 2019.</a:t>
            </a:r>
            <a:endParaRPr lang="en-US" sz="1200" dirty="0"/>
          </a:p>
        </p:txBody>
      </p:sp>
      <p:sp>
        <p:nvSpPr>
          <p:cNvPr id="8" name="ty"/>
          <p:cNvSpPr txBox="1"/>
          <p:nvPr/>
        </p:nvSpPr>
        <p:spPr>
          <a:xfrm>
            <a:off x="7863840" y="1325880"/>
            <a:ext cx="3657600" cy="548640"/>
          </a:xfrm>
          <a:prstGeom prst="rect">
            <a:avLst/>
          </a:prstGeom>
          <a:noFill/>
          <a:ln/>
        </p:spPr>
        <p:txBody>
          <a:bodyPr wrap="square" lIns="0" tIns="0" rIns="0" bIns="0" rtlCol="0" anchor="ctr"/>
          <a:lstStyle/>
          <a:p>
            <a:pPr algn="ctr" indent="0" marL="0">
              <a:buNone/>
            </a:pPr>
            <a:r>
              <a:rPr lang="en-US" sz="2800" b="1" dirty="0">
                <a:solidFill>
                  <a:srgbClr val="C00000"/>
                </a:solidFill>
                <a:latin typeface="Times New Roman" pitchFamily="34" charset="0"/>
                <a:ea typeface="Times New Roman" pitchFamily="34" charset="-122"/>
                <a:cs typeface="Times New Roman" pitchFamily="34" charset="-120"/>
              </a:rPr>
              <a:t>THANK YOU</a:t>
            </a:r>
            <a:endParaRPr lang="en-US" sz="2800" dirty="0"/>
          </a:p>
        </p:txBody>
      </p:sp>
      <p:pic>
        <p:nvPicPr>
          <p:cNvPr id="9" name="qr2" descr="/private/tmp/claude-501/-Users-mithilesh-Downloads-cloudnote-site--1-/6c250750-b801-43eb-9bc6-27723f42fa53/scratchpad/docgen/img/qr_git.png">    </p:cNvPr>
          <p:cNvPicPr>
            <a:picLocks noChangeAspect="1"/>
          </p:cNvPicPr>
          <p:nvPr/>
        </p:nvPicPr>
        <p:blipFill>
          <a:blip r:embed="rId2"/>
          <a:stretch>
            <a:fillRect/>
          </a:stretch>
        </p:blipFill>
        <p:spPr>
          <a:xfrm>
            <a:off x="8641080" y="2011680"/>
            <a:ext cx="2103120" cy="2103120"/>
          </a:xfrm>
          <a:prstGeom prst="rect">
            <a:avLst/>
          </a:prstGeom>
        </p:spPr>
      </p:pic>
      <p:sp>
        <p:nvSpPr>
          <p:cNvPr id="10" name="gh"/>
          <p:cNvSpPr txBox="1"/>
          <p:nvPr/>
        </p:nvSpPr>
        <p:spPr>
          <a:xfrm>
            <a:off x="7680960" y="4206240"/>
            <a:ext cx="4023360" cy="1280160"/>
          </a:xfrm>
          <a:prstGeom prst="rect">
            <a:avLst/>
          </a:prstGeom>
          <a:noFill/>
          <a:ln/>
        </p:spPr>
        <p:txBody>
          <a:bodyPr wrap="square" lIns="0" tIns="0" rIns="0" bIns="0" rtlCol="0" anchor="ctr"/>
          <a:lstStyle/>
          <a:p>
            <a:pPr algn="ctr" indent="0" marL="0">
              <a:buNone/>
            </a:pPr>
            <a:r>
              <a:rPr lang="en-US" sz="1300" b="1" dirty="0">
                <a:solidFill>
                  <a:srgbClr val="191919"/>
                </a:solidFill>
                <a:latin typeface="Times New Roman" pitchFamily="34" charset="0"/>
                <a:ea typeface="Times New Roman" pitchFamily="34" charset="-122"/>
                <a:cs typeface="Times New Roman" pitchFamily="34" charset="-120"/>
              </a:rPr>
              <a:t>Source code (GitHub)</a:t>
            </a:r>
            <a:endParaRPr lang="en-US" sz="1300" dirty="0"/>
          </a:p>
          <a:p>
            <a:pPr algn="ctr" indent="0" marL="0">
              <a:buNone/>
            </a:pPr>
            <a:r>
              <a:rPr lang="en-US" sz="1300" dirty="0">
                <a:solidFill>
                  <a:srgbClr val="191919"/>
                </a:solidFill>
                <a:latin typeface="Times New Roman" pitchFamily="34" charset="0"/>
                <a:ea typeface="Times New Roman" pitchFamily="34" charset="-122"/>
                <a:cs typeface="Times New Roman" pitchFamily="34" charset="-120"/>
              </a:rPr>
              <a:t>github.com/kmithileshhhhh05/cloudnote-ai</a:t>
            </a:r>
            <a:endParaRPr lang="en-US" sz="1300" dirty="0"/>
          </a:p>
          <a:p>
            <a:pPr algn="ctr" indent="0" marL="0">
              <a:buNone/>
            </a:pPr>
            <a:r>
              <a:rPr lang="en-US" sz="1300" dirty="0">
                <a:solidFill>
                  <a:srgbClr val="191919"/>
                </a:solidFill>
                <a:latin typeface="Times New Roman" pitchFamily="34" charset="0"/>
                <a:ea typeface="Times New Roman" pitchFamily="34" charset="-122"/>
                <a:cs typeface="Times New Roman" pitchFamily="34" charset="-120"/>
              </a:rPr>
              <a:t> </a:t>
            </a:r>
            <a:endParaRPr lang="en-US" sz="1300" dirty="0"/>
          </a:p>
          <a:p>
            <a:pPr algn="ctr" indent="0" marL="0">
              <a:buNone/>
            </a:pPr>
            <a:r>
              <a:rPr lang="en-US" sz="1300" b="1" dirty="0">
                <a:solidFill>
                  <a:srgbClr val="0070C0"/>
                </a:solidFill>
                <a:latin typeface="Times New Roman" pitchFamily="34" charset="0"/>
                <a:ea typeface="Times New Roman" pitchFamily="34" charset="-122"/>
                <a:cs typeface="Times New Roman" pitchFamily="34" charset="-120"/>
              </a:rPr>
              <a:t>Questions?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CloudNote AI - Final Project Review</dc:title>
  <dc:subject>PptxGenJS Presentation</dc:subject>
  <dc:creator>CloudNote AI Project Team</dc:creator>
  <cp:lastModifiedBy>CloudNote AI Project Team</cp:lastModifiedBy>
  <cp:revision>1</cp:revision>
  <dcterms:created xsi:type="dcterms:W3CDTF">2026-10-31T05:03:09Z</dcterms:created>
  <dcterms:modified xsi:type="dcterms:W3CDTF">2026-10-31T05:03:09Z</dcterms:modified>
</cp:coreProperties>
</file>