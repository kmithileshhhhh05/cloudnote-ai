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Calibri"/>
              </a:defRPr>
            </a:pPr>
            <a:r>
              <a:rPr sz="1400" b="0" i="0" u="none" strike="noStrike">
                <a:solidFill>
                  <a:srgbClr val="000000"/>
                </a:solidFill>
                <a:latin typeface="Calibri"/>
              </a:rPr>
              <a:t>Passed checks by category (59 automated + 43 live)</a:t>
            </a:r>
          </a:p>
        </c:rich>
      </c:tx>
      <c:layout/>
      <c:overlay val="0"/>
    </c:title>
    <c:autoTitleDeleted val="0"/>
    <c:plotArea>
      <c:layout/>
      <c:barChart>
        <c:barDir val="bar"/>
        <c:grouping val="clustered"/>
        <c:varyColors val="0"/>
        <c:ser>
          <c:idx val="0"/>
          <c:order val="0"/>
          <c:tx>
            <c:strRef>
              <c:f>Sheet1!$B$1</c:f>
              <c:strCache>
                <c:ptCount val="1"/>
                <c:pt idx="0">
                  <c:v>Passed</c:v>
                </c:pt>
              </c:strCache>
            </c:strRef>
          </c:tx>
          <c:spPr>
            <a:solidFill>
              <a:srgbClr val="548235"/>
            </a:solidFill>
            <a:effectLst/>
          </c:spPr>
          <c:invertIfNegative val="0"/>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Engine</c:v>
                  </c:pt>
                  <c:pt idx="1">
                    <c:v>Backend core</c:v>
                  </c:pt>
                  <c:pt idx="2">
                    <c:v>API</c:v>
                  </c:pt>
                  <c:pt idx="3">
                    <c:v>Authentication</c:v>
                  </c:pt>
                  <c:pt idx="4">
                    <c:v>Isolation</c:v>
                  </c:pt>
                  <c:pt idx="5">
                    <c:v>Input validation</c:v>
                  </c:pt>
                  <c:pt idx="6">
                    <c:v>Injection</c:v>
                  </c:pt>
                  <c:pt idx="7">
                    <c:v>Storage</c:v>
                  </c:pt>
                  <c:pt idx="8">
                    <c:v>Transcription</c:v>
                  </c:pt>
                  <c:pt idx="9">
                    <c:v>Features</c:v>
                  </c:pt>
                  <c:pt idx="10">
                    <c:v>Headers</c:v>
                  </c:pt>
                </c:lvl>
              </c:multiLvlStrCache>
            </c:multiLvlStrRef>
          </c:cat>
          <c:val>
            <c:numRef>
              <c:f>Sheet1!$B$2:$B$12</c:f>
              <c:numCache>
                <c:formatCode>General</c:formatCode>
                <c:ptCount val="11"/>
                <c:pt idx="0">
                  <c:v>13</c:v>
                </c:pt>
                <c:pt idx="1">
                  <c:v>22</c:v>
                </c:pt>
                <c:pt idx="2">
                  <c:v>24</c:v>
                </c:pt>
                <c:pt idx="3">
                  <c:v>13</c:v>
                </c:pt>
                <c:pt idx="4">
                  <c:v>4</c:v>
                </c:pt>
                <c:pt idx="5">
                  <c:v>6</c:v>
                </c:pt>
                <c:pt idx="6">
                  <c:v>2</c:v>
                </c:pt>
                <c:pt idx="7">
                  <c:v>6</c:v>
                </c:pt>
                <c:pt idx="8">
                  <c:v>2</c:v>
                </c:pt>
                <c:pt idx="9">
                  <c:v>5</c:v>
                </c:pt>
                <c:pt idx="10">
                  <c:v>5</c:v>
                </c:pt>
              </c:numCache>
            </c:numRef>
          </c:val>
        </c:ser>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Calibri"/>
              </a:defRPr>
            </a:pPr>
            <a:r>
              <a:rPr sz="1400" b="0" i="0" u="none" strike="noStrike">
                <a:solidFill>
                  <a:srgbClr val="000000"/>
                </a:solidFill>
                <a:latin typeface="Calibri"/>
              </a:rPr>
              <a:t>Median end-to-end latency from India (ms, n = 40)</a:t>
            </a:r>
          </a:p>
        </c:rich>
      </c:tx>
      <c:layout/>
      <c:overlay val="0"/>
    </c:title>
    <c:autoTitleDeleted val="0"/>
    <c:plotArea>
      <c:layout/>
      <c:barChart>
        <c:barDir val="bar"/>
        <c:grouping val="clustered"/>
        <c:varyColors val="0"/>
        <c:ser>
          <c:idx val="0"/>
          <c:order val="0"/>
          <c:tx>
            <c:strRef>
              <c:f>Sheet1!$B$1</c:f>
              <c:strCache>
                <c:ptCount val="1"/>
                <c:pt idx="0">
                  <c:v>Median latency (ms)</c:v>
                </c:pt>
              </c:strCache>
            </c:strRef>
          </c:tx>
          <c:spPr>
            <a:solidFill>
              <a:srgbClr val="C55A11"/>
            </a:solidFill>
            <a:effectLst/>
          </c:spPr>
          <c:invertIfNegative val="0"/>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me</c:v>
                  </c:pt>
                  <c:pt idx="1">
                    <c:v>videos</c:v>
                  </c:pt>
                  <c:pt idx="2">
                    <c:v>videos/:id</c:v>
                  </c:pt>
                  <c:pt idx="3">
                    <c:v>notes</c:v>
                  </c:pt>
                  <c:pt idx="4">
                    <c:v>search?q=</c:v>
                  </c:pt>
                  <c:pt idx="5">
                    <c:v>map</c:v>
                  </c:pt>
                  <c:pt idx="6">
                    <c:v>notifications</c:v>
                  </c:pt>
                </c:lvl>
              </c:multiLvlStrCache>
            </c:multiLvlStrRef>
          </c:cat>
          <c:val>
            <c:numRef>
              <c:f>Sheet1!$B$2:$B$8</c:f>
              <c:numCache>
                <c:formatCode>General</c:formatCode>
                <c:ptCount val="7"/>
                <c:pt idx="0">
                  <c:v>744.6</c:v>
                </c:pt>
                <c:pt idx="1">
                  <c:v>755</c:v>
                </c:pt>
                <c:pt idx="2">
                  <c:v>800.6</c:v>
                </c:pt>
                <c:pt idx="3">
                  <c:v>1591.1</c:v>
                </c:pt>
                <c:pt idx="4">
                  <c:v>541.4</c:v>
                </c:pt>
                <c:pt idx="5">
                  <c:v>553.5</c:v>
                </c:pt>
                <c:pt idx="6">
                  <c:v>570.5</c:v>
                </c:pt>
              </c:numCache>
            </c:numRef>
          </c:val>
        </c:ser>
        <c:dLbls>
          <c:numFmt formatCode="0" sourceLinked="0"/>
          <c:txPr>
            <a:bodyPr/>
            <a:lstStyle/>
            <a:p>
              <a:pPr>
                <a:defRPr b="0" i="0" strike="noStrike" sz="11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present the third project review of CloudNote AI, a cloud-based platform that turns recorded lectures into searchable, verifiable notes. Team: K. Mithilesh Reddy, Nitin Tulugu and Sargu Sai Chetan, under the guidance of Dr. G. Neelima.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of our presentation, following the PRC-III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Recorded learning is everywhere, but recordings cannot be skimmed and they refer to each other. CloudNote AI makes them searchable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follows from the gap: tools stop at one video, and AI summaries are not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measurable objectives. Each has a check we report in the results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recognition, summarisation and dense retrieval: accurate transcripts and summaries, but no source links and nothing across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benchmarks, retrieval-augmented generation and citation work: grounding helps, but answers are not forced to cite, which motivates our rule that uncited answers are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serverless and education: verified, pay-per-use and source-grounded AI is what learners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papers that most directly define our gap. The last row states the core gap we address: cross-video context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novelty is cross-video context recovery with memory. We hedge the claim: we found no tool that does this, we do not claim none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technically, economically and operationally feasible. The plan shows the work per review phase; all phases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approaches are good at transcripts and summaries of one video, but do not let the learner verify answers or follow references across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method grounds every output in a timestamp and links recordings, on a pay-per-use AWS stack with an AI fallback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 the left: an upload or a transcript. Preprocessing turns speech into timestamped moments. Feature extraction builds the TF-IDF index and finds reference cues. The model stage uses the LLM chain with enforced citations, and falls back to extractive notes. Outputs are notes, cited answers and context recovery. Everything runs on the serverless AWS platform shown at the bottom. All shapes and arrows are editable.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AWS view. CloudFront serves the app and routes the API; API Gateway checks the Cognito token; uploads go straight to S3; Transcribe and EventBridge trigger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logical data model. The user comes from Amazon Cognito; the sub is the user id. Each user has many videos. Each video is split into chunks, which are the timestamped moments, with start and end seconds and the text. A video has one AI notes item, whose points, actions and decisions each store a chunkId, so every note links to a moment. A video also has one My notes item, the learner's own notes. When a chunk says something like 'as we discussed earlier', a Reference is created, pointing at that chunk, with a direction and a status: open, pending if the user asked us to remember it, or resolved once linked to a source chunk. When a later upload contains a matching explanation, a Notification is created for that reference and chunk. Library meta is a version number used to refresh cached search indexes. The media file itself is not in the database; it is a private object in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Physically, everything is stored in one DynamoDB table with two keys. The partition key pk is U# plus the user's Cognito id, so all of one user's data sits together. The sort key sk starts with a prefix that says what the item is: V# for a video, C# for a chunk or moment, N# for AI notes, M# for my notes, R# for a reference, F# for a notification, and META#lib for the cache version. To load a screen we run one query: for example pk equals my user and sk begins with V# returns all my videos. Chunk numbers are padded to five digits so they come back in time order. Security comes from the key: the API takes pk from the verified Cognito token, not from the request, so one user can never read another user's items. The table is on-demand, encrypted, has point-in-time recovery, and is kept even if the stack is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live deployment. Asking 'what is DFS' gives an explanation from the transcript, and the cited moments are listed with timestamps such as 9:30, 12:10 and 15:36. Off-topic questions get no invented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to other recordings are detected and linked; the library map shows dependencies and the gaps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 automated tests and 43 checks against the live system all passed. We also list the six issues that only appeared on real AWS and how we fixed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time is about 15 ms; the rest is distance to us-east-1. Cost so far is close to zero because everything is pay-per-use.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system works end to end on AWS. Next we will measure accuracy on real lecture series, enable semantic search and support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papers from the literature survey, in APA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Remaining papers plus documentation, the textbook and our source code. The QR code opens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or show a live demo; the QR code opens the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logo-t"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
          <p:cNvSpPr txBox="1"/>
          <p:nvPr/>
        </p:nvSpPr>
        <p:spPr>
          <a:xfrm>
            <a:off x="1463040" y="182880"/>
            <a:ext cx="10332720" cy="1005840"/>
          </a:xfrm>
          <a:prstGeom prst="rect">
            <a:avLst/>
          </a:prstGeom>
          <a:noFill/>
          <a:ln/>
        </p:spPr>
        <p:txBody>
          <a:bodyPr wrap="square" lIns="0" tIns="0" rIns="0" bIns="0" rtlCol="0" anchor="ctr"/>
          <a:lstStyle/>
          <a:p>
            <a:pPr algn="ctr" indent="0" marL="0">
              <a:buNone/>
            </a:pPr>
            <a:r>
              <a:rPr lang="en-US" sz="2600" b="1" dirty="0">
                <a:solidFill>
                  <a:srgbClr val="FF0000"/>
                </a:solidFill>
                <a:latin typeface="Times New Roman" pitchFamily="34" charset="0"/>
                <a:ea typeface="Times New Roman" pitchFamily="34" charset="-122"/>
                <a:cs typeface="Times New Roman" pitchFamily="34" charset="-120"/>
              </a:rPr>
              <a:t>ENGINEERING CAPSTONE PROJECT – 1</a:t>
            </a:r>
            <a:endParaRPr lang="en-US" sz="2600" dirty="0"/>
          </a:p>
          <a:p>
            <a:pPr algn="ctr" indent="0" marL="0">
              <a:buNone/>
            </a:pPr>
            <a:r>
              <a:rPr lang="en-US" sz="2400" b="1" dirty="0">
                <a:solidFill>
                  <a:srgbClr val="0070C0"/>
                </a:solidFill>
                <a:latin typeface="Times New Roman" pitchFamily="34" charset="0"/>
                <a:ea typeface="Times New Roman" pitchFamily="34" charset="-122"/>
                <a:cs typeface="Times New Roman" pitchFamily="34" charset="-120"/>
              </a:rPr>
              <a:t>Project Review-3</a:t>
            </a:r>
            <a:endParaRPr lang="en-US" sz="2600" dirty="0"/>
          </a:p>
        </p:txBody>
      </p:sp>
      <p:sp>
        <p:nvSpPr>
          <p:cNvPr id="4" name="t-2"/>
          <p:cNvSpPr txBox="1"/>
          <p:nvPr/>
        </p:nvSpPr>
        <p:spPr>
          <a:xfrm>
            <a:off x="1097280" y="1325880"/>
            <a:ext cx="9966960" cy="685800"/>
          </a:xfrm>
          <a:prstGeom prst="rect">
            <a:avLst/>
          </a:prstGeom>
          <a:noFill/>
          <a:ln/>
        </p:spPr>
        <p:txBody>
          <a:bodyPr wrap="square" lIns="0" tIns="0" rIns="0" bIns="0" rtlCol="0" anchor="ctr">
            <a:normAutofit/>
          </a:bodyPr>
          <a:lstStyle/>
          <a:p>
            <a:pPr algn="ctr" indent="0" marL="0">
              <a:buNone/>
            </a:pPr>
            <a:r>
              <a:rPr lang="en-US" sz="2400" b="1" dirty="0">
                <a:solidFill>
                  <a:srgbClr val="70AD47"/>
                </a:solidFill>
                <a:latin typeface="Times New Roman" pitchFamily="34" charset="0"/>
                <a:ea typeface="Times New Roman" pitchFamily="34" charset="-122"/>
                <a:cs typeface="Times New Roman" pitchFamily="34" charset="-120"/>
              </a:rPr>
              <a:t>CloudNote AI: Cloud-Based Intelligent Video Note Extraction and Semantic Search Platform</a:t>
            </a:r>
            <a:endParaRPr lang="en-US" sz="2400" dirty="0"/>
          </a:p>
        </p:txBody>
      </p:sp>
      <p:sp>
        <p:nvSpPr>
          <p:cNvPr id="5" name="t-3"/>
          <p:cNvSpPr txBox="1"/>
          <p:nvPr/>
        </p:nvSpPr>
        <p:spPr>
          <a:xfrm>
            <a:off x="3566160" y="2103120"/>
            <a:ext cx="5029200" cy="1600200"/>
          </a:xfrm>
          <a:prstGeom prst="rect">
            <a:avLst/>
          </a:prstGeom>
          <a:noFill/>
          <a:ln/>
        </p:spPr>
        <p:txBody>
          <a:bodyPr wrap="square" lIns="0" tIns="0" rIns="0" bIns="0" rtlCol="0" anchor="t"/>
          <a:lstStyle/>
          <a:p>
            <a:pPr algn="ctr" indent="0" marL="0">
              <a:spcAft>
                <a:spcPts val="200"/>
              </a:spcAft>
              <a:buNone/>
            </a:pPr>
            <a:r>
              <a:rPr lang="en-US" sz="1600" b="1" dirty="0">
                <a:solidFill>
                  <a:srgbClr val="000000"/>
                </a:solidFill>
                <a:latin typeface="Calibri" pitchFamily="34" charset="0"/>
                <a:ea typeface="Calibri" pitchFamily="34" charset="-122"/>
                <a:cs typeface="Calibri" pitchFamily="34" charset="-120"/>
              </a:rPr>
              <a:t>Team No - 7</a:t>
            </a:r>
            <a:endParaRPr lang="en-US" sz="1600" dirty="0"/>
          </a:p>
          <a:p>
            <a:pPr algn="ctr" indent="0" marL="0">
              <a:spcAft>
                <a:spcPts val="200"/>
              </a:spcAft>
              <a:buNone/>
            </a:pPr>
            <a:r>
              <a:rPr lang="en-US" sz="1600" b="1" dirty="0">
                <a:solidFill>
                  <a:srgbClr val="000000"/>
                </a:solidFill>
                <a:latin typeface="Calibri" pitchFamily="34" charset="0"/>
                <a:ea typeface="Calibri" pitchFamily="34" charset="-122"/>
                <a:cs typeface="Calibri" pitchFamily="34" charset="-120"/>
              </a:rPr>
              <a:t>Roll No                  Name</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2320030330          K. Mithilesh Reddy</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2320030186          Nitin Tulugu</a:t>
            </a:r>
            <a:endParaRPr lang="en-US" sz="1600" dirty="0"/>
          </a:p>
          <a:p>
            <a:pPr algn="ctr" indent="0" marL="0">
              <a:spcAft>
                <a:spcPts val="200"/>
              </a:spcAft>
              <a:buNone/>
            </a:pPr>
            <a:r>
              <a:rPr lang="en-US" sz="1600" dirty="0">
                <a:solidFill>
                  <a:srgbClr val="000000"/>
                </a:solidFill>
                <a:latin typeface="Calibri" pitchFamily="34" charset="0"/>
                <a:ea typeface="Calibri" pitchFamily="34" charset="-122"/>
                <a:cs typeface="Calibri" pitchFamily="34" charset="-120"/>
              </a:rPr>
              <a:t>2320030348          Sargu Sai Chetan</a:t>
            </a:r>
            <a:endParaRPr lang="en-US" sz="1600" dirty="0"/>
          </a:p>
        </p:txBody>
      </p:sp>
      <p:sp>
        <p:nvSpPr>
          <p:cNvPr id="6" name="t-4"/>
          <p:cNvSpPr txBox="1"/>
          <p:nvPr/>
        </p:nvSpPr>
        <p:spPr>
          <a:xfrm>
            <a:off x="2651760" y="3749040"/>
            <a:ext cx="6858000" cy="1280160"/>
          </a:xfrm>
          <a:prstGeom prst="rect">
            <a:avLst/>
          </a:prstGeom>
          <a:noFill/>
          <a:ln/>
        </p:spPr>
        <p:txBody>
          <a:bodyPr wrap="square" lIns="0" tIns="0" rIns="0" bIns="0" rtlCol="0" anchor="t"/>
          <a:lstStyle/>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Under the Guidance of</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Dr. G. Neelima</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Assistant Professor</a:t>
            </a:r>
            <a:endParaRPr lang="en-US" sz="1800" dirty="0"/>
          </a:p>
          <a:p>
            <a:pPr algn="ctr" indent="0" marL="0">
              <a:spcAft>
                <a:spcPts val="200"/>
              </a:spcAft>
              <a:buNone/>
            </a:pPr>
            <a:r>
              <a:rPr lang="en-US" sz="1800" dirty="0">
                <a:solidFill>
                  <a:srgbClr val="00B050"/>
                </a:solidFill>
                <a:latin typeface="Calibri" pitchFamily="34" charset="0"/>
                <a:ea typeface="Calibri" pitchFamily="34" charset="-122"/>
                <a:cs typeface="Calibri" pitchFamily="34" charset="-120"/>
              </a:rPr>
              <a:t>Department of Computer Science and Engineering</a:t>
            </a:r>
            <a:endParaRPr lang="en-US" sz="1800" dirty="0"/>
          </a:p>
        </p:txBody>
      </p:sp>
      <p:pic>
        <p:nvPicPr>
          <p:cNvPr id="7" name="img-5" descr="/private/tmp/claude-501/-Users-mithilesh-Downloads-cloudnote-site--1-/6c250750-b801-43eb-9bc6-27723f42fa53/scratchpad/docgen/img/kl_title.png">    </p:cNvPr>
          <p:cNvPicPr>
            <a:picLocks noChangeAspect="1"/>
          </p:cNvPicPr>
          <p:nvPr/>
        </p:nvPicPr>
        <p:blipFill>
          <a:blip r:embed="rId2"/>
          <a:stretch>
            <a:fillRect/>
          </a:stretch>
        </p:blipFill>
        <p:spPr>
          <a:xfrm>
            <a:off x="5023977" y="5029200"/>
            <a:ext cx="2113566" cy="868680"/>
          </a:xfrm>
          <a:prstGeom prst="rect">
            <a:avLst/>
          </a:prstGeom>
        </p:spPr>
      </p:pic>
      <p:sp>
        <p:nvSpPr>
          <p:cNvPr id="8" name="t-6"/>
          <p:cNvSpPr txBox="1"/>
          <p:nvPr/>
        </p:nvSpPr>
        <p:spPr>
          <a:xfrm>
            <a:off x="2286000" y="5943600"/>
            <a:ext cx="7589520" cy="320040"/>
          </a:xfrm>
          <a:prstGeom prst="rect">
            <a:avLst/>
          </a:prstGeom>
          <a:noFill/>
          <a:ln/>
        </p:spPr>
        <p:txBody>
          <a:bodyPr wrap="square" lIns="0" tIns="0" rIns="0" bIns="0" rtlCol="0" anchor="ctr"/>
          <a:lstStyle/>
          <a:p>
            <a:pPr algn="ctr" indent="0" marL="0">
              <a:buNone/>
            </a:pPr>
            <a:r>
              <a:rPr lang="en-US" sz="1600" b="1" dirty="0">
                <a:solidFill>
                  <a:srgbClr val="C00000"/>
                </a:solidFill>
                <a:latin typeface="Calibri" pitchFamily="34" charset="0"/>
                <a:ea typeface="Calibri" pitchFamily="34" charset="-122"/>
                <a:cs typeface="Calibri" pitchFamily="34" charset="-120"/>
              </a:rPr>
              <a:t>KONERU LAKSHMAIAH EDUCATION FOUNDATION</a:t>
            </a:r>
            <a:endParaRPr lang="en-US" sz="1600" dirty="0"/>
          </a:p>
        </p:txBody>
      </p:sp>
      <p:sp>
        <p:nvSpPr>
          <p:cNvPr id="9" name="t-7"/>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10" name="t-8"/>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11" name="t-9"/>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logo-10"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1"/>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OUTLINE</a:t>
            </a:r>
            <a:endParaRPr lang="en-US" sz="4000" dirty="0"/>
          </a:p>
        </p:txBody>
      </p:sp>
      <p:sp>
        <p:nvSpPr>
          <p:cNvPr id="4" name="t-12"/>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3"/>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4"/>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a:t>
            </a:r>
            <a:endParaRPr lang="en-US" sz="1100" dirty="0"/>
          </a:p>
        </p:txBody>
      </p:sp>
      <p:sp>
        <p:nvSpPr>
          <p:cNvPr id="7" name="t-15"/>
          <p:cNvSpPr txBox="1"/>
          <p:nvPr/>
        </p:nvSpPr>
        <p:spPr>
          <a:xfrm>
            <a:off x="1005840" y="1325880"/>
            <a:ext cx="5120640" cy="4754880"/>
          </a:xfrm>
          <a:prstGeom prst="rect">
            <a:avLst/>
          </a:prstGeom>
          <a:noFill/>
          <a:ln/>
        </p:spPr>
        <p:txBody>
          <a:bodyPr wrap="square" lIns="0" tIns="0" rIns="0" bIns="0" rtlCol="0" anchor="t"/>
          <a:lstStyle/>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  Introduction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2.  Problem Statement</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3.  Objectives</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4.  Literature Survey</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5.  Research Gap Identification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6.  Innovation, Creativity, and Novelty</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7.  Feasibility and Project Plan</a:t>
            </a:r>
            <a:endParaRPr lang="en-US" sz="2400" dirty="0"/>
          </a:p>
        </p:txBody>
      </p:sp>
      <p:sp>
        <p:nvSpPr>
          <p:cNvPr id="8" name="t-16"/>
          <p:cNvSpPr txBox="1"/>
          <p:nvPr/>
        </p:nvSpPr>
        <p:spPr>
          <a:xfrm>
            <a:off x="6400800" y="1325880"/>
            <a:ext cx="5120640" cy="4754880"/>
          </a:xfrm>
          <a:prstGeom prst="rect">
            <a:avLst/>
          </a:prstGeom>
          <a:noFill/>
          <a:ln/>
        </p:spPr>
        <p:txBody>
          <a:bodyPr wrap="square" lIns="0" tIns="0" rIns="0" bIns="0" rtlCol="0" anchor="t"/>
          <a:lstStyle/>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8.  Existing Method</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9.  Proposed Method</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10.  Architecture &amp; Database Schema</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11.  Results &amp; Discussion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12.  Conclusion</a:t>
            </a:r>
            <a:endParaRPr lang="en-US" sz="2400" dirty="0"/>
          </a:p>
          <a:p>
            <a:pPr indent="0" marL="0">
              <a:spcAft>
                <a:spcPts val="1000"/>
              </a:spcAft>
              <a:buNone/>
            </a:pPr>
            <a:r>
              <a:rPr lang="en-US" sz="2400" dirty="0">
                <a:solidFill>
                  <a:srgbClr val="000000"/>
                </a:solidFill>
                <a:latin typeface="Times New Roman" pitchFamily="34" charset="0"/>
                <a:ea typeface="Times New Roman" pitchFamily="34" charset="-122"/>
                <a:cs typeface="Times New Roman" pitchFamily="34" charset="-120"/>
              </a:rPr>
              <a:t>13.  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logo-17"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8"/>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Introduction</a:t>
            </a:r>
            <a:endParaRPr lang="en-US" sz="4000" dirty="0"/>
          </a:p>
        </p:txBody>
      </p:sp>
      <p:sp>
        <p:nvSpPr>
          <p:cNvPr id="4" name="t-19"/>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0"/>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1"/>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p>
        </p:txBody>
      </p:sp>
      <p:sp>
        <p:nvSpPr>
          <p:cNvPr id="7" name="t-22"/>
          <p:cNvSpPr txBox="1"/>
          <p:nvPr/>
        </p:nvSpPr>
        <p:spPr>
          <a:xfrm>
            <a:off x="685800" y="1280160"/>
            <a:ext cx="603504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Background:</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lectures, labs and meetings are now recorded, but a video cannot be skimmed. A fact said at minute 37 is effectively lost.</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Importance:</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recordings depend on each other ("as we discussed earlier", "in the next video"), and AI summaries rarely show where a claim came from.</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Problem solved:</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turn a personal library of recordings into notes and answers that always point back to the exact moment, and recover context that one recording leaves out.</a:t>
            </a:r>
            <a:endParaRPr lang="en-US" sz="1800" dirty="0"/>
          </a:p>
          <a:p>
            <a:pPr marL="342900" indent="-342900">
              <a:spcAft>
                <a:spcPts val="600"/>
              </a:spcAft>
              <a:buSzPct val="100000"/>
              <a:buChar char="•"/>
            </a:pPr>
            <a:r>
              <a:rPr lang="en-US" sz="1800" b="1" dirty="0">
                <a:solidFill>
                  <a:srgbClr val="000000"/>
                </a:solidFill>
                <a:latin typeface="Times New Roman" pitchFamily="34" charset="0"/>
                <a:ea typeface="Times New Roman" pitchFamily="34" charset="-122"/>
                <a:cs typeface="Times New Roman" pitchFamily="34" charset="-120"/>
              </a:rPr>
              <a:t>Application:</a:t>
            </a:r>
            <a:pPr indent="0" marL="0">
              <a:spcAft>
                <a:spcPts val="600"/>
              </a:spcAft>
              <a:buNone/>
            </a:pPr>
            <a:r>
              <a:rPr lang="en-US" sz="1800" dirty="0">
                <a:solidFill>
                  <a:srgbClr val="000000"/>
                </a:solidFill>
                <a:latin typeface="Times New Roman" pitchFamily="34" charset="0"/>
                <a:ea typeface="Times New Roman" pitchFamily="34" charset="-122"/>
                <a:cs typeface="Times New Roman" pitchFamily="34" charset="-120"/>
              </a:rPr>
              <a:t> students revising lectures, MOOC learners, teams reviewing meeting and training recordings.</a:t>
            </a:r>
            <a:endParaRPr lang="en-US" sz="1800" dirty="0"/>
          </a:p>
        </p:txBody>
      </p:sp>
      <p:pic>
        <p:nvPicPr>
          <p:cNvPr id="8" name="img-23" descr="/Users/mithilesh/Downloads/cloudnote-site (1)/docs/manual/img/05-video-notes.jpg">    </p:cNvPr>
          <p:cNvPicPr>
            <a:picLocks noChangeAspect="1"/>
          </p:cNvPicPr>
          <p:nvPr/>
        </p:nvPicPr>
        <p:blipFill>
          <a:blip r:embed="rId2"/>
          <a:stretch>
            <a:fillRect/>
          </a:stretch>
        </p:blipFill>
        <p:spPr>
          <a:xfrm>
            <a:off x="6903720" y="1371600"/>
            <a:ext cx="4754880" cy="2971800"/>
          </a:xfrm>
          <a:prstGeom prst="rect">
            <a:avLst/>
          </a:prstGeom>
        </p:spPr>
      </p:pic>
      <p:sp>
        <p:nvSpPr>
          <p:cNvPr id="9" name="frame-24"/>
          <p:cNvSpPr/>
          <p:nvPr/>
        </p:nvSpPr>
        <p:spPr>
          <a:xfrm>
            <a:off x="6903720" y="1371600"/>
            <a:ext cx="4754880" cy="2971800"/>
          </a:xfrm>
          <a:prstGeom prst="rect">
            <a:avLst/>
          </a:prstGeom>
          <a:ln w="9525">
            <a:solidFill>
              <a:srgbClr val="BFBFBF"/>
            </a:solidFill>
            <a:prstDash val="solid"/>
          </a:ln>
        </p:spPr>
      </p:sp>
      <p:sp>
        <p:nvSpPr>
          <p:cNvPr id="10" name="t-25"/>
          <p:cNvSpPr txBox="1"/>
          <p:nvPr/>
        </p:nvSpPr>
        <p:spPr>
          <a:xfrm>
            <a:off x="6903720" y="4398264"/>
            <a:ext cx="475488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CloudNote AI: video page with AI notes (live)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logo-2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Problem Statement</a:t>
            </a:r>
            <a:endParaRPr lang="en-US" sz="4000" dirty="0"/>
          </a:p>
        </p:txBody>
      </p:sp>
      <p:sp>
        <p:nvSpPr>
          <p:cNvPr id="4" name="t-2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4</a:t>
            </a:r>
            <a:endParaRPr lang="en-US" sz="1100" dirty="0"/>
          </a:p>
        </p:txBody>
      </p:sp>
      <p:sp>
        <p:nvSpPr>
          <p:cNvPr id="7" name="t-31"/>
          <p:cNvSpPr txBox="1"/>
          <p:nvPr/>
        </p:nvSpPr>
        <p:spPr>
          <a:xfrm>
            <a:off x="822960" y="1325880"/>
            <a:ext cx="10515600" cy="1920240"/>
          </a:xfrm>
          <a:prstGeom prst="rect">
            <a:avLst/>
          </a:prstGeom>
          <a:noFill/>
          <a:ln/>
        </p:spPr>
        <p:txBody>
          <a:bodyPr wrap="square" lIns="0" tIns="0" rIns="0" bIns="0" rtlCol="0" anchor="t"/>
          <a:lstStyle/>
          <a:p>
            <a:pPr algn="just" indent="0" marL="0">
              <a:buNone/>
            </a:pPr>
            <a:r>
              <a:rPr lang="en-US" sz="2000" b="1" dirty="0">
                <a:solidFill>
                  <a:srgbClr val="000000"/>
                </a:solidFill>
                <a:latin typeface="Calibri" pitchFamily="34" charset="0"/>
                <a:ea typeface="Calibri" pitchFamily="34" charset="-122"/>
                <a:cs typeface="Calibri" pitchFamily="34" charset="-120"/>
              </a:rPr>
              <a:t>From the literature survey and the identified gaps: </a:t>
            </a:r>
            <a:pPr algn="just" indent="0" marL="0">
              <a:buNone/>
            </a:pPr>
            <a:r>
              <a:rPr lang="en-US" sz="2000" dirty="0">
                <a:solidFill>
                  <a:srgbClr val="000000"/>
                </a:solidFill>
                <a:latin typeface="Calibri" pitchFamily="34" charset="0"/>
                <a:ea typeface="Calibri" pitchFamily="34" charset="-122"/>
                <a:cs typeface="Calibri" pitchFamily="34" charset="-120"/>
              </a:rPr>
              <a:t>existing lecture-video tools work inside one video, and AI summaries of transcripts are hard to verify because they do not cite the moment they came from. No tool we surveyed detects when one recording refers to another, suggests where the missing explanation is, or remembers a reference whose explanation has not been uploaded yet.</a:t>
            </a:r>
            <a:endParaRPr lang="en-US" sz="2000" dirty="0"/>
          </a:p>
        </p:txBody>
      </p:sp>
      <p:sp>
        <p:nvSpPr>
          <p:cNvPr id="8" name="ps"/>
          <p:cNvSpPr/>
          <p:nvPr/>
        </p:nvSpPr>
        <p:spPr>
          <a:xfrm>
            <a:off x="822960" y="3520440"/>
            <a:ext cx="10515600" cy="1143000"/>
          </a:xfrm>
          <a:prstGeom prst="rect">
            <a:avLst/>
          </a:prstGeom>
          <a:solidFill>
            <a:srgbClr val="F2F2F2"/>
          </a:solidFill>
          <a:ln w="15875">
            <a:solidFill>
              <a:srgbClr val="960000"/>
            </a:solidFill>
            <a:prstDash val="solid"/>
          </a:ln>
        </p:spPr>
      </p:sp>
      <p:sp>
        <p:nvSpPr>
          <p:cNvPr id="9" name="t-32"/>
          <p:cNvSpPr txBox="1"/>
          <p:nvPr/>
        </p:nvSpPr>
        <p:spPr>
          <a:xfrm>
            <a:off x="1005840" y="3566160"/>
            <a:ext cx="10149840" cy="1051560"/>
          </a:xfrm>
          <a:prstGeom prst="rect">
            <a:avLst/>
          </a:prstGeom>
          <a:noFill/>
          <a:ln/>
        </p:spPr>
        <p:txBody>
          <a:bodyPr wrap="square" lIns="0" tIns="0" rIns="0" bIns="0" rtlCol="0" anchor="ctr"/>
          <a:lstStyle/>
          <a:p>
            <a:pPr algn="ctr" indent="0" marL="0">
              <a:buNone/>
            </a:pPr>
            <a:r>
              <a:rPr lang="en-US" sz="1800" b="1" dirty="0">
                <a:solidFill>
                  <a:srgbClr val="960000"/>
                </a:solidFill>
                <a:latin typeface="Calibri" pitchFamily="34" charset="0"/>
                <a:ea typeface="Calibri" pitchFamily="34" charset="-122"/>
                <a:cs typeface="Calibri" pitchFamily="34" charset="-120"/>
              </a:rPr>
              <a:t>Problem: </a:t>
            </a:r>
            <a:pPr algn="ctr" indent="0" marL="0">
              <a:buNone/>
            </a:pPr>
            <a:r>
              <a:rPr lang="en-US" sz="1800" dirty="0">
                <a:solidFill>
                  <a:srgbClr val="000000"/>
                </a:solidFill>
                <a:latin typeface="Calibri" pitchFamily="34" charset="0"/>
                <a:ea typeface="Calibri" pitchFamily="34" charset="-122"/>
                <a:cs typeface="Calibri" pitchFamily="34" charset="-120"/>
              </a:rPr>
              <a:t>design and deploy a secure, low-cost cloud platform that converts a personal library of recordings into timestamped notes and cited answers, and recovers cross-video context that individual recordings leave out.</a:t>
            </a:r>
            <a:endParaRPr lang="en-US" sz="1800" dirty="0"/>
          </a:p>
        </p:txBody>
      </p:sp>
      <p:sp>
        <p:nvSpPr>
          <p:cNvPr id="10" name="pc-33"/>
          <p:cNvSpPr/>
          <p:nvPr/>
        </p:nvSpPr>
        <p:spPr>
          <a:xfrm>
            <a:off x="822960" y="4892040"/>
            <a:ext cx="2514600" cy="1188720"/>
          </a:xfrm>
          <a:prstGeom prst="rect">
            <a:avLst/>
          </a:prstGeom>
          <a:solidFill>
            <a:srgbClr val="FFFFFF"/>
          </a:solidFill>
          <a:ln w="9525">
            <a:solidFill>
              <a:srgbClr val="7F7F7F"/>
            </a:solidFill>
            <a:prstDash val="solid"/>
          </a:ln>
        </p:spPr>
      </p:sp>
      <p:sp>
        <p:nvSpPr>
          <p:cNvPr id="11" name="t-34"/>
          <p:cNvSpPr txBox="1"/>
          <p:nvPr/>
        </p:nvSpPr>
        <p:spPr>
          <a:xfrm>
            <a:off x="914400"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Lost moments</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No way to find what was said, when</a:t>
            </a:r>
            <a:endParaRPr lang="en-US" sz="1500" dirty="0"/>
          </a:p>
        </p:txBody>
      </p:sp>
      <p:sp>
        <p:nvSpPr>
          <p:cNvPr id="12" name="pc-35"/>
          <p:cNvSpPr/>
          <p:nvPr/>
        </p:nvSpPr>
        <p:spPr>
          <a:xfrm>
            <a:off x="3502152" y="4892040"/>
            <a:ext cx="2514600" cy="1188720"/>
          </a:xfrm>
          <a:prstGeom prst="rect">
            <a:avLst/>
          </a:prstGeom>
          <a:solidFill>
            <a:srgbClr val="FFFFFF"/>
          </a:solidFill>
          <a:ln w="9525">
            <a:solidFill>
              <a:srgbClr val="7F7F7F"/>
            </a:solidFill>
            <a:prstDash val="solid"/>
          </a:ln>
        </p:spPr>
      </p:sp>
      <p:sp>
        <p:nvSpPr>
          <p:cNvPr id="13" name="t-36"/>
          <p:cNvSpPr txBox="1"/>
          <p:nvPr/>
        </p:nvSpPr>
        <p:spPr>
          <a:xfrm>
            <a:off x="3593592"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Unverifiable AI</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Summaries without sources</a:t>
            </a:r>
            <a:endParaRPr lang="en-US" sz="1500" dirty="0"/>
          </a:p>
        </p:txBody>
      </p:sp>
      <p:sp>
        <p:nvSpPr>
          <p:cNvPr id="14" name="pc-37"/>
          <p:cNvSpPr/>
          <p:nvPr/>
        </p:nvSpPr>
        <p:spPr>
          <a:xfrm>
            <a:off x="6181344" y="4892040"/>
            <a:ext cx="2514600" cy="1188720"/>
          </a:xfrm>
          <a:prstGeom prst="rect">
            <a:avLst/>
          </a:prstGeom>
          <a:solidFill>
            <a:srgbClr val="FFFFFF"/>
          </a:solidFill>
          <a:ln w="9525">
            <a:solidFill>
              <a:srgbClr val="7F7F7F"/>
            </a:solidFill>
            <a:prstDash val="solid"/>
          </a:ln>
        </p:spPr>
      </p:sp>
      <p:sp>
        <p:nvSpPr>
          <p:cNvPr id="15" name="t-38"/>
          <p:cNvSpPr txBox="1"/>
          <p:nvPr/>
        </p:nvSpPr>
        <p:spPr>
          <a:xfrm>
            <a:off x="6272784"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Dead-end references</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"Earlier" / "next video" lead nowhere</a:t>
            </a:r>
            <a:endParaRPr lang="en-US" sz="1500" dirty="0"/>
          </a:p>
        </p:txBody>
      </p:sp>
      <p:sp>
        <p:nvSpPr>
          <p:cNvPr id="16" name="pc-39"/>
          <p:cNvSpPr/>
          <p:nvPr/>
        </p:nvSpPr>
        <p:spPr>
          <a:xfrm>
            <a:off x="8860536" y="4892040"/>
            <a:ext cx="2514600" cy="1188720"/>
          </a:xfrm>
          <a:prstGeom prst="rect">
            <a:avLst/>
          </a:prstGeom>
          <a:solidFill>
            <a:srgbClr val="FFFFFF"/>
          </a:solidFill>
          <a:ln w="9525">
            <a:solidFill>
              <a:srgbClr val="7F7F7F"/>
            </a:solidFill>
            <a:prstDash val="solid"/>
          </a:ln>
        </p:spPr>
      </p:sp>
      <p:sp>
        <p:nvSpPr>
          <p:cNvPr id="17" name="t-40"/>
          <p:cNvSpPr txBox="1"/>
          <p:nvPr/>
        </p:nvSpPr>
        <p:spPr>
          <a:xfrm>
            <a:off x="8951976" y="4937760"/>
            <a:ext cx="2331720" cy="1097280"/>
          </a:xfrm>
          <a:prstGeom prst="rect">
            <a:avLst/>
          </a:prstGeom>
          <a:noFill/>
          <a:ln/>
        </p:spPr>
        <p:txBody>
          <a:bodyPr wrap="square" lIns="0" tIns="0" rIns="0" bIns="0" rtlCol="0" anchor="ctr"/>
          <a:lstStyle/>
          <a:p>
            <a:pPr algn="ctr" indent="0" marL="0">
              <a:buNone/>
            </a:pPr>
            <a:r>
              <a:rPr lang="en-US" sz="1500" b="1" dirty="0">
                <a:solidFill>
                  <a:srgbClr val="000000"/>
                </a:solidFill>
                <a:latin typeface="Calibri" pitchFamily="34" charset="0"/>
                <a:ea typeface="Calibri" pitchFamily="34" charset="-122"/>
                <a:cs typeface="Calibri" pitchFamily="34" charset="-120"/>
              </a:rPr>
              <a:t>Cost</a:t>
            </a:r>
            <a:endParaRPr lang="en-US" sz="1500" dirty="0"/>
          </a:p>
          <a:p>
            <a:pPr algn="ctr" indent="0" marL="0">
              <a:buNone/>
            </a:pPr>
            <a:r>
              <a:rPr lang="en-US" sz="1300" dirty="0">
                <a:solidFill>
                  <a:srgbClr val="000000"/>
                </a:solidFill>
                <a:latin typeface="Calibri" pitchFamily="34" charset="0"/>
                <a:ea typeface="Calibri" pitchFamily="34" charset="-122"/>
                <a:cs typeface="Calibri" pitchFamily="34" charset="-120"/>
              </a:rPr>
              <a:t>Servers and AI are costly to run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logo-4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4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Objectives</a:t>
            </a:r>
            <a:endParaRPr lang="en-US" sz="4000" dirty="0"/>
          </a:p>
        </p:txBody>
      </p:sp>
      <p:sp>
        <p:nvSpPr>
          <p:cNvPr id="4" name="t-4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4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4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5</a:t>
            </a:r>
            <a:endParaRPr lang="en-US" sz="1100" dirty="0"/>
          </a:p>
        </p:txBody>
      </p:sp>
      <p:sp>
        <p:nvSpPr>
          <p:cNvPr id="7" name="ob-46"/>
          <p:cNvSpPr/>
          <p:nvPr/>
        </p:nvSpPr>
        <p:spPr>
          <a:xfrm>
            <a:off x="685800" y="1325880"/>
            <a:ext cx="5303520" cy="2286000"/>
          </a:xfrm>
          <a:prstGeom prst="rect">
            <a:avLst/>
          </a:prstGeom>
          <a:solidFill>
            <a:srgbClr val="F2F2F2"/>
          </a:solidFill>
          <a:ln w="9525">
            <a:solidFill>
              <a:srgbClr val="7F7F7F"/>
            </a:solidFill>
            <a:prstDash val="solid"/>
          </a:ln>
        </p:spPr>
      </p:sp>
      <p:sp>
        <p:nvSpPr>
          <p:cNvPr id="8" name="t-47"/>
          <p:cNvSpPr txBox="1"/>
          <p:nvPr/>
        </p:nvSpPr>
        <p:spPr>
          <a:xfrm>
            <a:off x="868680" y="143560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1. Timestamped transcription</a:t>
            </a:r>
            <a:endParaRPr lang="en-US" sz="2000" dirty="0"/>
          </a:p>
        </p:txBody>
      </p:sp>
      <p:sp>
        <p:nvSpPr>
          <p:cNvPr id="9" name="t-48"/>
          <p:cNvSpPr txBox="1"/>
          <p:nvPr/>
        </p:nvSpPr>
        <p:spPr>
          <a:xfrm>
            <a:off x="868680" y="189280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Convert uploaded speech into timestamped moments (Amazon Transcribe); import SRT, VTT, JSON and text transcripts.</a:t>
            </a:r>
            <a:endParaRPr lang="en-US" sz="1500" dirty="0"/>
          </a:p>
        </p:txBody>
      </p:sp>
      <p:sp>
        <p:nvSpPr>
          <p:cNvPr id="10" name="t-49"/>
          <p:cNvSpPr txBox="1"/>
          <p:nvPr/>
        </p:nvSpPr>
        <p:spPr>
          <a:xfrm>
            <a:off x="868680" y="306324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11-s clip, upload to notes in under 30 s</a:t>
            </a:r>
            <a:endParaRPr lang="en-US" sz="1300" dirty="0"/>
          </a:p>
        </p:txBody>
      </p:sp>
      <p:sp>
        <p:nvSpPr>
          <p:cNvPr id="11" name="ob-50"/>
          <p:cNvSpPr/>
          <p:nvPr/>
        </p:nvSpPr>
        <p:spPr>
          <a:xfrm>
            <a:off x="6172200" y="1325880"/>
            <a:ext cx="5303520" cy="2286000"/>
          </a:xfrm>
          <a:prstGeom prst="rect">
            <a:avLst/>
          </a:prstGeom>
          <a:solidFill>
            <a:srgbClr val="F2F2F2"/>
          </a:solidFill>
          <a:ln w="9525">
            <a:solidFill>
              <a:srgbClr val="7F7F7F"/>
            </a:solidFill>
            <a:prstDash val="solid"/>
          </a:ln>
        </p:spPr>
      </p:sp>
      <p:sp>
        <p:nvSpPr>
          <p:cNvPr id="12" name="t-51"/>
          <p:cNvSpPr txBox="1"/>
          <p:nvPr/>
        </p:nvSpPr>
        <p:spPr>
          <a:xfrm>
            <a:off x="6355080" y="143560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2. Verifiable notes and answers</a:t>
            </a:r>
            <a:endParaRPr lang="en-US" sz="2000" dirty="0"/>
          </a:p>
        </p:txBody>
      </p:sp>
      <p:sp>
        <p:nvSpPr>
          <p:cNvPr id="13" name="t-52"/>
          <p:cNvSpPr txBox="1"/>
          <p:nvPr/>
        </p:nvSpPr>
        <p:spPr>
          <a:xfrm>
            <a:off x="6355080" y="189280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Summary, key points, actions and decisions linked to moments; answers only from the user's material with [n] citations and timestamps.</a:t>
            </a:r>
            <a:endParaRPr lang="en-US" sz="1500" dirty="0"/>
          </a:p>
        </p:txBody>
      </p:sp>
      <p:sp>
        <p:nvSpPr>
          <p:cNvPr id="14" name="t-53"/>
          <p:cNvSpPr txBox="1"/>
          <p:nvPr/>
        </p:nvSpPr>
        <p:spPr>
          <a:xfrm>
            <a:off x="6355080" y="306324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uncited answers rejected, 100%</a:t>
            </a:r>
            <a:endParaRPr lang="en-US" sz="1300" dirty="0"/>
          </a:p>
        </p:txBody>
      </p:sp>
      <p:sp>
        <p:nvSpPr>
          <p:cNvPr id="15" name="ob-54"/>
          <p:cNvSpPr/>
          <p:nvPr/>
        </p:nvSpPr>
        <p:spPr>
          <a:xfrm>
            <a:off x="685800" y="3794760"/>
            <a:ext cx="5303520" cy="2286000"/>
          </a:xfrm>
          <a:prstGeom prst="rect">
            <a:avLst/>
          </a:prstGeom>
          <a:solidFill>
            <a:srgbClr val="F2F2F2"/>
          </a:solidFill>
          <a:ln w="9525">
            <a:solidFill>
              <a:srgbClr val="7F7F7F"/>
            </a:solidFill>
            <a:prstDash val="solid"/>
          </a:ln>
        </p:spPr>
      </p:sp>
      <p:sp>
        <p:nvSpPr>
          <p:cNvPr id="16" name="t-55"/>
          <p:cNvSpPr txBox="1"/>
          <p:nvPr/>
        </p:nvSpPr>
        <p:spPr>
          <a:xfrm>
            <a:off x="868680" y="390448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3. Cross-video context recovery</a:t>
            </a:r>
            <a:endParaRPr lang="en-US" sz="2000" dirty="0"/>
          </a:p>
        </p:txBody>
      </p:sp>
      <p:sp>
        <p:nvSpPr>
          <p:cNvPr id="17" name="t-56"/>
          <p:cNvSpPr txBox="1"/>
          <p:nvPr/>
        </p:nvSpPr>
        <p:spPr>
          <a:xfrm>
            <a:off x="868680" y="436168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Detect backward and forward references (13 patterns), suggest sources, remember unresolved ones and notify when explained.</a:t>
            </a:r>
            <a:endParaRPr lang="en-US" sz="1500" dirty="0"/>
          </a:p>
        </p:txBody>
      </p:sp>
      <p:sp>
        <p:nvSpPr>
          <p:cNvPr id="18" name="t-57"/>
          <p:cNvSpPr txBox="1"/>
          <p:nvPr/>
        </p:nvSpPr>
        <p:spPr>
          <a:xfrm>
            <a:off x="868680" y="553212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pattern tests pass; one notification per match</a:t>
            </a:r>
            <a:endParaRPr lang="en-US" sz="1300" dirty="0"/>
          </a:p>
        </p:txBody>
      </p:sp>
      <p:sp>
        <p:nvSpPr>
          <p:cNvPr id="19" name="ob-58"/>
          <p:cNvSpPr/>
          <p:nvPr/>
        </p:nvSpPr>
        <p:spPr>
          <a:xfrm>
            <a:off x="6172200" y="3794760"/>
            <a:ext cx="5303520" cy="2286000"/>
          </a:xfrm>
          <a:prstGeom prst="rect">
            <a:avLst/>
          </a:prstGeom>
          <a:solidFill>
            <a:srgbClr val="F2F2F2"/>
          </a:solidFill>
          <a:ln w="9525">
            <a:solidFill>
              <a:srgbClr val="7F7F7F"/>
            </a:solidFill>
            <a:prstDash val="solid"/>
          </a:ln>
        </p:spPr>
      </p:sp>
      <p:sp>
        <p:nvSpPr>
          <p:cNvPr id="20" name="t-59"/>
          <p:cNvSpPr txBox="1"/>
          <p:nvPr/>
        </p:nvSpPr>
        <p:spPr>
          <a:xfrm>
            <a:off x="6355080" y="3904488"/>
            <a:ext cx="4937760" cy="411480"/>
          </a:xfrm>
          <a:prstGeom prst="rect">
            <a:avLst/>
          </a:prstGeom>
          <a:noFill/>
          <a:ln/>
        </p:spPr>
        <p:txBody>
          <a:bodyPr wrap="square" lIns="0" tIns="0" rIns="0" bIns="0" rtlCol="0" anchor="ctr"/>
          <a:lstStyle/>
          <a:p>
            <a:pPr indent="0" marL="0">
              <a:buNone/>
            </a:pPr>
            <a:r>
              <a:rPr lang="en-US" sz="2000" b="1" dirty="0">
                <a:solidFill>
                  <a:srgbClr val="960000"/>
                </a:solidFill>
                <a:latin typeface="Times New Roman" pitchFamily="34" charset="0"/>
                <a:ea typeface="Times New Roman" pitchFamily="34" charset="-122"/>
                <a:cs typeface="Times New Roman" pitchFamily="34" charset="-120"/>
              </a:rPr>
              <a:t>4. Secure, serverless, low-cost cloud</a:t>
            </a:r>
            <a:endParaRPr lang="en-US" sz="2000" dirty="0"/>
          </a:p>
        </p:txBody>
      </p:sp>
      <p:sp>
        <p:nvSpPr>
          <p:cNvPr id="21" name="t-60"/>
          <p:cNvSpPr txBox="1"/>
          <p:nvPr/>
        </p:nvSpPr>
        <p:spPr>
          <a:xfrm>
            <a:off x="6355080" y="4361688"/>
            <a:ext cx="4937760" cy="1097280"/>
          </a:xfrm>
          <a:prstGeom prst="rect">
            <a:avLst/>
          </a:prstGeom>
          <a:noFill/>
          <a:ln/>
        </p:spPr>
        <p:txBody>
          <a:bodyPr wrap="square" lIns="0" tIns="0" rIns="0" bIns="0" rtlCol="0" anchor="t"/>
          <a:lstStyle/>
          <a:p>
            <a:pPr indent="0" marL="0">
              <a:buNone/>
            </a:pPr>
            <a:r>
              <a:rPr lang="en-US" sz="1500" dirty="0">
                <a:solidFill>
                  <a:srgbClr val="000000"/>
                </a:solidFill>
                <a:latin typeface="Calibri" pitchFamily="34" charset="0"/>
                <a:ea typeface="Calibri" pitchFamily="34" charset="-122"/>
                <a:cs typeface="Calibri" pitchFamily="34" charset="-120"/>
              </a:rPr>
              <a:t>Cognito sign-in, JWT-protected API, per-user data isolation, infrastructure as code on AWS.</a:t>
            </a:r>
            <a:endParaRPr lang="en-US" sz="1500" dirty="0"/>
          </a:p>
        </p:txBody>
      </p:sp>
      <p:sp>
        <p:nvSpPr>
          <p:cNvPr id="22" name="t-61"/>
          <p:cNvSpPr txBox="1"/>
          <p:nvPr/>
        </p:nvSpPr>
        <p:spPr>
          <a:xfrm>
            <a:off x="6355080" y="5532120"/>
            <a:ext cx="4937760" cy="41148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Measure: 0 cross-user leaks in live tests; cost near 0 USD idle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logo-62"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63"/>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(1/3)</a:t>
            </a:r>
            <a:endParaRPr lang="en-US" sz="3600" dirty="0"/>
          </a:p>
        </p:txBody>
      </p:sp>
      <p:sp>
        <p:nvSpPr>
          <p:cNvPr id="4" name="t-64"/>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65"/>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66"/>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6</a:t>
            </a:r>
            <a:endParaRPr lang="en-US" sz="1100" dirty="0"/>
          </a:p>
        </p:txBody>
      </p:sp>
      <p:sp>
        <p:nvSpPr>
          <p:cNvPr id="7" name="t-67"/>
          <p:cNvSpPr txBox="1"/>
          <p:nvPr/>
        </p:nvSpPr>
        <p:spPr>
          <a:xfrm>
            <a:off x="365760" y="1143000"/>
            <a:ext cx="11430000" cy="320040"/>
          </a:xfrm>
          <a:prstGeom prst="rect">
            <a:avLst/>
          </a:prstGeom>
          <a:noFill/>
          <a:ln/>
        </p:spPr>
        <p:txBody>
          <a:bodyPr wrap="square" lIns="0" tIns="0" rIns="0" bIns="0" rtlCol="0" anchor="ctr"/>
          <a:lstStyle/>
          <a:p>
            <a:pPr algn="ctr" indent="0" marL="0">
              <a:buNone/>
            </a:pPr>
            <a:r>
              <a:rPr lang="en-US" sz="1400" i="1" dirty="0">
                <a:solidFill>
                  <a:srgbClr val="404040"/>
                </a:solidFill>
                <a:latin typeface="Calibri" pitchFamily="34" charset="0"/>
                <a:ea typeface="Calibri" pitchFamily="34" charset="-122"/>
                <a:cs typeface="Calibri" pitchFamily="34" charset="-120"/>
              </a:rPr>
              <a:t>Existing methods, research gap and why our approach is needed: 15 papers (2020 onwards) in the prescribed format.</a:t>
            </a:r>
            <a:endParaRPr lang="en-US" sz="1400" dirty="0"/>
          </a:p>
        </p:txBody>
      </p:sp>
      <p:graphicFrame>
        <p:nvGraphicFramePr>
          <p:cNvPr id="7" name="tbl-68"/>
          <p:cNvGraphicFramePr>
            <a:graphicFrameLocks noGrp="1"/>
          </p:cNvGraphicFramePr>
          <p:nvPr>
            <p:extLst>
              <p:ext uri="{D42A27DB-BD31-4B8C-83A1-F6EECF244321}">
                <p14:modId xmlns:p14="http://schemas.microsoft.com/office/powerpoint/2010/main" val="1579011935"/>
              </p:ext>
            </p:extLst>
          </p:nvPr>
        </p:nvGraphicFramePr>
        <p:xfrm>
          <a:off x="182880" y="150876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Sl No</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Authors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Title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Source (Journal / Conference)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Objective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Techniques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Dataset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Parameters Analysed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Inference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Gap</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DOI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 Radford, J. W. Kim, T. Xu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Robust Speech Recognition via Large-Scale Weak Supervision (Whisper)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ICML 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Robust multilingual speech recognition without fine-tuning</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Encoder-decoder Transformer, weak supervision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680,000 h of web audio</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WER, zero-shot robustness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Large weakly supervised data gives robust ASR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Produces transcripts only; no notes, search or links between recordings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10.48550/arXiv.2212.04356</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 Baevski, H. Zhou, A. Mohamed, M. Auli</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wav2vec 2.0: A Framework for Self-Supervised Learning of Speech Representations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NeurIPS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Learn speech features from unlabelled audio</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Self-supervised contrastive learning, Transformer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LibriSpeech, Libri-Light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WER with little labelled data</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Good ASR from minutes of labelled speech</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Model-level work; no application for learners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10.48550/arXiv.2006.11477</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 Lewis, Y. Liu, N. Goyal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BART: Denoising Sequence-to-Sequence Pre-training for NLG, Translation and Comprehension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ACL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Pre-train a model for generation tasks such as summarisation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Denoising seq2seq Transformer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CNN/DailyMail, XSum</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ROUGE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Strong abstractive summaries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Summaries carry no source links; can hallucinate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10.18653/v1/2020.acl-main.703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J. Zhang, Y. Zhao, M. Saleh, P. J. Liu</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PEGASUS: Pre-training with Extracted Gap-sentences for Abstractive Summarization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ICML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Pre-training objective tailored to summarisation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Gap-sentence generation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12 summarisation datasets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ROUGE, low-resource results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Good summaries with few examples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Single-document; no timestamps or verification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10.48550/arXiv.1912.08777</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V. Karpukhin, B. Oguz, S. Min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Dense Passage Retrieval for Open-Domain Question Answering</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EMNLP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Retrieve passages with learned dense vectors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Dual-encoder BERT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NQ, TriviaQA, WebQ, TREC, SQuAD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Top-k retrieval accuracy, EM</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Dense retrieval beats BM25 on QA</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Needs GPU-trained encoders; not personal libraries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10.18653/v1/2020.emnlp-main.550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logo-6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7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(2/3)</a:t>
            </a:r>
            <a:endParaRPr lang="en-US" sz="3600" dirty="0"/>
          </a:p>
        </p:txBody>
      </p:sp>
      <p:sp>
        <p:nvSpPr>
          <p:cNvPr id="4" name="t-7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7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7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7</a:t>
            </a:r>
            <a:endParaRPr lang="en-US" sz="1100" dirty="0"/>
          </a:p>
        </p:txBody>
      </p:sp>
      <p:graphicFrame>
        <p:nvGraphicFramePr>
          <p:cNvPr id="8" name="tbl-74"/>
          <p:cNvGraphicFramePr>
            <a:graphicFrameLocks noGrp="1"/>
          </p:cNvGraphicFramePr>
          <p:nvPr>
            <p:extLst>
              <p:ext uri="{D42A27DB-BD31-4B8C-83A1-F6EECF244321}">
                <p14:modId xmlns:p14="http://schemas.microsoft.com/office/powerpoint/2010/main" val="1579011935"/>
              </p:ext>
            </p:extLst>
          </p:nvPr>
        </p:nvGraphicFramePr>
        <p:xfrm>
          <a:off x="182880" y="123444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Sl No</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Authors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Title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Source (Journal / Conference)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Objective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Techniques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Dataset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Parameters Analysed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Inference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Gap</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DOI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O. Khattab, M. Zaharia</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ColBERT: Efficient and Effective Passage Search via Contextualized Late Interaction over BERT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SIGIR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Fast, accurate neural passage ranking</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Late interaction over BERT token vectors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MS MARCO, TREC CAR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MRR@10, latency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Near-BERT quality, much faster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Heavy index for a small per-user library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10.1145/3397271.3401075</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 Thakur, N. Reimers, A. Rücklé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BEIR: A Heterogeneous Benchmark for Zero-shot Evaluation of Information Retrieval Models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NeurIPS 2021 (Datasets &amp; Benchmarks)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Test retrieval models outside their training domain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Benchmark of lexical, dense, re-ranking models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18 datasets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nDCG@10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BM25 is a strong zero-shot baseline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Supports our lexical (TF-IDF) default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10.48550/arXiv.2104.08663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 Lewis, E. Perez, A. Piktus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Retrieval-Augmented Generation for Knowledge-Intensive NLP Tasks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NeurIPS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Ground generation in retrieved documents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Dense retriever + BART generator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NQ, TriviaQA, WebQ, MS MARCO, FEVER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EM, BLEU, ROUGE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Retrieval improves factual answers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Answers are not forced to cite; no timestamps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10.48550/arXiv.2005.11401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2024</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 F. Liu, K. Lin, J. Hewitt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Lost in the Middle: How Language Models Use Long Contexts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TACL 2024</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Study where in a long context LLMs find facts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Controlled multi-document QA experiments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NQ-Open, key-value retrieval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Accuracy vs position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Facts in the middle are often missed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Motivates ranking and few passages (we send top 10)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10.1162/tacl_a_00638</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 Nakano, J. Hilton, S. Balaji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WebGPT: Browser-assisted Question-Answering with Human Feedback</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arXiv 2021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Answer questions by browsing and quoting sources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GPT-3 + browsing + RLHF</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ELI5, TriviaQA</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Human preference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Quoted references make answers checkable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Web sources; not a user's own recordings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10.48550/arXiv.2112.09332</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logo-75"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76"/>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Literature Survey (3/3)</a:t>
            </a:r>
            <a:endParaRPr lang="en-US" sz="3600" dirty="0"/>
          </a:p>
        </p:txBody>
      </p:sp>
      <p:sp>
        <p:nvSpPr>
          <p:cNvPr id="4" name="t-77"/>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78"/>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79"/>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8</a:t>
            </a:r>
            <a:endParaRPr lang="en-US" sz="1100" dirty="0"/>
          </a:p>
        </p:txBody>
      </p:sp>
      <p:graphicFrame>
        <p:nvGraphicFramePr>
          <p:cNvPr id="9" name="tbl-80"/>
          <p:cNvGraphicFramePr>
            <a:graphicFrameLocks noGrp="1"/>
          </p:cNvGraphicFramePr>
          <p:nvPr>
            <p:extLst>
              <p:ext uri="{D42A27DB-BD31-4B8C-83A1-F6EECF244321}">
                <p14:modId xmlns:p14="http://schemas.microsoft.com/office/powerpoint/2010/main" val="1579011935"/>
              </p:ext>
            </p:extLst>
          </p:nvPr>
        </p:nvGraphicFramePr>
        <p:xfrm>
          <a:off x="182880" y="1234440"/>
          <a:ext cx="11338560" cy="914400"/>
        </p:xfrm>
        <a:graphic>
          <a:graphicData uri="http://schemas.openxmlformats.org/drawingml/2006/table">
            <a:tbl>
              <a:tblPr/>
              <a:tblGrid>
                <a:gridCol w="384048"/>
                <a:gridCol w="438912"/>
                <a:gridCol w="914400"/>
                <a:gridCol w="1298448"/>
                <a:gridCol w="868680"/>
                <a:gridCol w="1097280"/>
                <a:gridCol w="1051560"/>
                <a:gridCol w="960120"/>
                <a:gridCol w="868680"/>
                <a:gridCol w="1097280"/>
                <a:gridCol w="1188720"/>
                <a:gridCol w="1170432"/>
              </a:tblGrid>
              <a:tr h="0">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Sl No</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Authors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Title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Source (Journal / Conference)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Objective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Techniques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Dataset Used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Parameters Analysed</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Inference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Research Gap</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000000"/>
                          </a:solidFill>
                          <a:latin typeface="Calibri" pitchFamily="34" charset="0"/>
                          <a:ea typeface="Calibri" pitchFamily="34" charset="-122"/>
                          <a:cs typeface="Calibri" pitchFamily="34" charset="-120"/>
                        </a:rPr>
                        <a:t>DOI of the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2022</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J. Menick, M. Trebacz, V. Mikulik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Teaching Language Models to Support Answers with Verified Quotes (GopherCite)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arXiv 2022</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Make LLM answers cite evidence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RLHF, quote extraction, abstention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NaturalQuestions, ELI5</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Supported and plausible rate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Abstaining when unsure improves trust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Large models; no media timestamps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10.48550/arXiv.2203.11147</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 Gao, H. Yen, J. Yu, D. Chen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Enabling Large Language Models to Generate Text with Citations (ALCE)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EMNLP 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Benchmark LLM answers with citations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Prompting and retrieval with citation evaluation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ASQA, QAMPARI, ELI5</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Correctness, citation recall/precision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Even strong LLMs often cite poorly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Supports our rule: discard uncited answers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10.48550/arXiv.2305.14627</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Z. Ji, N. Lee, R. Frieske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Survey of Hallucination in Natural Language Generation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ACM Computing Surveys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Survey causes and fixes of hallucination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Literature survey and taxonomy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Many NLG benchmarks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Hallucination metrics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Grounding and verification reduce errors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Survey only; no deployed learner tool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10.1145/3571730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 Shahrad, R. Fonseca, Í. Goiri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Serverless in the Wild: Characterizing and Optimizing the Serverless Workload at a Large Cloud Provider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USENIX ATC 2020</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Characterise real serverless workloads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Trace analysis, adaptive keep-alive policy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Azure Functions production traces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Invocation rate, cold starts, memory</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Most functions run rarely: pay-per-use fits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Supports serverless design; cold starts remain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10.48550/arXiv.2003.03423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950" dirty="0">
                          <a:solidFill>
                            <a:srgbClr val="00000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E. Kasneci, K. Sessler, S. Küchemann et al.</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ChatGPT for Good? On Opportunities and Challenges of Large Language Models for Education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Learning and Individual Differences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Assess LLM use in education</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Literature review and position paper</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N/A (review)</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Opportunities, risks</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LLMs help learners but need oversight</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Calls for verifiable, source-grounded use</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950" dirty="0">
                          <a:solidFill>
                            <a:srgbClr val="000000"/>
                          </a:solidFill>
                          <a:latin typeface="Calibri" pitchFamily="34" charset="0"/>
                          <a:ea typeface="Calibri" pitchFamily="34" charset="-122"/>
                          <a:cs typeface="Calibri" pitchFamily="34" charset="-120"/>
                        </a:rPr>
                        <a:t>10.1016/j.lindif.2023.102274</a:t>
                      </a:r>
                      <a:endParaRPr lang="en-US" sz="95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logo-8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8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Research Gap Identification</a:t>
            </a:r>
            <a:endParaRPr lang="en-US" sz="4000" dirty="0"/>
          </a:p>
        </p:txBody>
      </p:sp>
      <p:sp>
        <p:nvSpPr>
          <p:cNvPr id="4" name="t-8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8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8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9</a:t>
            </a:r>
            <a:endParaRPr lang="en-US" sz="1100" dirty="0"/>
          </a:p>
        </p:txBody>
      </p:sp>
      <p:sp>
        <p:nvSpPr>
          <p:cNvPr id="7" name="t-86"/>
          <p:cNvSpPr txBox="1"/>
          <p:nvPr/>
        </p:nvSpPr>
        <p:spPr>
          <a:xfrm>
            <a:off x="548640" y="1188720"/>
            <a:ext cx="11064240" cy="594360"/>
          </a:xfrm>
          <a:prstGeom prst="rect">
            <a:avLst/>
          </a:prstGeom>
          <a:noFill/>
          <a:ln/>
        </p:spPr>
        <p:txBody>
          <a:bodyPr wrap="square" lIns="0" tIns="0" rIns="0" bIns="0" rtlCol="0" anchor="ctr"/>
          <a:lstStyle/>
          <a:p>
            <a:pPr algn="just" indent="0" marL="0">
              <a:buNone/>
            </a:pPr>
            <a:r>
              <a:rPr lang="en-US" sz="1600" b="1" dirty="0">
                <a:solidFill>
                  <a:srgbClr val="000000"/>
                </a:solidFill>
                <a:latin typeface="Calibri" pitchFamily="34" charset="0"/>
                <a:ea typeface="Calibri" pitchFamily="34" charset="-122"/>
                <a:cs typeface="Calibri" pitchFamily="34" charset="-120"/>
              </a:rPr>
              <a:t>Research gap identification </a:t>
            </a:r>
            <a:pPr algn="just" indent="0" marL="0">
              <a:buNone/>
            </a:pPr>
            <a:r>
              <a:rPr lang="en-US" sz="1600" dirty="0">
                <a:solidFill>
                  <a:srgbClr val="000000"/>
                </a:solidFill>
                <a:latin typeface="Calibri" pitchFamily="34" charset="0"/>
                <a:ea typeface="Calibri" pitchFamily="34" charset="-122"/>
                <a:cs typeface="Calibri" pitchFamily="34" charset="-120"/>
              </a:rPr>
              <a:t>involves analysing existing literature to find limitations or unexplored areas. The gaps below define our research problem.</a:t>
            </a:r>
            <a:endParaRPr lang="en-US" sz="1600" dirty="0"/>
          </a:p>
        </p:txBody>
      </p:sp>
      <p:graphicFrame>
        <p:nvGraphicFramePr>
          <p:cNvPr id="10" name="tbl-87"/>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594360"/>
                <a:gridCol w="2514600"/>
                <a:gridCol w="1463040"/>
                <a:gridCol w="2011680"/>
                <a:gridCol w="2011680"/>
                <a:gridCol w="2468880"/>
              </a:tblGrid>
              <a:tr h="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S.No.</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Paper Title</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Author Name(s)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Methodology / Model Used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Key Findings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Research Gap Identified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Robust Speech Recognition via Large-Scale Weak Supervision</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 Radford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Transformer ASR (Whisper)</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Robust, accurate transcripts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Stops at the transcript: no notes, search or cross-video links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Retrieval-Augmented Generation for Knowledge-Intensive NLP</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P. Lewis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Dense retriever + BART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Retrieval improves factual answers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Answers need not cite sources; no timestamps to verify</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Enabling LLMs to Generate Text with Citations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T. Gao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Citation prompting and evaluation (ALCE)</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LLMs frequently omit or misplace citations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Needs enforcement in the application, not only prompting</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Dense Passage Retrieval for Open-Domain QA</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 Karpukhin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Dual-encoder BERT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Beats BM25 on open QA</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GPU-trained index is heavy for small personal libraries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Serverless in the Wild</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M. Shahrad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Production trace analysis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Most functions are invoked rarely</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Cold starts; needs careful design for interactive apps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ChatGPT for Good? LLMs for Education</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E. Kasneci et al.</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Review / position paper</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LLMs help learners but need oversight</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No tool links references between recordings and remembers missing explanations</a:t>
                      </a:r>
                      <a:endParaRPr lang="en-US" sz="12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logo-8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8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Innovation, Creativity, and Novelty</a:t>
            </a:r>
            <a:endParaRPr lang="en-US" sz="4000" dirty="0"/>
          </a:p>
        </p:txBody>
      </p:sp>
      <p:sp>
        <p:nvSpPr>
          <p:cNvPr id="4" name="t-9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9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9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10</a:t>
            </a:r>
            <a:endParaRPr lang="en-US" sz="1100" dirty="0"/>
          </a:p>
        </p:txBody>
      </p:sp>
      <p:sp>
        <p:nvSpPr>
          <p:cNvPr id="7" name="in-93"/>
          <p:cNvSpPr/>
          <p:nvPr/>
        </p:nvSpPr>
        <p:spPr>
          <a:xfrm>
            <a:off x="548640" y="1280160"/>
            <a:ext cx="3566160" cy="2286000"/>
          </a:xfrm>
          <a:prstGeom prst="rect">
            <a:avLst/>
          </a:prstGeom>
          <a:solidFill>
            <a:srgbClr val="F2F2F2"/>
          </a:solidFill>
          <a:ln w="9525">
            <a:solidFill>
              <a:srgbClr val="7F7F7F"/>
            </a:solidFill>
            <a:prstDash val="solid"/>
          </a:ln>
        </p:spPr>
      </p:sp>
      <p:sp>
        <p:nvSpPr>
          <p:cNvPr id="8" name="inb-94"/>
          <p:cNvSpPr/>
          <p:nvPr/>
        </p:nvSpPr>
        <p:spPr>
          <a:xfrm>
            <a:off x="548640" y="1280160"/>
            <a:ext cx="3566160" cy="73152"/>
          </a:xfrm>
          <a:prstGeom prst="rect">
            <a:avLst/>
          </a:prstGeom>
          <a:solidFill>
            <a:srgbClr val="960000"/>
          </a:solidFill>
          <a:ln w="12700">
            <a:solidFill>
              <a:srgbClr val="960000"/>
            </a:solidFill>
            <a:prstDash val="solid"/>
          </a:ln>
        </p:spPr>
      </p:sp>
      <p:sp>
        <p:nvSpPr>
          <p:cNvPr id="9" name="t-95"/>
          <p:cNvSpPr txBox="1"/>
          <p:nvPr/>
        </p:nvSpPr>
        <p:spPr>
          <a:xfrm>
            <a:off x="68580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Cross-video context recovery</a:t>
            </a:r>
            <a:endParaRPr lang="en-US" sz="1700" dirty="0"/>
          </a:p>
        </p:txBody>
      </p:sp>
      <p:sp>
        <p:nvSpPr>
          <p:cNvPr id="10" name="t-96"/>
          <p:cNvSpPr txBox="1"/>
          <p:nvPr/>
        </p:nvSpPr>
        <p:spPr>
          <a:xfrm>
            <a:off x="73152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Detects "as we discussed earlier" and "in the next video" with 6 backward and 7 forward patterns, suggests the recording that explains it, and links it on confirmation.</a:t>
            </a:r>
            <a:endParaRPr lang="en-US" sz="1400" dirty="0"/>
          </a:p>
        </p:txBody>
      </p:sp>
      <p:sp>
        <p:nvSpPr>
          <p:cNvPr id="11" name="in-97"/>
          <p:cNvSpPr/>
          <p:nvPr/>
        </p:nvSpPr>
        <p:spPr>
          <a:xfrm>
            <a:off x="4297680" y="1280160"/>
            <a:ext cx="3566160" cy="2286000"/>
          </a:xfrm>
          <a:prstGeom prst="rect">
            <a:avLst/>
          </a:prstGeom>
          <a:solidFill>
            <a:srgbClr val="F2F2F2"/>
          </a:solidFill>
          <a:ln w="9525">
            <a:solidFill>
              <a:srgbClr val="7F7F7F"/>
            </a:solidFill>
            <a:prstDash val="solid"/>
          </a:ln>
        </p:spPr>
      </p:sp>
      <p:sp>
        <p:nvSpPr>
          <p:cNvPr id="12" name="inb-98"/>
          <p:cNvSpPr/>
          <p:nvPr/>
        </p:nvSpPr>
        <p:spPr>
          <a:xfrm>
            <a:off x="4297680" y="1280160"/>
            <a:ext cx="3566160" cy="73152"/>
          </a:xfrm>
          <a:prstGeom prst="rect">
            <a:avLst/>
          </a:prstGeom>
          <a:solidFill>
            <a:srgbClr val="960000"/>
          </a:solidFill>
          <a:ln w="12700">
            <a:solidFill>
              <a:srgbClr val="960000"/>
            </a:solidFill>
            <a:prstDash val="solid"/>
          </a:ln>
        </p:spPr>
      </p:sp>
      <p:sp>
        <p:nvSpPr>
          <p:cNvPr id="13" name="t-99"/>
          <p:cNvSpPr txBox="1"/>
          <p:nvPr/>
        </p:nvSpPr>
        <p:spPr>
          <a:xfrm>
            <a:off x="443484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Remembered missing explanations</a:t>
            </a:r>
            <a:endParaRPr lang="en-US" sz="1700" dirty="0"/>
          </a:p>
        </p:txBody>
      </p:sp>
      <p:sp>
        <p:nvSpPr>
          <p:cNvPr id="14" name="t-100"/>
          <p:cNvSpPr txBox="1"/>
          <p:nvPr/>
        </p:nvSpPr>
        <p:spPr>
          <a:xfrm>
            <a:off x="448056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 reference with no source yet is remembered and re-checked after every upload. When a match appears, the user gets one notification.</a:t>
            </a:r>
            <a:endParaRPr lang="en-US" sz="1400" dirty="0"/>
          </a:p>
        </p:txBody>
      </p:sp>
      <p:sp>
        <p:nvSpPr>
          <p:cNvPr id="15" name="in-101"/>
          <p:cNvSpPr/>
          <p:nvPr/>
        </p:nvSpPr>
        <p:spPr>
          <a:xfrm>
            <a:off x="8046720" y="1280160"/>
            <a:ext cx="3566160" cy="2286000"/>
          </a:xfrm>
          <a:prstGeom prst="rect">
            <a:avLst/>
          </a:prstGeom>
          <a:solidFill>
            <a:srgbClr val="F2F2F2"/>
          </a:solidFill>
          <a:ln w="9525">
            <a:solidFill>
              <a:srgbClr val="7F7F7F"/>
            </a:solidFill>
            <a:prstDash val="solid"/>
          </a:ln>
        </p:spPr>
      </p:sp>
      <p:sp>
        <p:nvSpPr>
          <p:cNvPr id="16" name="inb-102"/>
          <p:cNvSpPr/>
          <p:nvPr/>
        </p:nvSpPr>
        <p:spPr>
          <a:xfrm>
            <a:off x="8046720" y="1280160"/>
            <a:ext cx="3566160" cy="73152"/>
          </a:xfrm>
          <a:prstGeom prst="rect">
            <a:avLst/>
          </a:prstGeom>
          <a:solidFill>
            <a:srgbClr val="960000"/>
          </a:solidFill>
          <a:ln w="12700">
            <a:solidFill>
              <a:srgbClr val="960000"/>
            </a:solidFill>
            <a:prstDash val="solid"/>
          </a:ln>
        </p:spPr>
      </p:sp>
      <p:sp>
        <p:nvSpPr>
          <p:cNvPr id="17" name="t-103"/>
          <p:cNvSpPr txBox="1"/>
          <p:nvPr/>
        </p:nvSpPr>
        <p:spPr>
          <a:xfrm>
            <a:off x="8183880" y="146304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Citation-enforced answers</a:t>
            </a:r>
            <a:endParaRPr lang="en-US" sz="1700" dirty="0"/>
          </a:p>
        </p:txBody>
      </p:sp>
      <p:sp>
        <p:nvSpPr>
          <p:cNvPr id="18" name="t-104"/>
          <p:cNvSpPr txBox="1"/>
          <p:nvPr/>
        </p:nvSpPr>
        <p:spPr>
          <a:xfrm>
            <a:off x="8229600" y="192024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Answers use only the user's transcripts and notes. Each claim cites [n] with a playable timestamp; an uncited reply is discarded.</a:t>
            </a:r>
            <a:endParaRPr lang="en-US" sz="1400" dirty="0"/>
          </a:p>
        </p:txBody>
      </p:sp>
      <p:sp>
        <p:nvSpPr>
          <p:cNvPr id="19" name="in-105"/>
          <p:cNvSpPr/>
          <p:nvPr/>
        </p:nvSpPr>
        <p:spPr>
          <a:xfrm>
            <a:off x="548640" y="3749040"/>
            <a:ext cx="3566160" cy="2286000"/>
          </a:xfrm>
          <a:prstGeom prst="rect">
            <a:avLst/>
          </a:prstGeom>
          <a:solidFill>
            <a:srgbClr val="F2F2F2"/>
          </a:solidFill>
          <a:ln w="9525">
            <a:solidFill>
              <a:srgbClr val="7F7F7F"/>
            </a:solidFill>
            <a:prstDash val="solid"/>
          </a:ln>
        </p:spPr>
      </p:sp>
      <p:sp>
        <p:nvSpPr>
          <p:cNvPr id="20" name="inb-106"/>
          <p:cNvSpPr/>
          <p:nvPr/>
        </p:nvSpPr>
        <p:spPr>
          <a:xfrm>
            <a:off x="548640" y="3749040"/>
            <a:ext cx="3566160" cy="73152"/>
          </a:xfrm>
          <a:prstGeom prst="rect">
            <a:avLst/>
          </a:prstGeom>
          <a:solidFill>
            <a:srgbClr val="960000"/>
          </a:solidFill>
          <a:ln w="12700">
            <a:solidFill>
              <a:srgbClr val="960000"/>
            </a:solidFill>
            <a:prstDash val="solid"/>
          </a:ln>
        </p:spPr>
      </p:sp>
      <p:sp>
        <p:nvSpPr>
          <p:cNvPr id="21" name="t-107"/>
          <p:cNvSpPr txBox="1"/>
          <p:nvPr/>
        </p:nvSpPr>
        <p:spPr>
          <a:xfrm>
            <a:off x="68580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Resilient, low-cost AI</a:t>
            </a:r>
            <a:endParaRPr lang="en-US" sz="1700" dirty="0"/>
          </a:p>
        </p:txBody>
      </p:sp>
      <p:sp>
        <p:nvSpPr>
          <p:cNvPr id="22" name="t-108"/>
          <p:cNvSpPr txBox="1"/>
          <p:nvPr/>
        </p:nvSpPr>
        <p:spPr>
          <a:xfrm>
            <a:off x="73152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Model chain Bedrock, OpenAI, Groq, Gemini, then extractive notes, so the product keeps working when one provider fails.</a:t>
            </a:r>
            <a:endParaRPr lang="en-US" sz="1400" dirty="0"/>
          </a:p>
        </p:txBody>
      </p:sp>
      <p:sp>
        <p:nvSpPr>
          <p:cNvPr id="23" name="in-109"/>
          <p:cNvSpPr/>
          <p:nvPr/>
        </p:nvSpPr>
        <p:spPr>
          <a:xfrm>
            <a:off x="4297680" y="3749040"/>
            <a:ext cx="3566160" cy="2286000"/>
          </a:xfrm>
          <a:prstGeom prst="rect">
            <a:avLst/>
          </a:prstGeom>
          <a:solidFill>
            <a:srgbClr val="F2F2F2"/>
          </a:solidFill>
          <a:ln w="9525">
            <a:solidFill>
              <a:srgbClr val="7F7F7F"/>
            </a:solidFill>
            <a:prstDash val="solid"/>
          </a:ln>
        </p:spPr>
      </p:sp>
      <p:sp>
        <p:nvSpPr>
          <p:cNvPr id="24" name="inb-110"/>
          <p:cNvSpPr/>
          <p:nvPr/>
        </p:nvSpPr>
        <p:spPr>
          <a:xfrm>
            <a:off x="4297680" y="3749040"/>
            <a:ext cx="3566160" cy="73152"/>
          </a:xfrm>
          <a:prstGeom prst="rect">
            <a:avLst/>
          </a:prstGeom>
          <a:solidFill>
            <a:srgbClr val="960000"/>
          </a:solidFill>
          <a:ln w="12700">
            <a:solidFill>
              <a:srgbClr val="960000"/>
            </a:solidFill>
            <a:prstDash val="solid"/>
          </a:ln>
        </p:spPr>
      </p:sp>
      <p:sp>
        <p:nvSpPr>
          <p:cNvPr id="25" name="t-111"/>
          <p:cNvSpPr txBox="1"/>
          <p:nvPr/>
        </p:nvSpPr>
        <p:spPr>
          <a:xfrm>
            <a:off x="443484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Notes vs Video comparison</a:t>
            </a:r>
            <a:endParaRPr lang="en-US" sz="1700" dirty="0"/>
          </a:p>
        </p:txBody>
      </p:sp>
      <p:sp>
        <p:nvSpPr>
          <p:cNvPr id="26" name="t-112"/>
          <p:cNvSpPr txBox="1"/>
          <p:nvPr/>
        </p:nvSpPr>
        <p:spPr>
          <a:xfrm>
            <a:off x="448056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Compares the learner's own notes with the lecture and shows what was missed, with timestamps.</a:t>
            </a:r>
            <a:endParaRPr lang="en-US" sz="1400" dirty="0"/>
          </a:p>
        </p:txBody>
      </p:sp>
      <p:sp>
        <p:nvSpPr>
          <p:cNvPr id="27" name="in-113"/>
          <p:cNvSpPr/>
          <p:nvPr/>
        </p:nvSpPr>
        <p:spPr>
          <a:xfrm>
            <a:off x="8046720" y="3749040"/>
            <a:ext cx="3566160" cy="2286000"/>
          </a:xfrm>
          <a:prstGeom prst="rect">
            <a:avLst/>
          </a:prstGeom>
          <a:solidFill>
            <a:srgbClr val="F2F2F2"/>
          </a:solidFill>
          <a:ln w="9525">
            <a:solidFill>
              <a:srgbClr val="7F7F7F"/>
            </a:solidFill>
            <a:prstDash val="solid"/>
          </a:ln>
        </p:spPr>
      </p:sp>
      <p:sp>
        <p:nvSpPr>
          <p:cNvPr id="28" name="inb-114"/>
          <p:cNvSpPr/>
          <p:nvPr/>
        </p:nvSpPr>
        <p:spPr>
          <a:xfrm>
            <a:off x="8046720" y="3749040"/>
            <a:ext cx="3566160" cy="73152"/>
          </a:xfrm>
          <a:prstGeom prst="rect">
            <a:avLst/>
          </a:prstGeom>
          <a:solidFill>
            <a:srgbClr val="960000"/>
          </a:solidFill>
          <a:ln w="12700">
            <a:solidFill>
              <a:srgbClr val="960000"/>
            </a:solidFill>
            <a:prstDash val="solid"/>
          </a:ln>
        </p:spPr>
      </p:sp>
      <p:sp>
        <p:nvSpPr>
          <p:cNvPr id="29" name="t-115"/>
          <p:cNvSpPr txBox="1"/>
          <p:nvPr/>
        </p:nvSpPr>
        <p:spPr>
          <a:xfrm>
            <a:off x="8183880" y="3931920"/>
            <a:ext cx="3291840" cy="411480"/>
          </a:xfrm>
          <a:prstGeom prst="rect">
            <a:avLst/>
          </a:prstGeom>
          <a:noFill/>
          <a:ln/>
        </p:spPr>
        <p:txBody>
          <a:bodyPr wrap="square" lIns="0" tIns="0" rIns="0" bIns="0" rtlCol="0" anchor="ctr"/>
          <a:lstStyle/>
          <a:p>
            <a:pPr algn="ctr" indent="0" marL="0">
              <a:buNone/>
            </a:pPr>
            <a:r>
              <a:rPr lang="en-US" sz="1700" b="1" dirty="0">
                <a:solidFill>
                  <a:srgbClr val="960000"/>
                </a:solidFill>
                <a:latin typeface="Times New Roman" pitchFamily="34" charset="0"/>
                <a:ea typeface="Times New Roman" pitchFamily="34" charset="-122"/>
                <a:cs typeface="Times New Roman" pitchFamily="34" charset="-120"/>
              </a:rPr>
              <a:t>Library map and gaps report</a:t>
            </a:r>
            <a:endParaRPr lang="en-US" sz="1700" dirty="0"/>
          </a:p>
        </p:txBody>
      </p:sp>
      <p:sp>
        <p:nvSpPr>
          <p:cNvPr id="30" name="t-116"/>
          <p:cNvSpPr txBox="1"/>
          <p:nvPr/>
        </p:nvSpPr>
        <p:spPr>
          <a:xfrm>
            <a:off x="8229600" y="4389120"/>
            <a:ext cx="3200400" cy="1554480"/>
          </a:xfrm>
          <a:prstGeom prst="rect">
            <a:avLst/>
          </a:prstGeom>
          <a:noFill/>
          <a:ln/>
        </p:spPr>
        <p:txBody>
          <a:bodyPr wrap="square" lIns="0" tIns="0" rIns="0" bIns="0" rtlCol="0" anchor="t"/>
          <a:lstStyle/>
          <a:p>
            <a:pPr indent="0" marL="0">
              <a:buNone/>
            </a:pPr>
            <a:r>
              <a:rPr lang="en-US" sz="1400" dirty="0">
                <a:solidFill>
                  <a:srgbClr val="000000"/>
                </a:solidFill>
                <a:latin typeface="Calibri" pitchFamily="34" charset="0"/>
                <a:ea typeface="Calibri" pitchFamily="34" charset="-122"/>
                <a:cs typeface="Calibri" pitchFamily="34" charset="-120"/>
              </a:rPr>
              <a:t>A dependency graph of recordings, a suggested watch order and a list of topics no recording explains, with labelled "Know more" explanations.</a:t>
            </a:r>
            <a:endParaRPr lang="en-US" sz="1400" dirty="0"/>
          </a:p>
        </p:txBody>
      </p:sp>
      <p:sp>
        <p:nvSpPr>
          <p:cNvPr id="31" name="t-117"/>
          <p:cNvSpPr txBox="1"/>
          <p:nvPr/>
        </p:nvSpPr>
        <p:spPr>
          <a:xfrm>
            <a:off x="548640" y="5989320"/>
            <a:ext cx="11064240" cy="320040"/>
          </a:xfrm>
          <a:prstGeom prst="rect">
            <a:avLst/>
          </a:prstGeom>
          <a:noFill/>
          <a:ln/>
        </p:spPr>
        <p:txBody>
          <a:bodyPr wrap="square" lIns="0" tIns="0" rIns="0" bIns="0" rtlCol="0" anchor="ctr"/>
          <a:lstStyle/>
          <a:p>
            <a:pPr algn="ctr" indent="0" marL="0">
              <a:buNone/>
            </a:pPr>
            <a:r>
              <a:rPr lang="en-US" sz="1200" i="1" dirty="0">
                <a:solidFill>
                  <a:srgbClr val="404040"/>
                </a:solidFill>
                <a:latin typeface="Calibri" pitchFamily="34" charset="0"/>
                <a:ea typeface="Calibri" pitchFamily="34" charset="-122"/>
                <a:cs typeface="Calibri" pitchFamily="34" charset="-120"/>
              </a:rPr>
              <a:t>Novelty claim (hedged): among the tools we surveyed, we found none that detects references between recordings and remembers unresolved ones for later checking.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logo-11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1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Feasibility and Project Plan</a:t>
            </a:r>
            <a:endParaRPr lang="en-US" sz="4000" dirty="0"/>
          </a:p>
        </p:txBody>
      </p:sp>
      <p:sp>
        <p:nvSpPr>
          <p:cNvPr id="4" name="t-12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2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2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11</a:t>
            </a:r>
            <a:endParaRPr lang="en-US" sz="1100" dirty="0"/>
          </a:p>
        </p:txBody>
      </p:sp>
      <p:graphicFrame>
        <p:nvGraphicFramePr>
          <p:cNvPr id="12" name="tbl-123"/>
          <p:cNvGraphicFramePr>
            <a:graphicFrameLocks noGrp="1"/>
          </p:cNvGraphicFramePr>
          <p:nvPr>
            <p:extLst>
              <p:ext uri="{D42A27DB-BD31-4B8C-83A1-F6EECF244321}">
                <p14:modId xmlns:p14="http://schemas.microsoft.com/office/powerpoint/2010/main" val="1579011935"/>
              </p:ext>
            </p:extLst>
          </p:nvPr>
        </p:nvGraphicFramePr>
        <p:xfrm>
          <a:off x="548640" y="1280160"/>
          <a:ext cx="5760720" cy="914400"/>
        </p:xfrm>
        <a:graphic>
          <a:graphicData uri="http://schemas.openxmlformats.org/drawingml/2006/table">
            <a:tbl>
              <a:tblPr/>
              <a:tblGrid>
                <a:gridCol w="1371600"/>
                <a:gridCol w="4389120"/>
              </a:tblGrid>
              <a:tr h="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Feasibility</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Assessment</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Technical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Managed AWS services (Transcribe, Lambda, DynamoDB, Cognito, Bedrock) cover every component; built and deployed by a 3-member team</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Economic</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Pay-per-use serverless: AWS cost for Oct 2026 was about 0.00 USD (Cost Explorer); AI billed per request</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Operational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Runs in any browser and on mobile; one-command deploy and teardown (infra/deploy.sh)</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Legal / Ethical</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Each user's data is private; AI output is cited or clearly labelled as general explanation</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8" name="t-124"/>
          <p:cNvSpPr txBox="1"/>
          <p:nvPr/>
        </p:nvSpPr>
        <p:spPr>
          <a:xfrm>
            <a:off x="6583680" y="1325880"/>
            <a:ext cx="512064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Project plan (weeks)</a:t>
            </a:r>
            <a:endParaRPr lang="en-US" sz="1600" dirty="0"/>
          </a:p>
        </p:txBody>
      </p:sp>
      <p:sp>
        <p:nvSpPr>
          <p:cNvPr id="9" name="t-125"/>
          <p:cNvSpPr txBox="1"/>
          <p:nvPr/>
        </p:nvSpPr>
        <p:spPr>
          <a:xfrm>
            <a:off x="8686800"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1</a:t>
            </a:r>
            <a:endParaRPr lang="en-US" sz="1000" dirty="0"/>
          </a:p>
        </p:txBody>
      </p:sp>
      <p:sp>
        <p:nvSpPr>
          <p:cNvPr id="10" name="t-126"/>
          <p:cNvSpPr txBox="1"/>
          <p:nvPr/>
        </p:nvSpPr>
        <p:spPr>
          <a:xfrm>
            <a:off x="8988552"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2</a:t>
            </a:r>
            <a:endParaRPr lang="en-US" sz="1000" dirty="0"/>
          </a:p>
        </p:txBody>
      </p:sp>
      <p:sp>
        <p:nvSpPr>
          <p:cNvPr id="11" name="t-127"/>
          <p:cNvSpPr txBox="1"/>
          <p:nvPr/>
        </p:nvSpPr>
        <p:spPr>
          <a:xfrm>
            <a:off x="9290304"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3</a:t>
            </a:r>
            <a:endParaRPr lang="en-US" sz="1000" dirty="0"/>
          </a:p>
        </p:txBody>
      </p:sp>
      <p:sp>
        <p:nvSpPr>
          <p:cNvPr id="12" name="t-128"/>
          <p:cNvSpPr txBox="1"/>
          <p:nvPr/>
        </p:nvSpPr>
        <p:spPr>
          <a:xfrm>
            <a:off x="9592056"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4</a:t>
            </a:r>
            <a:endParaRPr lang="en-US" sz="1000" dirty="0"/>
          </a:p>
        </p:txBody>
      </p:sp>
      <p:sp>
        <p:nvSpPr>
          <p:cNvPr id="13" name="t-129"/>
          <p:cNvSpPr txBox="1"/>
          <p:nvPr/>
        </p:nvSpPr>
        <p:spPr>
          <a:xfrm>
            <a:off x="9893808"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5</a:t>
            </a:r>
            <a:endParaRPr lang="en-US" sz="1000" dirty="0"/>
          </a:p>
        </p:txBody>
      </p:sp>
      <p:sp>
        <p:nvSpPr>
          <p:cNvPr id="14" name="t-130"/>
          <p:cNvSpPr txBox="1"/>
          <p:nvPr/>
        </p:nvSpPr>
        <p:spPr>
          <a:xfrm>
            <a:off x="10195560"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6</a:t>
            </a:r>
            <a:endParaRPr lang="en-US" sz="1000" dirty="0"/>
          </a:p>
        </p:txBody>
      </p:sp>
      <p:sp>
        <p:nvSpPr>
          <p:cNvPr id="15" name="t-131"/>
          <p:cNvSpPr txBox="1"/>
          <p:nvPr/>
        </p:nvSpPr>
        <p:spPr>
          <a:xfrm>
            <a:off x="10497312"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7</a:t>
            </a:r>
            <a:endParaRPr lang="en-US" sz="1000" dirty="0"/>
          </a:p>
        </p:txBody>
      </p:sp>
      <p:sp>
        <p:nvSpPr>
          <p:cNvPr id="16" name="t-132"/>
          <p:cNvSpPr txBox="1"/>
          <p:nvPr/>
        </p:nvSpPr>
        <p:spPr>
          <a:xfrm>
            <a:off x="10799064"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8</a:t>
            </a:r>
            <a:endParaRPr lang="en-US" sz="1000" dirty="0"/>
          </a:p>
        </p:txBody>
      </p:sp>
      <p:sp>
        <p:nvSpPr>
          <p:cNvPr id="17" name="t-133"/>
          <p:cNvSpPr txBox="1"/>
          <p:nvPr/>
        </p:nvSpPr>
        <p:spPr>
          <a:xfrm>
            <a:off x="11100816"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9</a:t>
            </a:r>
            <a:endParaRPr lang="en-US" sz="1000" dirty="0"/>
          </a:p>
        </p:txBody>
      </p:sp>
      <p:sp>
        <p:nvSpPr>
          <p:cNvPr id="18" name="t-134"/>
          <p:cNvSpPr txBox="1"/>
          <p:nvPr/>
        </p:nvSpPr>
        <p:spPr>
          <a:xfrm>
            <a:off x="11402568" y="1691640"/>
            <a:ext cx="301752" cy="274320"/>
          </a:xfrm>
          <a:prstGeom prst="rect">
            <a:avLst/>
          </a:prstGeom>
          <a:noFill/>
          <a:ln/>
        </p:spPr>
        <p:txBody>
          <a:bodyPr wrap="square" lIns="0" tIns="0" rIns="0" bIns="0" rtlCol="0" anchor="ctr"/>
          <a:lstStyle/>
          <a:p>
            <a:pPr algn="ctr" indent="0" marL="0">
              <a:buNone/>
            </a:pPr>
            <a:r>
              <a:rPr lang="en-US" sz="1000" dirty="0">
                <a:solidFill>
                  <a:srgbClr val="404040"/>
                </a:solidFill>
                <a:latin typeface="Calibri" pitchFamily="34" charset="0"/>
                <a:ea typeface="Calibri" pitchFamily="34" charset="-122"/>
                <a:cs typeface="Calibri" pitchFamily="34" charset="-120"/>
              </a:rPr>
              <a:t>10</a:t>
            </a:r>
            <a:endParaRPr lang="en-US" sz="1000" dirty="0"/>
          </a:p>
        </p:txBody>
      </p:sp>
      <p:sp>
        <p:nvSpPr>
          <p:cNvPr id="19" name="t-135"/>
          <p:cNvSpPr txBox="1"/>
          <p:nvPr/>
        </p:nvSpPr>
        <p:spPr>
          <a:xfrm>
            <a:off x="6583680" y="2057400"/>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Problem study &amp; literature survey</a:t>
            </a:r>
            <a:endParaRPr lang="en-US" sz="1150" dirty="0"/>
          </a:p>
        </p:txBody>
      </p:sp>
      <p:sp>
        <p:nvSpPr>
          <p:cNvPr id="20" name="bar-136"/>
          <p:cNvSpPr/>
          <p:nvPr/>
        </p:nvSpPr>
        <p:spPr>
          <a:xfrm>
            <a:off x="8686800" y="2130552"/>
            <a:ext cx="603504" cy="310896"/>
          </a:xfrm>
          <a:prstGeom prst="rect">
            <a:avLst/>
          </a:prstGeom>
          <a:solidFill>
            <a:srgbClr val="7F7F7F"/>
          </a:solidFill>
          <a:ln w="12700">
            <a:solidFill>
              <a:srgbClr val="FFFFFF"/>
            </a:solidFill>
            <a:prstDash val="solid"/>
          </a:ln>
        </p:spPr>
      </p:sp>
      <p:sp>
        <p:nvSpPr>
          <p:cNvPr id="21" name="t-137"/>
          <p:cNvSpPr txBox="1"/>
          <p:nvPr/>
        </p:nvSpPr>
        <p:spPr>
          <a:xfrm>
            <a:off x="8686800" y="2130552"/>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a:t>
            </a:r>
            <a:endParaRPr lang="en-US" sz="950" dirty="0"/>
          </a:p>
        </p:txBody>
      </p:sp>
      <p:sp>
        <p:nvSpPr>
          <p:cNvPr id="22" name="t-138"/>
          <p:cNvSpPr txBox="1"/>
          <p:nvPr/>
        </p:nvSpPr>
        <p:spPr>
          <a:xfrm>
            <a:off x="6583680" y="2679192"/>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Requirements &amp; architecture</a:t>
            </a:r>
            <a:endParaRPr lang="en-US" sz="1150" dirty="0"/>
          </a:p>
        </p:txBody>
      </p:sp>
      <p:sp>
        <p:nvSpPr>
          <p:cNvPr id="23" name="bar-139"/>
          <p:cNvSpPr/>
          <p:nvPr/>
        </p:nvSpPr>
        <p:spPr>
          <a:xfrm>
            <a:off x="8988552" y="2752344"/>
            <a:ext cx="603504" cy="310896"/>
          </a:xfrm>
          <a:prstGeom prst="rect">
            <a:avLst/>
          </a:prstGeom>
          <a:solidFill>
            <a:srgbClr val="7F7F7F"/>
          </a:solidFill>
          <a:ln w="12700">
            <a:solidFill>
              <a:srgbClr val="FFFFFF"/>
            </a:solidFill>
            <a:prstDash val="solid"/>
          </a:ln>
        </p:spPr>
      </p:sp>
      <p:sp>
        <p:nvSpPr>
          <p:cNvPr id="24" name="t-140"/>
          <p:cNvSpPr txBox="1"/>
          <p:nvPr/>
        </p:nvSpPr>
        <p:spPr>
          <a:xfrm>
            <a:off x="8988552" y="2752344"/>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a:t>
            </a:r>
            <a:endParaRPr lang="en-US" sz="950" dirty="0"/>
          </a:p>
        </p:txBody>
      </p:sp>
      <p:sp>
        <p:nvSpPr>
          <p:cNvPr id="25" name="t-141"/>
          <p:cNvSpPr txBox="1"/>
          <p:nvPr/>
        </p:nvSpPr>
        <p:spPr>
          <a:xfrm>
            <a:off x="6583680" y="3300984"/>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Core engine (notes, search, references)</a:t>
            </a:r>
            <a:endParaRPr lang="en-US" sz="1150" dirty="0"/>
          </a:p>
        </p:txBody>
      </p:sp>
      <p:sp>
        <p:nvSpPr>
          <p:cNvPr id="26" name="bar-142"/>
          <p:cNvSpPr/>
          <p:nvPr/>
        </p:nvSpPr>
        <p:spPr>
          <a:xfrm>
            <a:off x="9290304" y="3374136"/>
            <a:ext cx="1207008" cy="310896"/>
          </a:xfrm>
          <a:prstGeom prst="rect">
            <a:avLst/>
          </a:prstGeom>
          <a:solidFill>
            <a:srgbClr val="C55A11"/>
          </a:solidFill>
          <a:ln w="12700">
            <a:solidFill>
              <a:srgbClr val="FFFFFF"/>
            </a:solidFill>
            <a:prstDash val="solid"/>
          </a:ln>
        </p:spPr>
      </p:sp>
      <p:sp>
        <p:nvSpPr>
          <p:cNvPr id="27" name="t-143"/>
          <p:cNvSpPr txBox="1"/>
          <p:nvPr/>
        </p:nvSpPr>
        <p:spPr>
          <a:xfrm>
            <a:off x="9290304" y="3374136"/>
            <a:ext cx="120700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a:t>
            </a:r>
            <a:endParaRPr lang="en-US" sz="950" dirty="0"/>
          </a:p>
        </p:txBody>
      </p:sp>
      <p:sp>
        <p:nvSpPr>
          <p:cNvPr id="28" name="t-144"/>
          <p:cNvSpPr txBox="1"/>
          <p:nvPr/>
        </p:nvSpPr>
        <p:spPr>
          <a:xfrm>
            <a:off x="6583680" y="3922776"/>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Web app &amp; AWS deployment</a:t>
            </a:r>
            <a:endParaRPr lang="en-US" sz="1150" dirty="0"/>
          </a:p>
        </p:txBody>
      </p:sp>
      <p:sp>
        <p:nvSpPr>
          <p:cNvPr id="29" name="bar-145"/>
          <p:cNvSpPr/>
          <p:nvPr/>
        </p:nvSpPr>
        <p:spPr>
          <a:xfrm>
            <a:off x="9893808" y="3995928"/>
            <a:ext cx="1207008" cy="310896"/>
          </a:xfrm>
          <a:prstGeom prst="rect">
            <a:avLst/>
          </a:prstGeom>
          <a:solidFill>
            <a:srgbClr val="C55A11"/>
          </a:solidFill>
          <a:ln w="12700">
            <a:solidFill>
              <a:srgbClr val="FFFFFF"/>
            </a:solidFill>
            <a:prstDash val="solid"/>
          </a:ln>
        </p:spPr>
      </p:sp>
      <p:sp>
        <p:nvSpPr>
          <p:cNvPr id="30" name="t-146"/>
          <p:cNvSpPr txBox="1"/>
          <p:nvPr/>
        </p:nvSpPr>
        <p:spPr>
          <a:xfrm>
            <a:off x="9893808" y="3995928"/>
            <a:ext cx="120700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a:t>
            </a:r>
            <a:endParaRPr lang="en-US" sz="950" dirty="0"/>
          </a:p>
        </p:txBody>
      </p:sp>
      <p:sp>
        <p:nvSpPr>
          <p:cNvPr id="31" name="t-147"/>
          <p:cNvSpPr txBox="1"/>
          <p:nvPr/>
        </p:nvSpPr>
        <p:spPr>
          <a:xfrm>
            <a:off x="6583680" y="4544568"/>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AI chain, Ask &amp; Know more</a:t>
            </a:r>
            <a:endParaRPr lang="en-US" sz="1150" dirty="0"/>
          </a:p>
        </p:txBody>
      </p:sp>
      <p:sp>
        <p:nvSpPr>
          <p:cNvPr id="32" name="bar-148"/>
          <p:cNvSpPr/>
          <p:nvPr/>
        </p:nvSpPr>
        <p:spPr>
          <a:xfrm>
            <a:off x="10497312" y="4617720"/>
            <a:ext cx="905256" cy="310896"/>
          </a:xfrm>
          <a:prstGeom prst="rect">
            <a:avLst/>
          </a:prstGeom>
          <a:solidFill>
            <a:srgbClr val="960000"/>
          </a:solidFill>
          <a:ln w="12700">
            <a:solidFill>
              <a:srgbClr val="FFFFFF"/>
            </a:solidFill>
            <a:prstDash val="solid"/>
          </a:ln>
        </p:spPr>
      </p:sp>
      <p:sp>
        <p:nvSpPr>
          <p:cNvPr id="33" name="t-149"/>
          <p:cNvSpPr txBox="1"/>
          <p:nvPr/>
        </p:nvSpPr>
        <p:spPr>
          <a:xfrm>
            <a:off x="10497312" y="4617720"/>
            <a:ext cx="90525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PRC-III</a:t>
            </a:r>
            <a:endParaRPr lang="en-US" sz="950" dirty="0"/>
          </a:p>
        </p:txBody>
      </p:sp>
      <p:sp>
        <p:nvSpPr>
          <p:cNvPr id="34" name="t-150"/>
          <p:cNvSpPr txBox="1"/>
          <p:nvPr/>
        </p:nvSpPr>
        <p:spPr>
          <a:xfrm>
            <a:off x="6583680" y="5166360"/>
            <a:ext cx="2011680" cy="457200"/>
          </a:xfrm>
          <a:prstGeom prst="rect">
            <a:avLst/>
          </a:prstGeom>
          <a:noFill/>
          <a:ln/>
        </p:spPr>
        <p:txBody>
          <a:bodyPr wrap="square" lIns="0" tIns="0" rIns="0" bIns="0" rtlCol="0" anchor="ctr"/>
          <a:lstStyle/>
          <a:p>
            <a:pPr indent="0" marL="0">
              <a:buNone/>
            </a:pPr>
            <a:r>
              <a:rPr lang="en-US" sz="1150" dirty="0">
                <a:solidFill>
                  <a:srgbClr val="000000"/>
                </a:solidFill>
                <a:latin typeface="Calibri" pitchFamily="34" charset="0"/>
                <a:ea typeface="Calibri" pitchFamily="34" charset="-122"/>
                <a:cs typeface="Calibri" pitchFamily="34" charset="-120"/>
              </a:rPr>
              <a:t>Testing, reports &amp; paper</a:t>
            </a:r>
            <a:endParaRPr lang="en-US" sz="1150" dirty="0"/>
          </a:p>
        </p:txBody>
      </p:sp>
      <p:sp>
        <p:nvSpPr>
          <p:cNvPr id="35" name="bar-151"/>
          <p:cNvSpPr/>
          <p:nvPr/>
        </p:nvSpPr>
        <p:spPr>
          <a:xfrm>
            <a:off x="11100816" y="5239512"/>
            <a:ext cx="603504" cy="310896"/>
          </a:xfrm>
          <a:prstGeom prst="rect">
            <a:avLst/>
          </a:prstGeom>
          <a:solidFill>
            <a:srgbClr val="960000"/>
          </a:solidFill>
          <a:ln w="12700">
            <a:solidFill>
              <a:srgbClr val="FFFFFF"/>
            </a:solidFill>
            <a:prstDash val="solid"/>
          </a:ln>
        </p:spPr>
      </p:sp>
      <p:sp>
        <p:nvSpPr>
          <p:cNvPr id="36" name="t-152"/>
          <p:cNvSpPr txBox="1"/>
          <p:nvPr/>
        </p:nvSpPr>
        <p:spPr>
          <a:xfrm>
            <a:off x="11100816" y="5239512"/>
            <a:ext cx="60350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PRC-III</a:t>
            </a:r>
            <a:endParaRPr lang="en-US" sz="950" dirty="0"/>
          </a:p>
        </p:txBody>
      </p:sp>
      <p:sp>
        <p:nvSpPr>
          <p:cNvPr id="37" name="t-153"/>
          <p:cNvSpPr txBox="1"/>
          <p:nvPr/>
        </p:nvSpPr>
        <p:spPr>
          <a:xfrm>
            <a:off x="6583680" y="5440680"/>
            <a:ext cx="5120640" cy="320040"/>
          </a:xfrm>
          <a:prstGeom prst="rect">
            <a:avLst/>
          </a:prstGeom>
          <a:noFill/>
          <a:ln/>
        </p:spPr>
        <p:txBody>
          <a:bodyPr wrap="square" lIns="0" tIns="0" rIns="0" bIns="0" rtlCol="0" anchor="ctr"/>
          <a:lstStyle/>
          <a:p>
            <a:pPr algn="ctr" indent="0" marL="0">
              <a:buNone/>
            </a:pPr>
            <a:r>
              <a:rPr lang="en-US" sz="1200" i="1" dirty="0">
                <a:solidFill>
                  <a:srgbClr val="404040"/>
                </a:solidFill>
                <a:latin typeface="Calibri" pitchFamily="34" charset="0"/>
                <a:ea typeface="Calibri" pitchFamily="34" charset="-122"/>
                <a:cs typeface="Calibri" pitchFamily="34" charset="-120"/>
              </a:rPr>
              <a:t>All phases complete; this review covers the PRC-III work.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logo-154"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55"/>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Existing Method</a:t>
            </a:r>
            <a:endParaRPr lang="en-US" sz="4000" dirty="0"/>
          </a:p>
        </p:txBody>
      </p:sp>
      <p:sp>
        <p:nvSpPr>
          <p:cNvPr id="4" name="t-156"/>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57"/>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58"/>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12</a:t>
            </a:r>
            <a:endParaRPr lang="en-US" sz="1100" dirty="0"/>
          </a:p>
        </p:txBody>
      </p:sp>
      <p:sp>
        <p:nvSpPr>
          <p:cNvPr id="7" name="t-159"/>
          <p:cNvSpPr txBox="1"/>
          <p:nvPr/>
        </p:nvSpPr>
        <p:spPr>
          <a:xfrm>
            <a:off x="914400" y="1325880"/>
            <a:ext cx="1033272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Current systems: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lecture-capture players and video platforms with auto-captions; separate AI chat tools that summarise a pasted transcript.</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Algorithms and models: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ASR (Transformer models such as Whisper), keyword search inside captions, abstractive LLM summarisation (BART/GPT-style).</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Data and preprocessing:</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one video at a time; captions are cleaned and shown as text, with no segmentation into linked moments.</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Architecture:</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player + caption track + optional chat assistant; no shared index across a user's recordings.</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Evaluation:</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ASR is judged by WER and summaries by ROUGE; neither measures whether a learner can verify a claim.</a:t>
            </a:r>
            <a:endParaRPr lang="en-US" sz="1800" dirty="0"/>
          </a:p>
          <a:p>
            <a:pPr marL="342900" indent="-342900">
              <a:spcAft>
                <a:spcPts val="600"/>
              </a:spcAft>
              <a:buSzPct val="100000"/>
              <a:buChar char="•"/>
            </a:pPr>
            <a:r>
              <a:rPr lang="en-US" sz="1800" b="1" dirty="0">
                <a:solidFill>
                  <a:srgbClr val="000000"/>
                </a:solidFill>
                <a:latin typeface="Calibri" pitchFamily="34" charset="0"/>
                <a:ea typeface="Calibri" pitchFamily="34" charset="-122"/>
                <a:cs typeface="Calibri" pitchFamily="34" charset="-120"/>
              </a:rPr>
              <a:t>Limitations:</a:t>
            </a:r>
            <a:pPr indent="0" marL="0">
              <a:spcAft>
                <a:spcPts val="600"/>
              </a:spcAft>
              <a:buNone/>
            </a:pPr>
            <a:r>
              <a:rPr lang="en-US" sz="1800" dirty="0">
                <a:solidFill>
                  <a:srgbClr val="000000"/>
                </a:solidFill>
                <a:latin typeface="Calibri" pitchFamily="34" charset="0"/>
                <a:ea typeface="Calibri" pitchFamily="34" charset="-122"/>
                <a:cs typeface="Calibri" pitchFamily="34" charset="-120"/>
              </a:rPr>
              <a:t> single-video scope; summaries and answers without citations or timestamps (hallucination risk); references to other recordings are dead ends; always-on servers or GPU indexes cost more for small libraries.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logo-160"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61"/>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Proposed Method</a:t>
            </a:r>
            <a:endParaRPr lang="en-US" sz="4000" dirty="0"/>
          </a:p>
        </p:txBody>
      </p:sp>
      <p:sp>
        <p:nvSpPr>
          <p:cNvPr id="4" name="t-162"/>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63"/>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64"/>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13</a:t>
            </a:r>
            <a:endParaRPr lang="en-US" sz="1100" dirty="0"/>
          </a:p>
        </p:txBody>
      </p:sp>
      <p:sp>
        <p:nvSpPr>
          <p:cNvPr id="7" name="t-165"/>
          <p:cNvSpPr txBox="1"/>
          <p:nvPr/>
        </p:nvSpPr>
        <p:spPr>
          <a:xfrm>
            <a:off x="822960" y="1325880"/>
            <a:ext cx="10515600" cy="48463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New approach:</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one private, serverless library where every note and answer is tied to a timestamp, and recordings are linked to each other.</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Algorithms: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Amazon Transcribe ASR; segmentation into timestamped moments; TF-IDF retrieval (Titan embeddings when Bedrock is enabled); citation-enforced retrieval-augmented answers; 13 regex reference patterns with candidate scoring; extractive notes as fallback.</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Models: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LLM chain Amazon Bedrock → OpenAI GPT → Groq → Gemini; the first that answers wins.</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Data and features: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the user's own uploads (8 media formats, 500 MB) or transcripts (SRT, VTT, Transcribe JSON, text); features are TF-IDF term weights, cosine similarity and reference cues.</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Workflow:</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upload → S3 → Transcribe → EventBridge → worker Lambda → notes, index, references → DynamoDB → web app.</a:t>
            </a:r>
            <a:endParaRPr lang="en-US" sz="1700" dirty="0"/>
          </a:p>
          <a:p>
            <a:pPr marL="342900" indent="-342900">
              <a:spcAft>
                <a:spcPts val="600"/>
              </a:spcAft>
              <a:buSzPct val="100000"/>
              <a:buChar char="•"/>
            </a:pPr>
            <a:r>
              <a:rPr lang="en-US" sz="1700" b="1" dirty="0">
                <a:solidFill>
                  <a:srgbClr val="000000"/>
                </a:solidFill>
                <a:latin typeface="Calibri" pitchFamily="34" charset="0"/>
                <a:ea typeface="Calibri" pitchFamily="34" charset="-122"/>
                <a:cs typeface="Calibri" pitchFamily="34" charset="-120"/>
              </a:rPr>
              <a:t>Improvements:</a:t>
            </a:r>
            <a:pPr indent="0" marL="0">
              <a:spcAft>
                <a:spcPts val="600"/>
              </a:spcAft>
              <a:buNone/>
            </a:pPr>
            <a:r>
              <a:rPr lang="en-US" sz="1700" dirty="0">
                <a:solidFill>
                  <a:srgbClr val="000000"/>
                </a:solidFill>
                <a:latin typeface="Calibri" pitchFamily="34" charset="0"/>
                <a:ea typeface="Calibri" pitchFamily="34" charset="-122"/>
                <a:cs typeface="Calibri" pitchFamily="34" charset="-120"/>
              </a:rPr>
              <a:t> answers always cite moments; uncited replies rejected; per-user isolation; server time ~15 ms per API call; near-zero idle cost.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logo-16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16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System Architecture/Proposed work Block diagram</a:t>
            </a:r>
            <a:endParaRPr lang="en-US" sz="3400" dirty="0"/>
          </a:p>
        </p:txBody>
      </p:sp>
      <p:sp>
        <p:nvSpPr>
          <p:cNvPr id="4" name="t-16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16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17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14</a:t>
            </a:r>
            <a:endParaRPr lang="en-US" sz="1100" dirty="0"/>
          </a:p>
        </p:txBody>
      </p:sp>
      <p:sp>
        <p:nvSpPr>
          <p:cNvPr id="7" name="t-171"/>
          <p:cNvSpPr txBox="1"/>
          <p:nvPr/>
        </p:nvSpPr>
        <p:spPr>
          <a:xfrm>
            <a:off x="32004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INPUT</a:t>
            </a:r>
            <a:endParaRPr lang="en-US" sz="1200" dirty="0"/>
          </a:p>
        </p:txBody>
      </p:sp>
      <p:sp>
        <p:nvSpPr>
          <p:cNvPr id="8" name="t-172"/>
          <p:cNvSpPr txBox="1"/>
          <p:nvPr/>
        </p:nvSpPr>
        <p:spPr>
          <a:xfrm>
            <a:off x="269748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PREPROCESSING</a:t>
            </a:r>
            <a:endParaRPr lang="en-US" sz="1200" dirty="0"/>
          </a:p>
        </p:txBody>
      </p:sp>
      <p:sp>
        <p:nvSpPr>
          <p:cNvPr id="9" name="t-173"/>
          <p:cNvSpPr txBox="1"/>
          <p:nvPr/>
        </p:nvSpPr>
        <p:spPr>
          <a:xfrm>
            <a:off x="507492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FEATURE EXTRACTION</a:t>
            </a:r>
            <a:endParaRPr lang="en-US" sz="1200" dirty="0"/>
          </a:p>
        </p:txBody>
      </p:sp>
      <p:sp>
        <p:nvSpPr>
          <p:cNvPr id="10" name="t-174"/>
          <p:cNvSpPr txBox="1"/>
          <p:nvPr/>
        </p:nvSpPr>
        <p:spPr>
          <a:xfrm>
            <a:off x="745236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MODEL</a:t>
            </a:r>
            <a:endParaRPr lang="en-US" sz="1200" dirty="0"/>
          </a:p>
        </p:txBody>
      </p:sp>
      <p:sp>
        <p:nvSpPr>
          <p:cNvPr id="11" name="t-175"/>
          <p:cNvSpPr txBox="1"/>
          <p:nvPr/>
        </p:nvSpPr>
        <p:spPr>
          <a:xfrm>
            <a:off x="9829800" y="1188720"/>
            <a:ext cx="2057400" cy="274320"/>
          </a:xfrm>
          <a:prstGeom prst="rect">
            <a:avLst/>
          </a:prstGeom>
          <a:noFill/>
          <a:ln/>
        </p:spPr>
        <p:txBody>
          <a:bodyPr wrap="square" lIns="0" tIns="0" rIns="0" bIns="0" rtlCol="0" anchor="ctr"/>
          <a:lstStyle/>
          <a:p>
            <a:pPr algn="ctr" indent="0" marL="0">
              <a:buNone/>
            </a:pPr>
            <a:r>
              <a:rPr lang="en-US" sz="1200" b="1" dirty="0">
                <a:solidFill>
                  <a:srgbClr val="960000"/>
                </a:solidFill>
                <a:latin typeface="Calibri" pitchFamily="34" charset="0"/>
                <a:ea typeface="Calibri" pitchFamily="34" charset="-122"/>
                <a:cs typeface="Calibri" pitchFamily="34" charset="-120"/>
              </a:rPr>
              <a:t>OUTPUT</a:t>
            </a:r>
            <a:endParaRPr lang="en-US" sz="1200" dirty="0"/>
          </a:p>
        </p:txBody>
      </p:sp>
      <p:sp>
        <p:nvSpPr>
          <p:cNvPr id="12" name="blk-176"/>
          <p:cNvSpPr/>
          <p:nvPr/>
        </p:nvSpPr>
        <p:spPr>
          <a:xfrm>
            <a:off x="320040" y="1554480"/>
            <a:ext cx="2057400" cy="868680"/>
          </a:xfrm>
          <a:prstGeom prst="roundRect">
            <a:avLst>
              <a:gd name="adj" fmla="val 8421"/>
            </a:avLst>
          </a:prstGeom>
          <a:solidFill>
            <a:srgbClr val="FBE5D6"/>
          </a:solidFill>
          <a:ln w="15875">
            <a:solidFill>
              <a:srgbClr val="C55A11"/>
            </a:solidFill>
            <a:prstDash val="solid"/>
          </a:ln>
        </p:spPr>
      </p:sp>
      <p:sp>
        <p:nvSpPr>
          <p:cNvPr id="13" name="t-177"/>
          <p:cNvSpPr txBox="1"/>
          <p:nvPr/>
        </p:nvSpPr>
        <p:spPr>
          <a:xfrm>
            <a:off x="36576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Video / Audio upload</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8 formats, presigned PUT to S3</a:t>
            </a:r>
            <a:endParaRPr lang="en-US" sz="1300" dirty="0"/>
          </a:p>
        </p:txBody>
      </p:sp>
      <p:sp>
        <p:nvSpPr>
          <p:cNvPr id="14" name="blk-178"/>
          <p:cNvSpPr/>
          <p:nvPr/>
        </p:nvSpPr>
        <p:spPr>
          <a:xfrm>
            <a:off x="320040" y="2697480"/>
            <a:ext cx="2057400" cy="868680"/>
          </a:xfrm>
          <a:prstGeom prst="roundRect">
            <a:avLst>
              <a:gd name="adj" fmla="val 8421"/>
            </a:avLst>
          </a:prstGeom>
          <a:solidFill>
            <a:srgbClr val="FBE5D6"/>
          </a:solidFill>
          <a:ln w="15875">
            <a:solidFill>
              <a:srgbClr val="C55A11"/>
            </a:solidFill>
            <a:prstDash val="solid"/>
          </a:ln>
        </p:spPr>
      </p:sp>
      <p:sp>
        <p:nvSpPr>
          <p:cNvPr id="15" name="t-179"/>
          <p:cNvSpPr txBox="1"/>
          <p:nvPr/>
        </p:nvSpPr>
        <p:spPr>
          <a:xfrm>
            <a:off x="36576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Transcript import</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SRT, VTT, JSON, text</a:t>
            </a:r>
            <a:endParaRPr lang="en-US" sz="1300" dirty="0"/>
          </a:p>
        </p:txBody>
      </p:sp>
      <p:sp>
        <p:nvSpPr>
          <p:cNvPr id="16" name="blk-180"/>
          <p:cNvSpPr/>
          <p:nvPr/>
        </p:nvSpPr>
        <p:spPr>
          <a:xfrm>
            <a:off x="2697480" y="1554480"/>
            <a:ext cx="2057400" cy="868680"/>
          </a:xfrm>
          <a:prstGeom prst="roundRect">
            <a:avLst>
              <a:gd name="adj" fmla="val 8421"/>
            </a:avLst>
          </a:prstGeom>
          <a:solidFill>
            <a:srgbClr val="FFFFFF"/>
          </a:solidFill>
          <a:ln w="15875">
            <a:solidFill>
              <a:srgbClr val="000000"/>
            </a:solidFill>
            <a:prstDash val="solid"/>
          </a:ln>
        </p:spPr>
      </p:sp>
      <p:sp>
        <p:nvSpPr>
          <p:cNvPr id="17" name="t-181"/>
          <p:cNvSpPr txBox="1"/>
          <p:nvPr/>
        </p:nvSpPr>
        <p:spPr>
          <a:xfrm>
            <a:off x="274320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Amazon Transcribe</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speech → timestamped words</a:t>
            </a:r>
            <a:endParaRPr lang="en-US" sz="1300" dirty="0"/>
          </a:p>
        </p:txBody>
      </p:sp>
      <p:sp>
        <p:nvSpPr>
          <p:cNvPr id="18" name="blk-182"/>
          <p:cNvSpPr/>
          <p:nvPr/>
        </p:nvSpPr>
        <p:spPr>
          <a:xfrm>
            <a:off x="2697480" y="2697480"/>
            <a:ext cx="2057400" cy="868680"/>
          </a:xfrm>
          <a:prstGeom prst="roundRect">
            <a:avLst>
              <a:gd name="adj" fmla="val 8421"/>
            </a:avLst>
          </a:prstGeom>
          <a:solidFill>
            <a:srgbClr val="FFFFFF"/>
          </a:solidFill>
          <a:ln w="15875">
            <a:solidFill>
              <a:srgbClr val="000000"/>
            </a:solidFill>
            <a:prstDash val="solid"/>
          </a:ln>
        </p:spPr>
      </p:sp>
      <p:sp>
        <p:nvSpPr>
          <p:cNvPr id="19" name="t-183"/>
          <p:cNvSpPr txBox="1"/>
          <p:nvPr/>
        </p:nvSpPr>
        <p:spPr>
          <a:xfrm>
            <a:off x="274320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Segmentation</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clean text → timestamped moments</a:t>
            </a:r>
            <a:endParaRPr lang="en-US" sz="1300" dirty="0"/>
          </a:p>
        </p:txBody>
      </p:sp>
      <p:sp>
        <p:nvSpPr>
          <p:cNvPr id="20" name="blk-184"/>
          <p:cNvSpPr/>
          <p:nvPr/>
        </p:nvSpPr>
        <p:spPr>
          <a:xfrm>
            <a:off x="5074920" y="1554480"/>
            <a:ext cx="2057400" cy="868680"/>
          </a:xfrm>
          <a:prstGeom prst="roundRect">
            <a:avLst>
              <a:gd name="adj" fmla="val 8421"/>
            </a:avLst>
          </a:prstGeom>
          <a:solidFill>
            <a:srgbClr val="FFFFFF"/>
          </a:solidFill>
          <a:ln w="15875">
            <a:solidFill>
              <a:srgbClr val="000000"/>
            </a:solidFill>
            <a:prstDash val="solid"/>
          </a:ln>
        </p:spPr>
      </p:sp>
      <p:sp>
        <p:nvSpPr>
          <p:cNvPr id="21" name="t-185"/>
          <p:cNvSpPr txBox="1"/>
          <p:nvPr/>
        </p:nvSpPr>
        <p:spPr>
          <a:xfrm>
            <a:off x="512064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TF-IDF index</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term weights, cosine similarity</a:t>
            </a:r>
            <a:endParaRPr lang="en-US" sz="1300" dirty="0"/>
          </a:p>
        </p:txBody>
      </p:sp>
      <p:sp>
        <p:nvSpPr>
          <p:cNvPr id="22" name="blk-186"/>
          <p:cNvSpPr/>
          <p:nvPr/>
        </p:nvSpPr>
        <p:spPr>
          <a:xfrm>
            <a:off x="5074920" y="2697480"/>
            <a:ext cx="2057400" cy="868680"/>
          </a:xfrm>
          <a:prstGeom prst="roundRect">
            <a:avLst>
              <a:gd name="adj" fmla="val 8421"/>
            </a:avLst>
          </a:prstGeom>
          <a:solidFill>
            <a:srgbClr val="FFFFFF"/>
          </a:solidFill>
          <a:ln w="15875">
            <a:solidFill>
              <a:srgbClr val="000000"/>
            </a:solidFill>
            <a:prstDash val="solid"/>
          </a:ln>
        </p:spPr>
      </p:sp>
      <p:sp>
        <p:nvSpPr>
          <p:cNvPr id="23" name="t-187"/>
          <p:cNvSpPr txBox="1"/>
          <p:nvPr/>
        </p:nvSpPr>
        <p:spPr>
          <a:xfrm>
            <a:off x="512064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Reference cues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6 backward + 7 forward patterns</a:t>
            </a:r>
            <a:endParaRPr lang="en-US" sz="1300" dirty="0"/>
          </a:p>
        </p:txBody>
      </p:sp>
      <p:sp>
        <p:nvSpPr>
          <p:cNvPr id="24" name="blk-188"/>
          <p:cNvSpPr/>
          <p:nvPr/>
        </p:nvSpPr>
        <p:spPr>
          <a:xfrm>
            <a:off x="7452360" y="1554480"/>
            <a:ext cx="2057400" cy="868680"/>
          </a:xfrm>
          <a:prstGeom prst="roundRect">
            <a:avLst>
              <a:gd name="adj" fmla="val 8421"/>
            </a:avLst>
          </a:prstGeom>
          <a:solidFill>
            <a:srgbClr val="DEEBF7"/>
          </a:solidFill>
          <a:ln w="15875">
            <a:solidFill>
              <a:srgbClr val="2F5597"/>
            </a:solidFill>
            <a:prstDash val="solid"/>
          </a:ln>
        </p:spPr>
      </p:sp>
      <p:sp>
        <p:nvSpPr>
          <p:cNvPr id="25" name="t-189"/>
          <p:cNvSpPr txBox="1"/>
          <p:nvPr/>
        </p:nvSpPr>
        <p:spPr>
          <a:xfrm>
            <a:off x="749808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LLM chain</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Bedrock → OpenAI → Groq → Gemini</a:t>
            </a:r>
            <a:endParaRPr lang="en-US" sz="1300" dirty="0"/>
          </a:p>
        </p:txBody>
      </p:sp>
      <p:sp>
        <p:nvSpPr>
          <p:cNvPr id="26" name="blk-190"/>
          <p:cNvSpPr/>
          <p:nvPr/>
        </p:nvSpPr>
        <p:spPr>
          <a:xfrm>
            <a:off x="7452360" y="2697480"/>
            <a:ext cx="2057400" cy="868680"/>
          </a:xfrm>
          <a:prstGeom prst="roundRect">
            <a:avLst>
              <a:gd name="adj" fmla="val 8421"/>
            </a:avLst>
          </a:prstGeom>
          <a:solidFill>
            <a:srgbClr val="DEEBF7"/>
          </a:solidFill>
          <a:ln w="15875">
            <a:solidFill>
              <a:srgbClr val="2F5597"/>
            </a:solidFill>
            <a:prstDash val="solid"/>
          </a:ln>
        </p:spPr>
      </p:sp>
      <p:sp>
        <p:nvSpPr>
          <p:cNvPr id="27" name="t-191"/>
          <p:cNvSpPr txBox="1"/>
          <p:nvPr/>
        </p:nvSpPr>
        <p:spPr>
          <a:xfrm>
            <a:off x="749808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Grounding &amp; citations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top-10 moments, [n] enforced</a:t>
            </a:r>
            <a:endParaRPr lang="en-US" sz="1300" dirty="0"/>
          </a:p>
        </p:txBody>
      </p:sp>
      <p:sp>
        <p:nvSpPr>
          <p:cNvPr id="28" name="blk-192"/>
          <p:cNvSpPr/>
          <p:nvPr/>
        </p:nvSpPr>
        <p:spPr>
          <a:xfrm>
            <a:off x="9829800" y="1554480"/>
            <a:ext cx="2057400" cy="868680"/>
          </a:xfrm>
          <a:prstGeom prst="roundRect">
            <a:avLst>
              <a:gd name="adj" fmla="val 8421"/>
            </a:avLst>
          </a:prstGeom>
          <a:solidFill>
            <a:srgbClr val="E2F0D9"/>
          </a:solidFill>
          <a:ln w="15875">
            <a:solidFill>
              <a:srgbClr val="548235"/>
            </a:solidFill>
            <a:prstDash val="solid"/>
          </a:ln>
        </p:spPr>
      </p:sp>
      <p:sp>
        <p:nvSpPr>
          <p:cNvPr id="29" name="t-193"/>
          <p:cNvSpPr txBox="1"/>
          <p:nvPr/>
        </p:nvSpPr>
        <p:spPr>
          <a:xfrm>
            <a:off x="9875520" y="1554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AI notes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summary, points, actions, decisions</a:t>
            </a:r>
            <a:endParaRPr lang="en-US" sz="1300" dirty="0"/>
          </a:p>
        </p:txBody>
      </p:sp>
      <p:sp>
        <p:nvSpPr>
          <p:cNvPr id="30" name="blk-194"/>
          <p:cNvSpPr/>
          <p:nvPr/>
        </p:nvSpPr>
        <p:spPr>
          <a:xfrm>
            <a:off x="9829800" y="2697480"/>
            <a:ext cx="2057400" cy="868680"/>
          </a:xfrm>
          <a:prstGeom prst="roundRect">
            <a:avLst>
              <a:gd name="adj" fmla="val 8421"/>
            </a:avLst>
          </a:prstGeom>
          <a:solidFill>
            <a:srgbClr val="E2F0D9"/>
          </a:solidFill>
          <a:ln w="15875">
            <a:solidFill>
              <a:srgbClr val="548235"/>
            </a:solidFill>
            <a:prstDash val="solid"/>
          </a:ln>
        </p:spPr>
      </p:sp>
      <p:sp>
        <p:nvSpPr>
          <p:cNvPr id="31" name="t-195"/>
          <p:cNvSpPr txBox="1"/>
          <p:nvPr/>
        </p:nvSpPr>
        <p:spPr>
          <a:xfrm>
            <a:off x="9875520" y="2697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Cited answers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answer + playable timestamps</a:t>
            </a:r>
            <a:endParaRPr lang="en-US" sz="1300" dirty="0"/>
          </a:p>
        </p:txBody>
      </p:sp>
      <p:sp>
        <p:nvSpPr>
          <p:cNvPr id="32" name="blk-196"/>
          <p:cNvSpPr/>
          <p:nvPr/>
        </p:nvSpPr>
        <p:spPr>
          <a:xfrm>
            <a:off x="9829800" y="3840480"/>
            <a:ext cx="2057400" cy="868680"/>
          </a:xfrm>
          <a:prstGeom prst="roundRect">
            <a:avLst>
              <a:gd name="adj" fmla="val 8421"/>
            </a:avLst>
          </a:prstGeom>
          <a:solidFill>
            <a:srgbClr val="E2F0D9"/>
          </a:solidFill>
          <a:ln w="15875">
            <a:solidFill>
              <a:srgbClr val="548235"/>
            </a:solidFill>
            <a:prstDash val="solid"/>
          </a:ln>
        </p:spPr>
      </p:sp>
      <p:sp>
        <p:nvSpPr>
          <p:cNvPr id="33" name="t-197"/>
          <p:cNvSpPr txBox="1"/>
          <p:nvPr/>
        </p:nvSpPr>
        <p:spPr>
          <a:xfrm>
            <a:off x="987552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Context recovery</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suggested sources, notifications, map</a:t>
            </a:r>
            <a:endParaRPr lang="en-US" sz="1300" dirty="0"/>
          </a:p>
        </p:txBody>
      </p:sp>
      <p:sp>
        <p:nvSpPr>
          <p:cNvPr id="34" name="blk-198"/>
          <p:cNvSpPr/>
          <p:nvPr/>
        </p:nvSpPr>
        <p:spPr>
          <a:xfrm>
            <a:off x="7452360" y="3840480"/>
            <a:ext cx="2057400" cy="868680"/>
          </a:xfrm>
          <a:prstGeom prst="roundRect">
            <a:avLst>
              <a:gd name="adj" fmla="val 8421"/>
            </a:avLst>
          </a:prstGeom>
          <a:solidFill>
            <a:srgbClr val="DEEBF7"/>
          </a:solidFill>
          <a:ln w="15875">
            <a:solidFill>
              <a:srgbClr val="2F5597"/>
            </a:solidFill>
            <a:prstDash val="solid"/>
          </a:ln>
        </p:spPr>
      </p:sp>
      <p:sp>
        <p:nvSpPr>
          <p:cNvPr id="35" name="t-199"/>
          <p:cNvSpPr txBox="1"/>
          <p:nvPr/>
        </p:nvSpPr>
        <p:spPr>
          <a:xfrm>
            <a:off x="749808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Extractive fallback</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notes if every model fails</a:t>
            </a:r>
            <a:endParaRPr lang="en-US" sz="1300" dirty="0"/>
          </a:p>
        </p:txBody>
      </p:sp>
      <p:sp>
        <p:nvSpPr>
          <p:cNvPr id="36" name="blk-200"/>
          <p:cNvSpPr/>
          <p:nvPr/>
        </p:nvSpPr>
        <p:spPr>
          <a:xfrm>
            <a:off x="5074920" y="3840480"/>
            <a:ext cx="2057400" cy="868680"/>
          </a:xfrm>
          <a:prstGeom prst="roundRect">
            <a:avLst>
              <a:gd name="adj" fmla="val 8421"/>
            </a:avLst>
          </a:prstGeom>
          <a:solidFill>
            <a:srgbClr val="FFFFFF"/>
          </a:solidFill>
          <a:ln w="15875">
            <a:solidFill>
              <a:srgbClr val="000000"/>
            </a:solidFill>
            <a:prstDash val="solid"/>
          </a:ln>
        </p:spPr>
      </p:sp>
      <p:sp>
        <p:nvSpPr>
          <p:cNvPr id="37" name="t-201"/>
          <p:cNvSpPr txBox="1"/>
          <p:nvPr/>
        </p:nvSpPr>
        <p:spPr>
          <a:xfrm>
            <a:off x="5120640" y="3840480"/>
            <a:ext cx="1965960" cy="86868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Remembered references</a:t>
            </a:r>
            <a:endParaRPr lang="en-US" sz="1300" dirty="0"/>
          </a:p>
          <a:p>
            <a:pPr algn="ctr" indent="0" marL="0">
              <a:buNone/>
            </a:pPr>
            <a:r>
              <a:rPr lang="en-US" sz="1050" dirty="0">
                <a:solidFill>
                  <a:srgbClr val="000000"/>
                </a:solidFill>
                <a:latin typeface="Calibri" pitchFamily="34" charset="0"/>
                <a:ea typeface="Calibri" pitchFamily="34" charset="-122"/>
                <a:cs typeface="Calibri" pitchFamily="34" charset="-120"/>
              </a:rPr>
              <a:t>re-checked after each upload</a:t>
            </a:r>
            <a:endParaRPr lang="en-US" sz="1300" dirty="0"/>
          </a:p>
        </p:txBody>
      </p:sp>
      <p:sp>
        <p:nvSpPr>
          <p:cNvPr id="38" name="arr-202"/>
          <p:cNvSpPr/>
          <p:nvPr/>
        </p:nvSpPr>
        <p:spPr>
          <a:xfrm>
            <a:off x="2377440" y="1984248"/>
            <a:ext cx="320040" cy="914"/>
          </a:xfrm>
          <a:prstGeom prst="line">
            <a:avLst/>
          </a:prstGeom>
          <a:noFill/>
          <a:ln w="19050">
            <a:solidFill>
              <a:srgbClr val="404040"/>
            </a:solidFill>
            <a:prstDash val="solid"/>
            <a:tailEnd type="triangle"/>
          </a:ln>
        </p:spPr>
      </p:sp>
      <p:sp>
        <p:nvSpPr>
          <p:cNvPr id="39" name="arr-203"/>
          <p:cNvSpPr/>
          <p:nvPr/>
        </p:nvSpPr>
        <p:spPr>
          <a:xfrm>
            <a:off x="2377440" y="3127248"/>
            <a:ext cx="320040" cy="914"/>
          </a:xfrm>
          <a:prstGeom prst="line">
            <a:avLst/>
          </a:prstGeom>
          <a:noFill/>
          <a:ln w="19050">
            <a:solidFill>
              <a:srgbClr val="404040"/>
            </a:solidFill>
            <a:prstDash val="solid"/>
            <a:tailEnd type="triangle"/>
          </a:ln>
        </p:spPr>
      </p:sp>
      <p:sp>
        <p:nvSpPr>
          <p:cNvPr id="40" name="arr-204"/>
          <p:cNvSpPr/>
          <p:nvPr/>
        </p:nvSpPr>
        <p:spPr>
          <a:xfrm>
            <a:off x="3721608" y="2423160"/>
            <a:ext cx="914" cy="274320"/>
          </a:xfrm>
          <a:prstGeom prst="line">
            <a:avLst/>
          </a:prstGeom>
          <a:noFill/>
          <a:ln w="19050">
            <a:solidFill>
              <a:srgbClr val="404040"/>
            </a:solidFill>
            <a:prstDash val="solid"/>
            <a:tailEnd type="triangle"/>
          </a:ln>
        </p:spPr>
      </p:sp>
      <p:sp>
        <p:nvSpPr>
          <p:cNvPr id="41" name="arr-205"/>
          <p:cNvSpPr/>
          <p:nvPr/>
        </p:nvSpPr>
        <p:spPr>
          <a:xfrm flipV="1">
            <a:off x="4754880" y="2057400"/>
            <a:ext cx="320040" cy="1069848"/>
          </a:xfrm>
          <a:prstGeom prst="line">
            <a:avLst/>
          </a:prstGeom>
          <a:noFill/>
          <a:ln w="19050">
            <a:solidFill>
              <a:srgbClr val="404040"/>
            </a:solidFill>
            <a:prstDash val="solid"/>
            <a:tailEnd type="triangle"/>
          </a:ln>
        </p:spPr>
      </p:sp>
      <p:sp>
        <p:nvSpPr>
          <p:cNvPr id="42" name="arr-206"/>
          <p:cNvSpPr/>
          <p:nvPr/>
        </p:nvSpPr>
        <p:spPr>
          <a:xfrm>
            <a:off x="4754880" y="3127248"/>
            <a:ext cx="320040" cy="914"/>
          </a:xfrm>
          <a:prstGeom prst="line">
            <a:avLst/>
          </a:prstGeom>
          <a:noFill/>
          <a:ln w="19050">
            <a:solidFill>
              <a:srgbClr val="404040"/>
            </a:solidFill>
            <a:prstDash val="solid"/>
            <a:tailEnd type="triangle"/>
          </a:ln>
        </p:spPr>
      </p:sp>
      <p:sp>
        <p:nvSpPr>
          <p:cNvPr id="43" name="arr-207"/>
          <p:cNvSpPr/>
          <p:nvPr/>
        </p:nvSpPr>
        <p:spPr>
          <a:xfrm>
            <a:off x="7132320" y="1984248"/>
            <a:ext cx="320040" cy="941832"/>
          </a:xfrm>
          <a:prstGeom prst="line">
            <a:avLst/>
          </a:prstGeom>
          <a:noFill/>
          <a:ln w="19050">
            <a:solidFill>
              <a:srgbClr val="404040"/>
            </a:solidFill>
            <a:prstDash val="solid"/>
            <a:tailEnd type="triangle"/>
          </a:ln>
        </p:spPr>
      </p:sp>
      <p:sp>
        <p:nvSpPr>
          <p:cNvPr id="44" name="arr-208"/>
          <p:cNvSpPr/>
          <p:nvPr/>
        </p:nvSpPr>
        <p:spPr>
          <a:xfrm>
            <a:off x="7132320" y="3127248"/>
            <a:ext cx="320040" cy="914"/>
          </a:xfrm>
          <a:prstGeom prst="line">
            <a:avLst/>
          </a:prstGeom>
          <a:noFill/>
          <a:ln w="19050">
            <a:solidFill>
              <a:srgbClr val="404040"/>
            </a:solidFill>
            <a:prstDash val="solid"/>
            <a:tailEnd type="triangle"/>
          </a:ln>
        </p:spPr>
      </p:sp>
      <p:sp>
        <p:nvSpPr>
          <p:cNvPr id="45" name="arr-209"/>
          <p:cNvSpPr/>
          <p:nvPr/>
        </p:nvSpPr>
        <p:spPr>
          <a:xfrm>
            <a:off x="9509760" y="1984248"/>
            <a:ext cx="320040" cy="914"/>
          </a:xfrm>
          <a:prstGeom prst="line">
            <a:avLst/>
          </a:prstGeom>
          <a:noFill/>
          <a:ln w="19050">
            <a:solidFill>
              <a:srgbClr val="404040"/>
            </a:solidFill>
            <a:prstDash val="solid"/>
            <a:tailEnd type="triangle"/>
          </a:ln>
        </p:spPr>
      </p:sp>
      <p:sp>
        <p:nvSpPr>
          <p:cNvPr id="46" name="arr-210"/>
          <p:cNvSpPr/>
          <p:nvPr/>
        </p:nvSpPr>
        <p:spPr>
          <a:xfrm>
            <a:off x="9509760" y="3127248"/>
            <a:ext cx="320040" cy="914"/>
          </a:xfrm>
          <a:prstGeom prst="line">
            <a:avLst/>
          </a:prstGeom>
          <a:noFill/>
          <a:ln w="19050">
            <a:solidFill>
              <a:srgbClr val="404040"/>
            </a:solidFill>
            <a:prstDash val="solid"/>
            <a:tailEnd type="triangle"/>
          </a:ln>
        </p:spPr>
      </p:sp>
      <p:sp>
        <p:nvSpPr>
          <p:cNvPr id="47" name="arr-211"/>
          <p:cNvSpPr/>
          <p:nvPr/>
        </p:nvSpPr>
        <p:spPr>
          <a:xfrm>
            <a:off x="8476488" y="2423160"/>
            <a:ext cx="914" cy="274320"/>
          </a:xfrm>
          <a:prstGeom prst="line">
            <a:avLst/>
          </a:prstGeom>
          <a:noFill/>
          <a:ln w="19050">
            <a:solidFill>
              <a:srgbClr val="404040"/>
            </a:solidFill>
            <a:prstDash val="solid"/>
            <a:tailEnd type="triangle"/>
          </a:ln>
        </p:spPr>
      </p:sp>
      <p:sp>
        <p:nvSpPr>
          <p:cNvPr id="48" name="arr-212"/>
          <p:cNvSpPr/>
          <p:nvPr/>
        </p:nvSpPr>
        <p:spPr>
          <a:xfrm>
            <a:off x="8476488" y="3566160"/>
            <a:ext cx="914" cy="274320"/>
          </a:xfrm>
          <a:prstGeom prst="line">
            <a:avLst/>
          </a:prstGeom>
          <a:noFill/>
          <a:ln w="19050">
            <a:solidFill>
              <a:srgbClr val="404040"/>
            </a:solidFill>
            <a:prstDash val="solid"/>
            <a:tailEnd type="triangle"/>
          </a:ln>
        </p:spPr>
      </p:sp>
      <p:sp>
        <p:nvSpPr>
          <p:cNvPr id="49" name="arr-213"/>
          <p:cNvSpPr/>
          <p:nvPr/>
        </p:nvSpPr>
        <p:spPr>
          <a:xfrm flipV="1">
            <a:off x="9509760" y="2194560"/>
            <a:ext cx="320040" cy="2075688"/>
          </a:xfrm>
          <a:prstGeom prst="line">
            <a:avLst/>
          </a:prstGeom>
          <a:noFill/>
          <a:ln w="19050">
            <a:solidFill>
              <a:srgbClr val="404040"/>
            </a:solidFill>
            <a:prstDash val="solid"/>
            <a:tailEnd type="triangle"/>
          </a:ln>
        </p:spPr>
      </p:sp>
      <p:sp>
        <p:nvSpPr>
          <p:cNvPr id="50" name="arr-214"/>
          <p:cNvSpPr/>
          <p:nvPr/>
        </p:nvSpPr>
        <p:spPr>
          <a:xfrm>
            <a:off x="7132320" y="3291840"/>
            <a:ext cx="2697480" cy="914400"/>
          </a:xfrm>
          <a:prstGeom prst="line">
            <a:avLst/>
          </a:prstGeom>
          <a:noFill/>
          <a:ln w="19050">
            <a:solidFill>
              <a:srgbClr val="404040"/>
            </a:solidFill>
            <a:prstDash val="solid"/>
            <a:tailEnd type="triangle"/>
          </a:ln>
        </p:spPr>
      </p:sp>
      <p:sp>
        <p:nvSpPr>
          <p:cNvPr id="51" name="arr-215"/>
          <p:cNvSpPr/>
          <p:nvPr/>
        </p:nvSpPr>
        <p:spPr>
          <a:xfrm>
            <a:off x="6099048" y="3566160"/>
            <a:ext cx="914" cy="274320"/>
          </a:xfrm>
          <a:prstGeom prst="line">
            <a:avLst/>
          </a:prstGeom>
          <a:noFill/>
          <a:ln w="19050">
            <a:solidFill>
              <a:srgbClr val="404040"/>
            </a:solidFill>
            <a:prstDash val="solid"/>
            <a:tailEnd type="triangle"/>
          </a:ln>
        </p:spPr>
      </p:sp>
      <p:sp>
        <p:nvSpPr>
          <p:cNvPr id="52" name="band"/>
          <p:cNvSpPr/>
          <p:nvPr/>
        </p:nvSpPr>
        <p:spPr>
          <a:xfrm>
            <a:off x="320040" y="4983480"/>
            <a:ext cx="11567160" cy="1188720"/>
          </a:xfrm>
          <a:prstGeom prst="rect">
            <a:avLst/>
          </a:prstGeom>
          <a:solidFill>
            <a:srgbClr val="F2F2F2"/>
          </a:solidFill>
          <a:ln w="12700">
            <a:solidFill>
              <a:srgbClr val="7F7F7F"/>
            </a:solidFill>
            <a:prstDash val="dash"/>
          </a:ln>
        </p:spPr>
      </p:sp>
      <p:sp>
        <p:nvSpPr>
          <p:cNvPr id="53" name="t-216"/>
          <p:cNvSpPr txBox="1"/>
          <p:nvPr/>
        </p:nvSpPr>
        <p:spPr>
          <a:xfrm>
            <a:off x="411480" y="5010912"/>
            <a:ext cx="11384280" cy="274320"/>
          </a:xfrm>
          <a:prstGeom prst="rect">
            <a:avLst/>
          </a:prstGeom>
          <a:noFill/>
          <a:ln/>
        </p:spPr>
        <p:txBody>
          <a:bodyPr wrap="square" lIns="0" tIns="0" rIns="0" bIns="0" rtlCol="0" anchor="ctr"/>
          <a:lstStyle/>
          <a:p>
            <a:pPr algn="ctr" indent="0" marL="0">
              <a:buNone/>
            </a:pPr>
            <a:r>
              <a:rPr lang="en-US" sz="1100" b="1" dirty="0">
                <a:solidFill>
                  <a:srgbClr val="960000"/>
                </a:solidFill>
                <a:latin typeface="Calibri" pitchFamily="34" charset="0"/>
                <a:ea typeface="Calibri" pitchFamily="34" charset="-122"/>
                <a:cs typeface="Calibri" pitchFamily="34" charset="-120"/>
              </a:rPr>
              <a:t>AWS SERVERLESS PLATFORM (us-east-1, one SAM / CloudFormation stack)</a:t>
            </a:r>
            <a:endParaRPr lang="en-US" sz="1100" dirty="0"/>
          </a:p>
        </p:txBody>
      </p:sp>
      <p:sp>
        <p:nvSpPr>
          <p:cNvPr id="54" name="aws-217"/>
          <p:cNvSpPr/>
          <p:nvPr/>
        </p:nvSpPr>
        <p:spPr>
          <a:xfrm>
            <a:off x="457200" y="5349240"/>
            <a:ext cx="1508760" cy="685800"/>
          </a:xfrm>
          <a:prstGeom prst="roundRect">
            <a:avLst>
              <a:gd name="adj" fmla="val 8000"/>
            </a:avLst>
          </a:prstGeom>
          <a:solidFill>
            <a:srgbClr val="FFFFFF"/>
          </a:solidFill>
          <a:ln w="9525">
            <a:solidFill>
              <a:srgbClr val="7F7F7F"/>
            </a:solidFill>
            <a:prstDash val="solid"/>
          </a:ln>
        </p:spPr>
      </p:sp>
      <p:sp>
        <p:nvSpPr>
          <p:cNvPr id="55" name="t-218"/>
          <p:cNvSpPr txBox="1"/>
          <p:nvPr/>
        </p:nvSpPr>
        <p:spPr>
          <a:xfrm>
            <a:off x="493776"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CloudFront + S3 (web app)</a:t>
            </a:r>
            <a:endParaRPr lang="en-US" sz="1050" dirty="0"/>
          </a:p>
        </p:txBody>
      </p:sp>
      <p:sp>
        <p:nvSpPr>
          <p:cNvPr id="56" name="aws-219"/>
          <p:cNvSpPr/>
          <p:nvPr/>
        </p:nvSpPr>
        <p:spPr>
          <a:xfrm>
            <a:off x="2093976" y="5349240"/>
            <a:ext cx="1508760" cy="685800"/>
          </a:xfrm>
          <a:prstGeom prst="roundRect">
            <a:avLst>
              <a:gd name="adj" fmla="val 8000"/>
            </a:avLst>
          </a:prstGeom>
          <a:solidFill>
            <a:srgbClr val="FFFFFF"/>
          </a:solidFill>
          <a:ln w="9525">
            <a:solidFill>
              <a:srgbClr val="7F7F7F"/>
            </a:solidFill>
            <a:prstDash val="solid"/>
          </a:ln>
        </p:spPr>
      </p:sp>
      <p:sp>
        <p:nvSpPr>
          <p:cNvPr id="57" name="t-220"/>
          <p:cNvSpPr txBox="1"/>
          <p:nvPr/>
        </p:nvSpPr>
        <p:spPr>
          <a:xfrm>
            <a:off x="2130552"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Cognito sign-in</a:t>
            </a:r>
            <a:endParaRPr lang="en-US" sz="1050" dirty="0"/>
          </a:p>
        </p:txBody>
      </p:sp>
      <p:sp>
        <p:nvSpPr>
          <p:cNvPr id="58" name="aws-221"/>
          <p:cNvSpPr/>
          <p:nvPr/>
        </p:nvSpPr>
        <p:spPr>
          <a:xfrm>
            <a:off x="3730752" y="5349240"/>
            <a:ext cx="1508760" cy="685800"/>
          </a:xfrm>
          <a:prstGeom prst="roundRect">
            <a:avLst>
              <a:gd name="adj" fmla="val 8000"/>
            </a:avLst>
          </a:prstGeom>
          <a:solidFill>
            <a:srgbClr val="FFFFFF"/>
          </a:solidFill>
          <a:ln w="9525">
            <a:solidFill>
              <a:srgbClr val="7F7F7F"/>
            </a:solidFill>
            <a:prstDash val="solid"/>
          </a:ln>
        </p:spPr>
      </p:sp>
      <p:sp>
        <p:nvSpPr>
          <p:cNvPr id="59" name="t-222"/>
          <p:cNvSpPr txBox="1"/>
          <p:nvPr/>
        </p:nvSpPr>
        <p:spPr>
          <a:xfrm>
            <a:off x="3767328"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API Gateway (JWT)</a:t>
            </a:r>
            <a:endParaRPr lang="en-US" sz="1050" dirty="0"/>
          </a:p>
        </p:txBody>
      </p:sp>
      <p:sp>
        <p:nvSpPr>
          <p:cNvPr id="60" name="aws-223"/>
          <p:cNvSpPr/>
          <p:nvPr/>
        </p:nvSpPr>
        <p:spPr>
          <a:xfrm>
            <a:off x="5367528" y="5349240"/>
            <a:ext cx="1508760" cy="685800"/>
          </a:xfrm>
          <a:prstGeom prst="roundRect">
            <a:avLst>
              <a:gd name="adj" fmla="val 8000"/>
            </a:avLst>
          </a:prstGeom>
          <a:solidFill>
            <a:srgbClr val="FFFFFF"/>
          </a:solidFill>
          <a:ln w="9525">
            <a:solidFill>
              <a:srgbClr val="7F7F7F"/>
            </a:solidFill>
            <a:prstDash val="solid"/>
          </a:ln>
        </p:spPr>
      </p:sp>
      <p:sp>
        <p:nvSpPr>
          <p:cNvPr id="61" name="t-224"/>
          <p:cNvSpPr txBox="1"/>
          <p:nvPr/>
        </p:nvSpPr>
        <p:spPr>
          <a:xfrm>
            <a:off x="5404104"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Lambda API + worker</a:t>
            </a:r>
            <a:endParaRPr lang="en-US" sz="1050" dirty="0"/>
          </a:p>
        </p:txBody>
      </p:sp>
      <p:sp>
        <p:nvSpPr>
          <p:cNvPr id="62" name="aws-225"/>
          <p:cNvSpPr/>
          <p:nvPr/>
        </p:nvSpPr>
        <p:spPr>
          <a:xfrm>
            <a:off x="7004304" y="5349240"/>
            <a:ext cx="1508760" cy="685800"/>
          </a:xfrm>
          <a:prstGeom prst="roundRect">
            <a:avLst>
              <a:gd name="adj" fmla="val 8000"/>
            </a:avLst>
          </a:prstGeom>
          <a:solidFill>
            <a:srgbClr val="FFFFFF"/>
          </a:solidFill>
          <a:ln w="9525">
            <a:solidFill>
              <a:srgbClr val="7F7F7F"/>
            </a:solidFill>
            <a:prstDash val="solid"/>
          </a:ln>
        </p:spPr>
      </p:sp>
      <p:sp>
        <p:nvSpPr>
          <p:cNvPr id="63" name="t-226"/>
          <p:cNvSpPr txBox="1"/>
          <p:nvPr/>
        </p:nvSpPr>
        <p:spPr>
          <a:xfrm>
            <a:off x="7040880"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EventBridge</a:t>
            </a:r>
            <a:endParaRPr lang="en-US" sz="1050" dirty="0"/>
          </a:p>
        </p:txBody>
      </p:sp>
      <p:sp>
        <p:nvSpPr>
          <p:cNvPr id="64" name="aws-227"/>
          <p:cNvSpPr/>
          <p:nvPr/>
        </p:nvSpPr>
        <p:spPr>
          <a:xfrm>
            <a:off x="8641080" y="5349240"/>
            <a:ext cx="1508760" cy="685800"/>
          </a:xfrm>
          <a:prstGeom prst="roundRect">
            <a:avLst>
              <a:gd name="adj" fmla="val 8000"/>
            </a:avLst>
          </a:prstGeom>
          <a:solidFill>
            <a:srgbClr val="FFFFFF"/>
          </a:solidFill>
          <a:ln w="9525">
            <a:solidFill>
              <a:srgbClr val="7F7F7F"/>
            </a:solidFill>
            <a:prstDash val="solid"/>
          </a:ln>
        </p:spPr>
      </p:sp>
      <p:sp>
        <p:nvSpPr>
          <p:cNvPr id="65" name="t-228"/>
          <p:cNvSpPr txBox="1"/>
          <p:nvPr/>
        </p:nvSpPr>
        <p:spPr>
          <a:xfrm>
            <a:off x="8677656"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DynamoDB (per user)</a:t>
            </a:r>
            <a:endParaRPr lang="en-US" sz="1050" dirty="0"/>
          </a:p>
        </p:txBody>
      </p:sp>
      <p:sp>
        <p:nvSpPr>
          <p:cNvPr id="66" name="aws-229"/>
          <p:cNvSpPr/>
          <p:nvPr/>
        </p:nvSpPr>
        <p:spPr>
          <a:xfrm>
            <a:off x="10277856" y="5349240"/>
            <a:ext cx="1508760" cy="685800"/>
          </a:xfrm>
          <a:prstGeom prst="roundRect">
            <a:avLst>
              <a:gd name="adj" fmla="val 8000"/>
            </a:avLst>
          </a:prstGeom>
          <a:solidFill>
            <a:srgbClr val="FFFFFF"/>
          </a:solidFill>
          <a:ln w="9525">
            <a:solidFill>
              <a:srgbClr val="7F7F7F"/>
            </a:solidFill>
            <a:prstDash val="solid"/>
          </a:ln>
        </p:spPr>
      </p:sp>
      <p:sp>
        <p:nvSpPr>
          <p:cNvPr id="67" name="t-230"/>
          <p:cNvSpPr txBox="1"/>
          <p:nvPr/>
        </p:nvSpPr>
        <p:spPr>
          <a:xfrm>
            <a:off x="10314432" y="5349240"/>
            <a:ext cx="1435608" cy="685800"/>
          </a:xfrm>
          <a:prstGeom prst="rect">
            <a:avLst/>
          </a:prstGeom>
          <a:noFill/>
          <a:ln/>
        </p:spPr>
        <p:txBody>
          <a:bodyPr wrap="square" lIns="0" tIns="0" rIns="0" bIns="0" rtlCol="0" anchor="ctr"/>
          <a:lstStyle/>
          <a:p>
            <a:pPr algn="ctr" indent="0" marL="0">
              <a:buNone/>
            </a:pPr>
            <a:r>
              <a:rPr lang="en-US" sz="1050" dirty="0">
                <a:solidFill>
                  <a:srgbClr val="000000"/>
                </a:solidFill>
                <a:latin typeface="Calibri" pitchFamily="34" charset="0"/>
                <a:ea typeface="Calibri" pitchFamily="34" charset="-122"/>
                <a:cs typeface="Calibri" pitchFamily="34" charset="-120"/>
              </a:rPr>
              <a:t>S3 media (private)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logo-23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3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System Architecture: AWS Deployment View</a:t>
            </a:r>
            <a:endParaRPr lang="en-US" sz="3400" dirty="0"/>
          </a:p>
        </p:txBody>
      </p:sp>
      <p:sp>
        <p:nvSpPr>
          <p:cNvPr id="4" name="t-23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3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3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15</a:t>
            </a:r>
            <a:endParaRPr lang="en-US" sz="1100" dirty="0"/>
          </a:p>
        </p:txBody>
      </p:sp>
      <p:pic>
        <p:nvPicPr>
          <p:cNvPr id="7" name="img-236" descr="/private/tmp/claude-501/-Users-mithilesh-Downloads-cloudnote-site--1-/6c250750-b801-43eb-9bc6-27723f42fa53/scratchpad/docgen/img/arch.png">    </p:cNvPr>
          <p:cNvPicPr>
            <a:picLocks noChangeAspect="1"/>
          </p:cNvPicPr>
          <p:nvPr/>
        </p:nvPicPr>
        <p:blipFill>
          <a:blip r:embed="rId2"/>
          <a:stretch>
            <a:fillRect/>
          </a:stretch>
        </p:blipFill>
        <p:spPr>
          <a:xfrm>
            <a:off x="1149630" y="1234440"/>
            <a:ext cx="9862260" cy="4663440"/>
          </a:xfrm>
          <a:prstGeom prst="rect">
            <a:avLst/>
          </a:prstGeom>
        </p:spPr>
      </p:pic>
      <p:sp>
        <p:nvSpPr>
          <p:cNvPr id="8" name="t-237"/>
          <p:cNvSpPr txBox="1"/>
          <p:nvPr/>
        </p:nvSpPr>
        <p:spPr>
          <a:xfrm>
            <a:off x="548640" y="5943600"/>
            <a:ext cx="11064240" cy="320040"/>
          </a:xfrm>
          <a:prstGeom prst="rect">
            <a:avLst/>
          </a:prstGeom>
          <a:noFill/>
          <a:ln/>
        </p:spPr>
        <p:txBody>
          <a:bodyPr wrap="square" lIns="0" tIns="0" rIns="0" bIns="0" rtlCol="0" anchor="ctr"/>
          <a:lstStyle/>
          <a:p>
            <a:pPr algn="ctr" indent="0" marL="0">
              <a:buNone/>
            </a:pPr>
            <a:r>
              <a:rPr lang="en-US" sz="1200" b="1" dirty="0">
                <a:solidFill>
                  <a:srgbClr val="000000"/>
                </a:solidFill>
                <a:latin typeface="Calibri" pitchFamily="34" charset="0"/>
                <a:ea typeface="Calibri" pitchFamily="34" charset="-122"/>
                <a:cs typeface="Calibri" pitchFamily="34" charset="-120"/>
              </a:rPr>
              <a:t>Request path: CloudFront → API Gateway (Cognito JWT) → Lambda → DynamoDB / S3; processing path: S3 → Transcribe → EventBridge → worker Lambda → LLM chain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logo-238"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39"/>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Database Schema Model (Logical / ER View)</a:t>
            </a:r>
            <a:endParaRPr lang="en-US" sz="3400" dirty="0"/>
          </a:p>
        </p:txBody>
      </p:sp>
      <p:sp>
        <p:nvSpPr>
          <p:cNvPr id="4" name="t-240"/>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41"/>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242"/>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16</a:t>
            </a:r>
            <a:endParaRPr lang="en-US" sz="1100" dirty="0"/>
          </a:p>
        </p:txBody>
      </p:sp>
      <p:sp>
        <p:nvSpPr>
          <p:cNvPr id="7" name="ent-243"/>
          <p:cNvSpPr/>
          <p:nvPr/>
        </p:nvSpPr>
        <p:spPr>
          <a:xfrm>
            <a:off x="274320" y="1234440"/>
            <a:ext cx="1828800" cy="914400"/>
          </a:xfrm>
          <a:prstGeom prst="rect">
            <a:avLst/>
          </a:prstGeom>
          <a:solidFill>
            <a:srgbClr val="FFFFFF"/>
          </a:solidFill>
          <a:ln w="15875">
            <a:solidFill>
              <a:srgbClr val="7F7F7F"/>
            </a:solidFill>
            <a:prstDash val="solid"/>
          </a:ln>
        </p:spPr>
      </p:sp>
      <p:sp>
        <p:nvSpPr>
          <p:cNvPr id="8" name="enth-244"/>
          <p:cNvSpPr/>
          <p:nvPr/>
        </p:nvSpPr>
        <p:spPr>
          <a:xfrm>
            <a:off x="274320" y="1234440"/>
            <a:ext cx="1828800" cy="347472"/>
          </a:xfrm>
          <a:prstGeom prst="rect">
            <a:avLst/>
          </a:prstGeom>
          <a:solidFill>
            <a:srgbClr val="7F7F7F"/>
          </a:solidFill>
          <a:ln w="15875">
            <a:solidFill>
              <a:srgbClr val="7F7F7F"/>
            </a:solidFill>
            <a:prstDash val="solid"/>
          </a:ln>
        </p:spPr>
      </p:sp>
      <p:sp>
        <p:nvSpPr>
          <p:cNvPr id="9" name="t-245"/>
          <p:cNvSpPr txBox="1"/>
          <p:nvPr/>
        </p:nvSpPr>
        <p:spPr>
          <a:xfrm>
            <a:off x="274320" y="1234440"/>
            <a:ext cx="182880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S3 MEDIA FILE</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object key</a:t>
            </a:r>
            <a:endParaRPr lang="en-US" sz="1150" dirty="0"/>
          </a:p>
        </p:txBody>
      </p:sp>
      <p:sp>
        <p:nvSpPr>
          <p:cNvPr id="10" name="t-246"/>
          <p:cNvSpPr txBox="1"/>
          <p:nvPr/>
        </p:nvSpPr>
        <p:spPr>
          <a:xfrm>
            <a:off x="347472" y="1636776"/>
            <a:ext cx="1682496" cy="438912"/>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one private object per video</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presigned upload / playback</a:t>
            </a:r>
            <a:endParaRPr lang="en-US" sz="1000" dirty="0"/>
          </a:p>
        </p:txBody>
      </p:sp>
      <p:sp>
        <p:nvSpPr>
          <p:cNvPr id="11" name="ent-247"/>
          <p:cNvSpPr/>
          <p:nvPr/>
        </p:nvSpPr>
        <p:spPr>
          <a:xfrm>
            <a:off x="274320" y="2651760"/>
            <a:ext cx="1828800" cy="1133856"/>
          </a:xfrm>
          <a:prstGeom prst="rect">
            <a:avLst/>
          </a:prstGeom>
          <a:solidFill>
            <a:srgbClr val="FFFFFF"/>
          </a:solidFill>
          <a:ln w="15875">
            <a:solidFill>
              <a:srgbClr val="595959"/>
            </a:solidFill>
            <a:prstDash val="solid"/>
          </a:ln>
        </p:spPr>
      </p:sp>
      <p:sp>
        <p:nvSpPr>
          <p:cNvPr id="12" name="enth-248"/>
          <p:cNvSpPr/>
          <p:nvPr/>
        </p:nvSpPr>
        <p:spPr>
          <a:xfrm>
            <a:off x="274320" y="2651760"/>
            <a:ext cx="1828800" cy="347472"/>
          </a:xfrm>
          <a:prstGeom prst="rect">
            <a:avLst/>
          </a:prstGeom>
          <a:solidFill>
            <a:srgbClr val="595959"/>
          </a:solidFill>
          <a:ln w="15875">
            <a:solidFill>
              <a:srgbClr val="595959"/>
            </a:solidFill>
            <a:prstDash val="solid"/>
          </a:ln>
        </p:spPr>
      </p:sp>
      <p:sp>
        <p:nvSpPr>
          <p:cNvPr id="13" name="t-249"/>
          <p:cNvSpPr txBox="1"/>
          <p:nvPr/>
        </p:nvSpPr>
        <p:spPr>
          <a:xfrm>
            <a:off x="274320" y="2651760"/>
            <a:ext cx="182880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USER (Cognito)</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PK: sub</a:t>
            </a:r>
            <a:endParaRPr lang="en-US" sz="1150" dirty="0"/>
          </a:p>
        </p:txBody>
      </p:sp>
      <p:sp>
        <p:nvSpPr>
          <p:cNvPr id="14" name="t-250"/>
          <p:cNvSpPr txBox="1"/>
          <p:nvPr/>
        </p:nvSpPr>
        <p:spPr>
          <a:xfrm>
            <a:off x="347472" y="3054096"/>
            <a:ext cx="1682496" cy="658368"/>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sub (user id)</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email</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password (Cognito only)</a:t>
            </a:r>
            <a:endParaRPr lang="en-US" sz="1000" dirty="0"/>
          </a:p>
        </p:txBody>
      </p:sp>
      <p:sp>
        <p:nvSpPr>
          <p:cNvPr id="15" name="ent-251"/>
          <p:cNvSpPr/>
          <p:nvPr/>
        </p:nvSpPr>
        <p:spPr>
          <a:xfrm>
            <a:off x="274320" y="4343400"/>
            <a:ext cx="1828800" cy="914400"/>
          </a:xfrm>
          <a:prstGeom prst="rect">
            <a:avLst/>
          </a:prstGeom>
          <a:solidFill>
            <a:srgbClr val="FFFFFF"/>
          </a:solidFill>
          <a:ln w="15875">
            <a:solidFill>
              <a:srgbClr val="7F7F7F"/>
            </a:solidFill>
            <a:prstDash val="solid"/>
          </a:ln>
        </p:spPr>
      </p:sp>
      <p:sp>
        <p:nvSpPr>
          <p:cNvPr id="16" name="enth-252"/>
          <p:cNvSpPr/>
          <p:nvPr/>
        </p:nvSpPr>
        <p:spPr>
          <a:xfrm>
            <a:off x="274320" y="4343400"/>
            <a:ext cx="1828800" cy="347472"/>
          </a:xfrm>
          <a:prstGeom prst="rect">
            <a:avLst/>
          </a:prstGeom>
          <a:solidFill>
            <a:srgbClr val="7F7F7F"/>
          </a:solidFill>
          <a:ln w="15875">
            <a:solidFill>
              <a:srgbClr val="7F7F7F"/>
            </a:solidFill>
            <a:prstDash val="solid"/>
          </a:ln>
        </p:spPr>
      </p:sp>
      <p:sp>
        <p:nvSpPr>
          <p:cNvPr id="17" name="t-253"/>
          <p:cNvSpPr txBox="1"/>
          <p:nvPr/>
        </p:nvSpPr>
        <p:spPr>
          <a:xfrm>
            <a:off x="274320" y="4343400"/>
            <a:ext cx="182880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LIBRARY META</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META#lib</a:t>
            </a:r>
            <a:endParaRPr lang="en-US" sz="1150" dirty="0"/>
          </a:p>
        </p:txBody>
      </p:sp>
      <p:sp>
        <p:nvSpPr>
          <p:cNvPr id="18" name="t-254"/>
          <p:cNvSpPr txBox="1"/>
          <p:nvPr/>
        </p:nvSpPr>
        <p:spPr>
          <a:xfrm>
            <a:off x="347472" y="4745736"/>
            <a:ext cx="1682496" cy="438912"/>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ver (cache version)</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bumped on every change</a:t>
            </a:r>
            <a:endParaRPr lang="en-US" sz="1000" dirty="0"/>
          </a:p>
        </p:txBody>
      </p:sp>
      <p:sp>
        <p:nvSpPr>
          <p:cNvPr id="19" name="ent-255"/>
          <p:cNvSpPr/>
          <p:nvPr/>
        </p:nvSpPr>
        <p:spPr>
          <a:xfrm>
            <a:off x="2651760" y="1234440"/>
            <a:ext cx="2148840" cy="1572768"/>
          </a:xfrm>
          <a:prstGeom prst="rect">
            <a:avLst/>
          </a:prstGeom>
          <a:solidFill>
            <a:srgbClr val="FFFFFF"/>
          </a:solidFill>
          <a:ln w="15875">
            <a:solidFill>
              <a:srgbClr val="960000"/>
            </a:solidFill>
            <a:prstDash val="solid"/>
          </a:ln>
        </p:spPr>
      </p:sp>
      <p:sp>
        <p:nvSpPr>
          <p:cNvPr id="20" name="enth-256"/>
          <p:cNvSpPr/>
          <p:nvPr/>
        </p:nvSpPr>
        <p:spPr>
          <a:xfrm>
            <a:off x="2651760" y="1234440"/>
            <a:ext cx="2148840" cy="347472"/>
          </a:xfrm>
          <a:prstGeom prst="rect">
            <a:avLst/>
          </a:prstGeom>
          <a:solidFill>
            <a:srgbClr val="960000"/>
          </a:solidFill>
          <a:ln w="15875">
            <a:solidFill>
              <a:srgbClr val="960000"/>
            </a:solidFill>
            <a:prstDash val="solid"/>
          </a:ln>
        </p:spPr>
      </p:sp>
      <p:sp>
        <p:nvSpPr>
          <p:cNvPr id="21" name="t-257"/>
          <p:cNvSpPr txBox="1"/>
          <p:nvPr/>
        </p:nvSpPr>
        <p:spPr>
          <a:xfrm>
            <a:off x="2651760" y="1234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VIDEO</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pk U#sub  ·  sk V#videoId</a:t>
            </a:r>
            <a:endParaRPr lang="en-US" sz="1150" dirty="0"/>
          </a:p>
        </p:txBody>
      </p:sp>
      <p:sp>
        <p:nvSpPr>
          <p:cNvPr id="22" name="t-258"/>
          <p:cNvSpPr txBox="1"/>
          <p:nvPr/>
        </p:nvSpPr>
        <p:spPr>
          <a:xfrm>
            <a:off x="2724912" y="1636776"/>
            <a:ext cx="2002536" cy="1097280"/>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id, title, kind (media/transcript)</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status (awaiting_upload ... ready)</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language, size, duration</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jobName, attempt, chunkCount</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notesSource, createdAt</a:t>
            </a:r>
            <a:endParaRPr lang="en-US" sz="1000" dirty="0"/>
          </a:p>
        </p:txBody>
      </p:sp>
      <p:sp>
        <p:nvSpPr>
          <p:cNvPr id="23" name="ent-259"/>
          <p:cNvSpPr/>
          <p:nvPr/>
        </p:nvSpPr>
        <p:spPr>
          <a:xfrm>
            <a:off x="5486400" y="1234440"/>
            <a:ext cx="2148840" cy="1572768"/>
          </a:xfrm>
          <a:prstGeom prst="rect">
            <a:avLst/>
          </a:prstGeom>
          <a:solidFill>
            <a:srgbClr val="FFFFFF"/>
          </a:solidFill>
          <a:ln w="15875">
            <a:solidFill>
              <a:srgbClr val="2F5597"/>
            </a:solidFill>
            <a:prstDash val="solid"/>
          </a:ln>
        </p:spPr>
      </p:sp>
      <p:sp>
        <p:nvSpPr>
          <p:cNvPr id="24" name="enth-260"/>
          <p:cNvSpPr/>
          <p:nvPr/>
        </p:nvSpPr>
        <p:spPr>
          <a:xfrm>
            <a:off x="5486400" y="1234440"/>
            <a:ext cx="2148840" cy="347472"/>
          </a:xfrm>
          <a:prstGeom prst="rect">
            <a:avLst/>
          </a:prstGeom>
          <a:solidFill>
            <a:srgbClr val="2F5597"/>
          </a:solidFill>
          <a:ln w="15875">
            <a:solidFill>
              <a:srgbClr val="2F5597"/>
            </a:solidFill>
            <a:prstDash val="solid"/>
          </a:ln>
        </p:spPr>
      </p:sp>
      <p:sp>
        <p:nvSpPr>
          <p:cNvPr id="25" name="t-261"/>
          <p:cNvSpPr txBox="1"/>
          <p:nvPr/>
        </p:nvSpPr>
        <p:spPr>
          <a:xfrm>
            <a:off x="5486400" y="1234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CHUNK (moment)</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C#videoId#00012</a:t>
            </a:r>
            <a:endParaRPr lang="en-US" sz="1150" dirty="0"/>
          </a:p>
        </p:txBody>
      </p:sp>
      <p:sp>
        <p:nvSpPr>
          <p:cNvPr id="26" name="t-262"/>
          <p:cNvSpPr txBox="1"/>
          <p:nvPr/>
        </p:nvSpPr>
        <p:spPr>
          <a:xfrm>
            <a:off x="5559552" y="1636776"/>
            <a:ext cx="2002536" cy="1097280"/>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id = videoId:idx</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videoId (FK), idx</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start, end (seconds)</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text</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vec (optional embedding)</a:t>
            </a:r>
            <a:endParaRPr lang="en-US" sz="1000" dirty="0"/>
          </a:p>
        </p:txBody>
      </p:sp>
      <p:sp>
        <p:nvSpPr>
          <p:cNvPr id="27" name="ent-263"/>
          <p:cNvSpPr/>
          <p:nvPr/>
        </p:nvSpPr>
        <p:spPr>
          <a:xfrm>
            <a:off x="2651760" y="3520440"/>
            <a:ext cx="2148840" cy="1572768"/>
          </a:xfrm>
          <a:prstGeom prst="rect">
            <a:avLst/>
          </a:prstGeom>
          <a:solidFill>
            <a:srgbClr val="FFFFFF"/>
          </a:solidFill>
          <a:ln w="15875">
            <a:solidFill>
              <a:srgbClr val="548235"/>
            </a:solidFill>
            <a:prstDash val="solid"/>
          </a:ln>
        </p:spPr>
      </p:sp>
      <p:sp>
        <p:nvSpPr>
          <p:cNvPr id="28" name="enth-264"/>
          <p:cNvSpPr/>
          <p:nvPr/>
        </p:nvSpPr>
        <p:spPr>
          <a:xfrm>
            <a:off x="2651760" y="3520440"/>
            <a:ext cx="2148840" cy="347472"/>
          </a:xfrm>
          <a:prstGeom prst="rect">
            <a:avLst/>
          </a:prstGeom>
          <a:solidFill>
            <a:srgbClr val="548235"/>
          </a:solidFill>
          <a:ln w="15875">
            <a:solidFill>
              <a:srgbClr val="548235"/>
            </a:solidFill>
            <a:prstDash val="solid"/>
          </a:ln>
        </p:spPr>
      </p:sp>
      <p:sp>
        <p:nvSpPr>
          <p:cNvPr id="29" name="t-265"/>
          <p:cNvSpPr txBox="1"/>
          <p:nvPr/>
        </p:nvSpPr>
        <p:spPr>
          <a:xfrm>
            <a:off x="2651760" y="3520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NOTES (AI notes)</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N#videoId</a:t>
            </a:r>
            <a:endParaRPr lang="en-US" sz="1150" dirty="0"/>
          </a:p>
        </p:txBody>
      </p:sp>
      <p:sp>
        <p:nvSpPr>
          <p:cNvPr id="30" name="t-266"/>
          <p:cNvSpPr txBox="1"/>
          <p:nvPr/>
        </p:nvSpPr>
        <p:spPr>
          <a:xfrm>
            <a:off x="2724912" y="3922776"/>
            <a:ext cx="2002536" cy="1097280"/>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videoId (FK)</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summary</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points[ {text, chunkId} ]</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actions[ ], decisions[ ]</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source (ai / extractive)</a:t>
            </a:r>
            <a:endParaRPr lang="en-US" sz="1000" dirty="0"/>
          </a:p>
        </p:txBody>
      </p:sp>
      <p:sp>
        <p:nvSpPr>
          <p:cNvPr id="31" name="ent-267"/>
          <p:cNvSpPr/>
          <p:nvPr/>
        </p:nvSpPr>
        <p:spPr>
          <a:xfrm>
            <a:off x="5486400" y="3520440"/>
            <a:ext cx="2148840" cy="1133856"/>
          </a:xfrm>
          <a:prstGeom prst="rect">
            <a:avLst/>
          </a:prstGeom>
          <a:solidFill>
            <a:srgbClr val="FFFFFF"/>
          </a:solidFill>
          <a:ln w="15875">
            <a:solidFill>
              <a:srgbClr val="548235"/>
            </a:solidFill>
            <a:prstDash val="solid"/>
          </a:ln>
        </p:spPr>
      </p:sp>
      <p:sp>
        <p:nvSpPr>
          <p:cNvPr id="32" name="enth-268"/>
          <p:cNvSpPr/>
          <p:nvPr/>
        </p:nvSpPr>
        <p:spPr>
          <a:xfrm>
            <a:off x="5486400" y="3520440"/>
            <a:ext cx="2148840" cy="347472"/>
          </a:xfrm>
          <a:prstGeom prst="rect">
            <a:avLst/>
          </a:prstGeom>
          <a:solidFill>
            <a:srgbClr val="548235"/>
          </a:solidFill>
          <a:ln w="15875">
            <a:solidFill>
              <a:srgbClr val="548235"/>
            </a:solidFill>
            <a:prstDash val="solid"/>
          </a:ln>
        </p:spPr>
      </p:sp>
      <p:sp>
        <p:nvSpPr>
          <p:cNvPr id="33" name="t-269"/>
          <p:cNvSpPr txBox="1"/>
          <p:nvPr/>
        </p:nvSpPr>
        <p:spPr>
          <a:xfrm>
            <a:off x="5486400" y="3520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MY NOTES</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M#videoId</a:t>
            </a:r>
            <a:endParaRPr lang="en-US" sz="1150" dirty="0"/>
          </a:p>
        </p:txBody>
      </p:sp>
      <p:sp>
        <p:nvSpPr>
          <p:cNvPr id="34" name="t-270"/>
          <p:cNvSpPr txBox="1"/>
          <p:nvPr/>
        </p:nvSpPr>
        <p:spPr>
          <a:xfrm>
            <a:off x="5559552" y="3922776"/>
            <a:ext cx="2002536" cy="658368"/>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videoId (FK)</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text (learner's own notes)</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updatedAt</a:t>
            </a:r>
            <a:endParaRPr lang="en-US" sz="1000" dirty="0"/>
          </a:p>
        </p:txBody>
      </p:sp>
      <p:sp>
        <p:nvSpPr>
          <p:cNvPr id="35" name="ent-271"/>
          <p:cNvSpPr/>
          <p:nvPr/>
        </p:nvSpPr>
        <p:spPr>
          <a:xfrm>
            <a:off x="8229600" y="1234440"/>
            <a:ext cx="2148840" cy="1572768"/>
          </a:xfrm>
          <a:prstGeom prst="rect">
            <a:avLst/>
          </a:prstGeom>
          <a:solidFill>
            <a:srgbClr val="FFFFFF"/>
          </a:solidFill>
          <a:ln w="15875">
            <a:solidFill>
              <a:srgbClr val="C55A11"/>
            </a:solidFill>
            <a:prstDash val="solid"/>
          </a:ln>
        </p:spPr>
      </p:sp>
      <p:sp>
        <p:nvSpPr>
          <p:cNvPr id="36" name="enth-272"/>
          <p:cNvSpPr/>
          <p:nvPr/>
        </p:nvSpPr>
        <p:spPr>
          <a:xfrm>
            <a:off x="8229600" y="1234440"/>
            <a:ext cx="2148840" cy="347472"/>
          </a:xfrm>
          <a:prstGeom prst="rect">
            <a:avLst/>
          </a:prstGeom>
          <a:solidFill>
            <a:srgbClr val="C55A11"/>
          </a:solidFill>
          <a:ln w="15875">
            <a:solidFill>
              <a:srgbClr val="C55A11"/>
            </a:solidFill>
            <a:prstDash val="solid"/>
          </a:ln>
        </p:spPr>
      </p:sp>
      <p:sp>
        <p:nvSpPr>
          <p:cNvPr id="37" name="t-273"/>
          <p:cNvSpPr txBox="1"/>
          <p:nvPr/>
        </p:nvSpPr>
        <p:spPr>
          <a:xfrm>
            <a:off x="8229600" y="1234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REFERENCE</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R#refId</a:t>
            </a:r>
            <a:endParaRPr lang="en-US" sz="1150" dirty="0"/>
          </a:p>
        </p:txBody>
      </p:sp>
      <p:sp>
        <p:nvSpPr>
          <p:cNvPr id="38" name="t-274"/>
          <p:cNvSpPr txBox="1"/>
          <p:nvPr/>
        </p:nvSpPr>
        <p:spPr>
          <a:xfrm>
            <a:off x="8302752" y="1636776"/>
            <a:ext cx="2002536" cy="1097280"/>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id = r-chunkId / r-fwd-chunkId</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dir (back / forward)</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phrase, videoId, chunkId (FK)</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status (open/pending/resolved)</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source {chunkId, score}</a:t>
            </a:r>
            <a:endParaRPr lang="en-US" sz="1000" dirty="0"/>
          </a:p>
        </p:txBody>
      </p:sp>
      <p:sp>
        <p:nvSpPr>
          <p:cNvPr id="39" name="ent-275"/>
          <p:cNvSpPr/>
          <p:nvPr/>
        </p:nvSpPr>
        <p:spPr>
          <a:xfrm>
            <a:off x="8229600" y="3520440"/>
            <a:ext cx="2148840" cy="1353312"/>
          </a:xfrm>
          <a:prstGeom prst="rect">
            <a:avLst/>
          </a:prstGeom>
          <a:solidFill>
            <a:srgbClr val="FFFFFF"/>
          </a:solidFill>
          <a:ln w="15875">
            <a:solidFill>
              <a:srgbClr val="C55A11"/>
            </a:solidFill>
            <a:prstDash val="solid"/>
          </a:ln>
        </p:spPr>
      </p:sp>
      <p:sp>
        <p:nvSpPr>
          <p:cNvPr id="40" name="enth-276"/>
          <p:cNvSpPr/>
          <p:nvPr/>
        </p:nvSpPr>
        <p:spPr>
          <a:xfrm>
            <a:off x="8229600" y="3520440"/>
            <a:ext cx="2148840" cy="347472"/>
          </a:xfrm>
          <a:prstGeom prst="rect">
            <a:avLst/>
          </a:prstGeom>
          <a:solidFill>
            <a:srgbClr val="C55A11"/>
          </a:solidFill>
          <a:ln w="15875">
            <a:solidFill>
              <a:srgbClr val="C55A11"/>
            </a:solidFill>
            <a:prstDash val="solid"/>
          </a:ln>
        </p:spPr>
      </p:sp>
      <p:sp>
        <p:nvSpPr>
          <p:cNvPr id="41" name="t-277"/>
          <p:cNvSpPr txBox="1"/>
          <p:nvPr/>
        </p:nvSpPr>
        <p:spPr>
          <a:xfrm>
            <a:off x="8229600" y="3520440"/>
            <a:ext cx="214884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NOTIFICATION</a:t>
            </a:r>
            <a:endParaRPr lang="en-US" sz="1150" dirty="0"/>
          </a:p>
          <a:p>
            <a:pPr algn="ctr" indent="0" marL="0">
              <a:buNone/>
            </a:pPr>
            <a:r>
              <a:rPr lang="en-US" sz="850" dirty="0">
                <a:solidFill>
                  <a:srgbClr val="FFFFFF"/>
                </a:solidFill>
                <a:latin typeface="Calibri" pitchFamily="34" charset="0"/>
                <a:ea typeface="Calibri" pitchFamily="34" charset="-122"/>
                <a:cs typeface="Calibri" pitchFamily="34" charset="-120"/>
              </a:rPr>
              <a:t>sk F#refId#chunkId</a:t>
            </a:r>
            <a:endParaRPr lang="en-US" sz="1150" dirty="0"/>
          </a:p>
        </p:txBody>
      </p:sp>
      <p:sp>
        <p:nvSpPr>
          <p:cNvPr id="42" name="t-278"/>
          <p:cNvSpPr txBox="1"/>
          <p:nvPr/>
        </p:nvSpPr>
        <p:spPr>
          <a:xfrm>
            <a:off x="8302752" y="3922776"/>
            <a:ext cx="2002536" cy="877824"/>
          </a:xfrm>
          <a:prstGeom prst="rect">
            <a:avLst/>
          </a:prstGeom>
          <a:noFill/>
          <a:ln/>
        </p:spPr>
        <p:txBody>
          <a:bodyPr wrap="square" lIns="0" tIns="0" rIns="0" bIns="0" rtlCol="0" anchor="t"/>
          <a:lstStyle/>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refId (FK), chunkId (FK)</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score, mode</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status (new/accepted/rejected)</a:t>
            </a:r>
            <a:endParaRPr lang="en-US" sz="1000" dirty="0"/>
          </a:p>
          <a:p>
            <a:pPr indent="0" marL="0">
              <a:lnSpc>
                <a:spcPts val="1700"/>
              </a:lnSpc>
              <a:buNone/>
            </a:pPr>
            <a:r>
              <a:rPr lang="en-US" sz="1000" dirty="0">
                <a:solidFill>
                  <a:srgbClr val="000000"/>
                </a:solidFill>
                <a:latin typeface="Calibri" pitchFamily="34" charset="0"/>
                <a:ea typeface="Calibri" pitchFamily="34" charset="-122"/>
                <a:cs typeface="Calibri" pitchFamily="34" charset="-120"/>
              </a:rPr>
              <a:t>createdAt</a:t>
            </a:r>
            <a:endParaRPr lang="en-US" sz="1000" dirty="0"/>
          </a:p>
        </p:txBody>
      </p:sp>
      <p:sp>
        <p:nvSpPr>
          <p:cNvPr id="43" name="rel-279"/>
          <p:cNvSpPr/>
          <p:nvPr/>
        </p:nvSpPr>
        <p:spPr>
          <a:xfrm>
            <a:off x="2103120" y="1691640"/>
            <a:ext cx="548640" cy="914"/>
          </a:xfrm>
          <a:prstGeom prst="line">
            <a:avLst/>
          </a:prstGeom>
          <a:noFill/>
          <a:ln w="15875">
            <a:solidFill>
              <a:srgbClr val="404040"/>
            </a:solidFill>
            <a:prstDash val="solid"/>
          </a:ln>
        </p:spPr>
      </p:sp>
      <p:sp>
        <p:nvSpPr>
          <p:cNvPr id="44" name="t-280"/>
          <p:cNvSpPr txBox="1"/>
          <p:nvPr/>
        </p:nvSpPr>
        <p:spPr>
          <a:xfrm>
            <a:off x="2103120" y="157276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1:1</a:t>
            </a:r>
            <a:endParaRPr lang="en-US" sz="1000" dirty="0"/>
          </a:p>
        </p:txBody>
      </p:sp>
      <p:sp>
        <p:nvSpPr>
          <p:cNvPr id="45" name="rel-281"/>
          <p:cNvSpPr/>
          <p:nvPr/>
        </p:nvSpPr>
        <p:spPr>
          <a:xfrm flipV="1">
            <a:off x="2103120" y="2377440"/>
            <a:ext cx="548640" cy="640080"/>
          </a:xfrm>
          <a:prstGeom prst="line">
            <a:avLst/>
          </a:prstGeom>
          <a:noFill/>
          <a:ln w="15875">
            <a:solidFill>
              <a:srgbClr val="404040"/>
            </a:solidFill>
            <a:prstDash val="solid"/>
          </a:ln>
        </p:spPr>
      </p:sp>
      <p:sp>
        <p:nvSpPr>
          <p:cNvPr id="46" name="t-282"/>
          <p:cNvSpPr txBox="1"/>
          <p:nvPr/>
        </p:nvSpPr>
        <p:spPr>
          <a:xfrm>
            <a:off x="2103120" y="257860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1:N</a:t>
            </a:r>
            <a:endParaRPr lang="en-US" sz="1000" dirty="0"/>
          </a:p>
        </p:txBody>
      </p:sp>
      <p:sp>
        <p:nvSpPr>
          <p:cNvPr id="47" name="rel-283"/>
          <p:cNvSpPr/>
          <p:nvPr/>
        </p:nvSpPr>
        <p:spPr>
          <a:xfrm>
            <a:off x="1188720" y="3785616"/>
            <a:ext cx="914" cy="557784"/>
          </a:xfrm>
          <a:prstGeom prst="line">
            <a:avLst/>
          </a:prstGeom>
          <a:noFill/>
          <a:ln w="15875">
            <a:solidFill>
              <a:srgbClr val="404040"/>
            </a:solidFill>
            <a:prstDash val="solid"/>
          </a:ln>
        </p:spPr>
      </p:sp>
      <p:sp>
        <p:nvSpPr>
          <p:cNvPr id="48" name="t-284"/>
          <p:cNvSpPr txBox="1"/>
          <p:nvPr/>
        </p:nvSpPr>
        <p:spPr>
          <a:xfrm>
            <a:off x="914400" y="3945636"/>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1:1</a:t>
            </a:r>
            <a:endParaRPr lang="en-US" sz="1000" dirty="0"/>
          </a:p>
        </p:txBody>
      </p:sp>
      <p:sp>
        <p:nvSpPr>
          <p:cNvPr id="49" name="rel-285"/>
          <p:cNvSpPr/>
          <p:nvPr/>
        </p:nvSpPr>
        <p:spPr>
          <a:xfrm>
            <a:off x="4800600" y="1828800"/>
            <a:ext cx="685800" cy="914"/>
          </a:xfrm>
          <a:prstGeom prst="line">
            <a:avLst/>
          </a:prstGeom>
          <a:noFill/>
          <a:ln w="15875">
            <a:solidFill>
              <a:srgbClr val="404040"/>
            </a:solidFill>
            <a:prstDash val="solid"/>
          </a:ln>
        </p:spPr>
      </p:sp>
      <p:sp>
        <p:nvSpPr>
          <p:cNvPr id="50" name="t-286"/>
          <p:cNvSpPr txBox="1"/>
          <p:nvPr/>
        </p:nvSpPr>
        <p:spPr>
          <a:xfrm>
            <a:off x="4869180" y="170992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1:N</a:t>
            </a:r>
            <a:endParaRPr lang="en-US" sz="1000" dirty="0"/>
          </a:p>
        </p:txBody>
      </p:sp>
      <p:sp>
        <p:nvSpPr>
          <p:cNvPr id="51" name="rel-287"/>
          <p:cNvSpPr/>
          <p:nvPr/>
        </p:nvSpPr>
        <p:spPr>
          <a:xfrm>
            <a:off x="3721608" y="2606040"/>
            <a:ext cx="914" cy="914400"/>
          </a:xfrm>
          <a:prstGeom prst="line">
            <a:avLst/>
          </a:prstGeom>
          <a:noFill/>
          <a:ln w="15875">
            <a:solidFill>
              <a:srgbClr val="404040"/>
            </a:solidFill>
            <a:prstDash val="solid"/>
          </a:ln>
        </p:spPr>
      </p:sp>
      <p:sp>
        <p:nvSpPr>
          <p:cNvPr id="52" name="t-288"/>
          <p:cNvSpPr txBox="1"/>
          <p:nvPr/>
        </p:nvSpPr>
        <p:spPr>
          <a:xfrm>
            <a:off x="3447288" y="294436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1:1</a:t>
            </a:r>
            <a:endParaRPr lang="en-US" sz="1000" dirty="0"/>
          </a:p>
        </p:txBody>
      </p:sp>
      <p:sp>
        <p:nvSpPr>
          <p:cNvPr id="53" name="rel-289"/>
          <p:cNvSpPr/>
          <p:nvPr/>
        </p:nvSpPr>
        <p:spPr>
          <a:xfrm>
            <a:off x="4800600" y="2468880"/>
            <a:ext cx="685800" cy="1280160"/>
          </a:xfrm>
          <a:prstGeom prst="line">
            <a:avLst/>
          </a:prstGeom>
          <a:noFill/>
          <a:ln w="15875">
            <a:solidFill>
              <a:srgbClr val="404040"/>
            </a:solidFill>
            <a:prstDash val="solid"/>
          </a:ln>
        </p:spPr>
      </p:sp>
      <p:sp>
        <p:nvSpPr>
          <p:cNvPr id="54" name="t-290"/>
          <p:cNvSpPr txBox="1"/>
          <p:nvPr/>
        </p:nvSpPr>
        <p:spPr>
          <a:xfrm>
            <a:off x="4869180" y="299008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1:1</a:t>
            </a:r>
            <a:endParaRPr lang="en-US" sz="1000" dirty="0"/>
          </a:p>
        </p:txBody>
      </p:sp>
      <p:sp>
        <p:nvSpPr>
          <p:cNvPr id="55" name="rel-291"/>
          <p:cNvSpPr/>
          <p:nvPr/>
        </p:nvSpPr>
        <p:spPr>
          <a:xfrm>
            <a:off x="7635240" y="1828800"/>
            <a:ext cx="594360" cy="914"/>
          </a:xfrm>
          <a:prstGeom prst="line">
            <a:avLst/>
          </a:prstGeom>
          <a:noFill/>
          <a:ln w="15875">
            <a:solidFill>
              <a:srgbClr val="404040"/>
            </a:solidFill>
            <a:prstDash val="solid"/>
          </a:ln>
        </p:spPr>
      </p:sp>
      <p:sp>
        <p:nvSpPr>
          <p:cNvPr id="56" name="t-292"/>
          <p:cNvSpPr txBox="1"/>
          <p:nvPr/>
        </p:nvSpPr>
        <p:spPr>
          <a:xfrm>
            <a:off x="7658100" y="170992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1:0..1</a:t>
            </a:r>
            <a:endParaRPr lang="en-US" sz="1000" dirty="0"/>
          </a:p>
        </p:txBody>
      </p:sp>
      <p:sp>
        <p:nvSpPr>
          <p:cNvPr id="57" name="rel-293"/>
          <p:cNvSpPr/>
          <p:nvPr/>
        </p:nvSpPr>
        <p:spPr>
          <a:xfrm>
            <a:off x="9299448" y="2606040"/>
            <a:ext cx="914" cy="914400"/>
          </a:xfrm>
          <a:prstGeom prst="line">
            <a:avLst/>
          </a:prstGeom>
          <a:noFill/>
          <a:ln w="15875">
            <a:solidFill>
              <a:srgbClr val="404040"/>
            </a:solidFill>
            <a:prstDash val="solid"/>
          </a:ln>
        </p:spPr>
      </p:sp>
      <p:sp>
        <p:nvSpPr>
          <p:cNvPr id="58" name="t-294"/>
          <p:cNvSpPr txBox="1"/>
          <p:nvPr/>
        </p:nvSpPr>
        <p:spPr>
          <a:xfrm>
            <a:off x="9025128" y="2944368"/>
            <a:ext cx="548640" cy="237744"/>
          </a:xfrm>
          <a:prstGeom prst="rect">
            <a:avLst/>
          </a:prstGeom>
          <a:solidFill>
            <a:srgbClr val="FFFFFF"/>
          </a:solidFill>
          <a:ln/>
        </p:spPr>
        <p:txBody>
          <a:bodyPr wrap="square" lIns="0" tIns="0" rIns="0" bIns="0" rtlCol="0" anchor="ctr"/>
          <a:lstStyle/>
          <a:p>
            <a:pPr algn="ctr" indent="0" marL="0">
              <a:buNone/>
            </a:pPr>
            <a:r>
              <a:rPr lang="en-US" sz="1000" b="1" dirty="0">
                <a:solidFill>
                  <a:srgbClr val="960000"/>
                </a:solidFill>
                <a:latin typeface="Calibri" pitchFamily="34" charset="0"/>
                <a:ea typeface="Calibri" pitchFamily="34" charset="-122"/>
                <a:cs typeface="Calibri" pitchFamily="34" charset="-120"/>
              </a:rPr>
              <a:t>1:N</a:t>
            </a:r>
            <a:endParaRPr lang="en-US" sz="1000" dirty="0"/>
          </a:p>
        </p:txBody>
      </p:sp>
      <p:sp>
        <p:nvSpPr>
          <p:cNvPr id="59" name="t-295"/>
          <p:cNvSpPr txBox="1"/>
          <p:nvPr/>
        </p:nvSpPr>
        <p:spPr>
          <a:xfrm>
            <a:off x="274320" y="5440680"/>
            <a:ext cx="11658600" cy="777240"/>
          </a:xfrm>
          <a:prstGeom prst="rect">
            <a:avLst/>
          </a:prstGeom>
          <a:noFill/>
          <a:ln/>
        </p:spPr>
        <p:txBody>
          <a:bodyPr wrap="square" lIns="0" tIns="0" rIns="0" bIns="0" rtlCol="0" anchor="t"/>
          <a:lstStyle/>
          <a:p>
            <a:pPr indent="0" marL="0">
              <a:buNone/>
            </a:pPr>
            <a:r>
              <a:rPr lang="en-US" sz="1250" b="1" dirty="0">
                <a:solidFill>
                  <a:srgbClr val="960000"/>
                </a:solidFill>
                <a:latin typeface="Calibri" pitchFamily="34" charset="0"/>
                <a:ea typeface="Calibri" pitchFamily="34" charset="-122"/>
                <a:cs typeface="Calibri" pitchFamily="34" charset="-120"/>
              </a:rPr>
              <a:t>How to read it: </a:t>
            </a:r>
            <a:pPr indent="0" marL="0">
              <a:buNone/>
            </a:pPr>
            <a:r>
              <a:rPr lang="en-US" sz="1250" dirty="0">
                <a:solidFill>
                  <a:srgbClr val="000000"/>
                </a:solidFill>
                <a:latin typeface="Calibri" pitchFamily="34" charset="0"/>
                <a:ea typeface="Calibri" pitchFamily="34" charset="-122"/>
                <a:cs typeface="Calibri" pitchFamily="34" charset="-120"/>
              </a:rPr>
              <a:t>one user owns many videos and one library-meta item; a video has many chunks (timestamped moments), one AI notes item and one my-notes item. A chunk can hold a reference to another recording; a reference gets notifications when a later upload explains it. Notes, references and notifications point to chunks by chunkId, which is how every item has a timestamp.</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logo-29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29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3400" b="1" dirty="0">
                <a:solidFill>
                  <a:srgbClr val="000000"/>
                </a:solidFill>
                <a:latin typeface="Times New Roman" pitchFamily="34" charset="0"/>
                <a:ea typeface="Times New Roman" pitchFamily="34" charset="-122"/>
                <a:cs typeface="Times New Roman" pitchFamily="34" charset="-120"/>
              </a:rPr>
              <a:t>Database Schema (Physical: DynamoDB Table)</a:t>
            </a:r>
            <a:endParaRPr lang="en-US" sz="3400" dirty="0"/>
          </a:p>
        </p:txBody>
      </p:sp>
      <p:sp>
        <p:nvSpPr>
          <p:cNvPr id="4" name="t-29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29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0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17</a:t>
            </a:r>
            <a:endParaRPr lang="en-US" sz="1100" dirty="0"/>
          </a:p>
        </p:txBody>
      </p:sp>
      <p:sp>
        <p:nvSpPr>
          <p:cNvPr id="7" name="t-301"/>
          <p:cNvSpPr txBox="1"/>
          <p:nvPr/>
        </p:nvSpPr>
        <p:spPr>
          <a:xfrm>
            <a:off x="457200" y="1188720"/>
            <a:ext cx="11247120" cy="320040"/>
          </a:xfrm>
          <a:prstGeom prst="rect">
            <a:avLst/>
          </a:prstGeom>
          <a:noFill/>
          <a:ln/>
        </p:spPr>
        <p:txBody>
          <a:bodyPr wrap="square" lIns="0" tIns="0" rIns="0" bIns="0" rtlCol="0" anchor="ctr"/>
          <a:lstStyle/>
          <a:p>
            <a:pPr algn="ctr" indent="0" marL="0">
              <a:buNone/>
            </a:pPr>
            <a:r>
              <a:rPr lang="en-US" sz="1300" b="1" dirty="0">
                <a:solidFill>
                  <a:srgbClr val="000000"/>
                </a:solidFill>
                <a:latin typeface="Calibri" pitchFamily="34" charset="0"/>
                <a:ea typeface="Calibri" pitchFamily="34" charset="-122"/>
                <a:cs typeface="Calibri" pitchFamily="34" charset="-120"/>
              </a:rPr>
              <a:t>Table: </a:t>
            </a:r>
            <a:pPr algn="ctr" indent="0" marL="0">
              <a:buNone/>
            </a:pPr>
            <a:r>
              <a:rPr lang="en-US" sz="1300" dirty="0">
                <a:solidFill>
                  <a:srgbClr val="000000"/>
                </a:solidFill>
                <a:latin typeface="Calibri" pitchFamily="34" charset="0"/>
                <a:ea typeface="Calibri" pitchFamily="34" charset="-122"/>
                <a:cs typeface="Calibri" pitchFamily="34" charset="-120"/>
              </a:rPr>
              <a:t>cloudnote-ai Table  ·  Partition key pk (String)  ·  Sort key sk (String)  ·  On-demand billing  ·  Encrypted  ·  Point-in-time recovery  ·  Retained if stack deleted</a:t>
            </a:r>
            <a:endParaRPr lang="en-US" sz="1300" dirty="0"/>
          </a:p>
        </p:txBody>
      </p:sp>
      <p:graphicFrame>
        <p:nvGraphicFramePr>
          <p:cNvPr id="18" name="tbl-302"/>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1417320"/>
                <a:gridCol w="1463040"/>
                <a:gridCol w="2240280"/>
                <a:gridCol w="3886200"/>
                <a:gridCol w="2240280"/>
              </a:tblGrid>
              <a:tr h="0">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Item type</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pk (partition key)</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sk (sort key)</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Main attributes</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Example sk</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Video</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V#&lt;videoId&gt;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title, kind, status, language, duration, jobName</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V#a1b2c3d4e5</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Chunk (moment)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C#&lt;videoId&gt;#&lt;idx 5 digits&gt;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id, videoId, idx, start, end, text, vec</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C#a1b2c3d4e5#00012</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AI notes</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N#&lt;videoId&gt;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summary, points, actions, decisions (each with chunkId)</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N#a1b2c3d4e5</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My notes</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M#&lt;videoId&gt;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text, updatedAt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M#a1b2c3d4e5</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Reference</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R#&lt;refId&gt;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dir, phrase, videoId, chunkId, status, source</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R#r-fwd-a1b2c3d4e5:12</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Notification</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F#&lt;refId&gt;#&lt;chunkId&gt;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refId, chunkId, score, status, createdAt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F#r-a1..:3#f6..:7</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Library meta</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U#&lt;user sub&gt;</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META#lib</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ver (index cache version)</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META#lib</a:t>
                      </a:r>
                      <a:endParaRPr lang="en-US" sz="14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9" name="ap-303"/>
          <p:cNvSpPr/>
          <p:nvPr/>
        </p:nvSpPr>
        <p:spPr>
          <a:xfrm>
            <a:off x="457200" y="4343400"/>
            <a:ext cx="3611880" cy="1554480"/>
          </a:xfrm>
          <a:prstGeom prst="rect">
            <a:avLst/>
          </a:prstGeom>
          <a:solidFill>
            <a:srgbClr val="F2F2F2"/>
          </a:solidFill>
          <a:ln w="9525">
            <a:solidFill>
              <a:srgbClr val="7F7F7F"/>
            </a:solidFill>
            <a:prstDash val="solid"/>
          </a:ln>
        </p:spPr>
      </p:sp>
      <p:sp>
        <p:nvSpPr>
          <p:cNvPr id="10" name="t-304"/>
          <p:cNvSpPr txBox="1"/>
          <p:nvPr/>
        </p:nvSpPr>
        <p:spPr>
          <a:xfrm>
            <a:off x="594360" y="4434840"/>
            <a:ext cx="3337560" cy="1371600"/>
          </a:xfrm>
          <a:prstGeom prst="rect">
            <a:avLst/>
          </a:prstGeom>
          <a:noFill/>
          <a:ln/>
        </p:spPr>
        <p:txBody>
          <a:bodyPr wrap="square" lIns="0" tIns="0" rIns="0" bIns="0" rtlCol="0" anchor="t"/>
          <a:lstStyle/>
          <a:p>
            <a:pPr indent="0" marL="0">
              <a:buNone/>
            </a:pPr>
            <a:r>
              <a:rPr lang="en-US" sz="1500" b="1" dirty="0">
                <a:solidFill>
                  <a:srgbClr val="960000"/>
                </a:solidFill>
                <a:latin typeface="Calibri" pitchFamily="34" charset="0"/>
                <a:ea typeface="Calibri" pitchFamily="34" charset="-122"/>
                <a:cs typeface="Calibri" pitchFamily="34" charset="-120"/>
              </a:rPr>
              <a:t>Access pattern</a:t>
            </a:r>
            <a:endParaRPr lang="en-US" sz="1500" dirty="0"/>
          </a:p>
          <a:p>
            <a:pPr indent="0" marL="0">
              <a:buNone/>
            </a:pPr>
            <a:r>
              <a:rPr lang="en-US" sz="1300" dirty="0">
                <a:solidFill>
                  <a:srgbClr val="000000"/>
                </a:solidFill>
                <a:latin typeface="Calibri" pitchFamily="34" charset="0"/>
                <a:ea typeface="Calibri" pitchFamily="34" charset="-122"/>
                <a:cs typeface="Calibri" pitchFamily="34" charset="-120"/>
              </a:rPr>
              <a:t>Query pk = U#sub AND sk begins_with "V#" lists all videos; "C#&lt;videoId&gt;#" gives one video's moments in time order</a:t>
            </a:r>
            <a:endParaRPr lang="en-US" sz="1500" dirty="0"/>
          </a:p>
        </p:txBody>
      </p:sp>
      <p:sp>
        <p:nvSpPr>
          <p:cNvPr id="11" name="ap-305"/>
          <p:cNvSpPr/>
          <p:nvPr/>
        </p:nvSpPr>
        <p:spPr>
          <a:xfrm>
            <a:off x="4251960" y="4343400"/>
            <a:ext cx="3611880" cy="1554480"/>
          </a:xfrm>
          <a:prstGeom prst="rect">
            <a:avLst/>
          </a:prstGeom>
          <a:solidFill>
            <a:srgbClr val="F2F2F2"/>
          </a:solidFill>
          <a:ln w="9525">
            <a:solidFill>
              <a:srgbClr val="7F7F7F"/>
            </a:solidFill>
            <a:prstDash val="solid"/>
          </a:ln>
        </p:spPr>
      </p:sp>
      <p:sp>
        <p:nvSpPr>
          <p:cNvPr id="12" name="t-306"/>
          <p:cNvSpPr txBox="1"/>
          <p:nvPr/>
        </p:nvSpPr>
        <p:spPr>
          <a:xfrm>
            <a:off x="4389120" y="4434840"/>
            <a:ext cx="3337560" cy="1371600"/>
          </a:xfrm>
          <a:prstGeom prst="rect">
            <a:avLst/>
          </a:prstGeom>
          <a:noFill/>
          <a:ln/>
        </p:spPr>
        <p:txBody>
          <a:bodyPr wrap="square" lIns="0" tIns="0" rIns="0" bIns="0" rtlCol="0" anchor="t"/>
          <a:lstStyle/>
          <a:p>
            <a:pPr indent="0" marL="0">
              <a:buNone/>
            </a:pPr>
            <a:r>
              <a:rPr lang="en-US" sz="1500" b="1" dirty="0">
                <a:solidFill>
                  <a:srgbClr val="960000"/>
                </a:solidFill>
                <a:latin typeface="Calibri" pitchFamily="34" charset="0"/>
                <a:ea typeface="Calibri" pitchFamily="34" charset="-122"/>
                <a:cs typeface="Calibri" pitchFamily="34" charset="-120"/>
              </a:rPr>
              <a:t>Isolation</a:t>
            </a:r>
            <a:endParaRPr lang="en-US" sz="1500" dirty="0"/>
          </a:p>
          <a:p>
            <a:pPr indent="0" marL="0">
              <a:buNone/>
            </a:pPr>
            <a:r>
              <a:rPr lang="en-US" sz="1300" dirty="0">
                <a:solidFill>
                  <a:srgbClr val="000000"/>
                </a:solidFill>
                <a:latin typeface="Calibri" pitchFamily="34" charset="0"/>
                <a:ea typeface="Calibri" pitchFamily="34" charset="-122"/>
                <a:cs typeface="Calibri" pitchFamily="34" charset="-120"/>
              </a:rPr>
              <a:t>pk is taken from the verified Cognito token, never from the request, so a user cannot reach another user's items</a:t>
            </a:r>
            <a:endParaRPr lang="en-US" sz="1500" dirty="0"/>
          </a:p>
        </p:txBody>
      </p:sp>
      <p:sp>
        <p:nvSpPr>
          <p:cNvPr id="13" name="ap-307"/>
          <p:cNvSpPr/>
          <p:nvPr/>
        </p:nvSpPr>
        <p:spPr>
          <a:xfrm>
            <a:off x="8046720" y="4343400"/>
            <a:ext cx="3611880" cy="1554480"/>
          </a:xfrm>
          <a:prstGeom prst="rect">
            <a:avLst/>
          </a:prstGeom>
          <a:solidFill>
            <a:srgbClr val="F2F2F2"/>
          </a:solidFill>
          <a:ln w="9525">
            <a:solidFill>
              <a:srgbClr val="7F7F7F"/>
            </a:solidFill>
            <a:prstDash val="solid"/>
          </a:ln>
        </p:spPr>
      </p:sp>
      <p:sp>
        <p:nvSpPr>
          <p:cNvPr id="14" name="t-308"/>
          <p:cNvSpPr txBox="1"/>
          <p:nvPr/>
        </p:nvSpPr>
        <p:spPr>
          <a:xfrm>
            <a:off x="8183880" y="4434840"/>
            <a:ext cx="3337560" cy="1371600"/>
          </a:xfrm>
          <a:prstGeom prst="rect">
            <a:avLst/>
          </a:prstGeom>
          <a:noFill/>
          <a:ln/>
        </p:spPr>
        <p:txBody>
          <a:bodyPr wrap="square" lIns="0" tIns="0" rIns="0" bIns="0" rtlCol="0" anchor="t"/>
          <a:lstStyle/>
          <a:p>
            <a:pPr indent="0" marL="0">
              <a:buNone/>
            </a:pPr>
            <a:r>
              <a:rPr lang="en-US" sz="1500" b="1" dirty="0">
                <a:solidFill>
                  <a:srgbClr val="960000"/>
                </a:solidFill>
                <a:latin typeface="Calibri" pitchFamily="34" charset="0"/>
                <a:ea typeface="Calibri" pitchFamily="34" charset="-122"/>
                <a:cs typeface="Calibri" pitchFamily="34" charset="-120"/>
              </a:rPr>
              <a:t>Why one table</a:t>
            </a:r>
            <a:endParaRPr lang="en-US" sz="1500" dirty="0"/>
          </a:p>
          <a:p>
            <a:pPr indent="0" marL="0">
              <a:buNone/>
            </a:pPr>
            <a:r>
              <a:rPr lang="en-US" sz="1300" dirty="0">
                <a:solidFill>
                  <a:srgbClr val="000000"/>
                </a:solidFill>
                <a:latin typeface="Calibri" pitchFamily="34" charset="0"/>
                <a:ea typeface="Calibri" pitchFamily="34" charset="-122"/>
                <a:cs typeface="Calibri" pitchFamily="34" charset="-120"/>
              </a:rPr>
              <a:t>Everything a user needs is in one partition: no joins, one query per screen, pay only per request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logo-30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1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(1/4): Implementation</a:t>
            </a:r>
            <a:endParaRPr lang="en-US" sz="4000" dirty="0"/>
          </a:p>
        </p:txBody>
      </p:sp>
      <p:sp>
        <p:nvSpPr>
          <p:cNvPr id="4" name="t-31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1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1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18</a:t>
            </a:r>
            <a:endParaRPr lang="en-US" sz="1100" dirty="0"/>
          </a:p>
        </p:txBody>
      </p:sp>
      <p:pic>
        <p:nvPicPr>
          <p:cNvPr id="7" name="img-314" descr="/Users/mithilesh/Downloads/cloudnote-site (1)/docs/manual/img/06-video-ask.jpg">    </p:cNvPr>
          <p:cNvPicPr>
            <a:picLocks noChangeAspect="1"/>
          </p:cNvPicPr>
          <p:nvPr/>
        </p:nvPicPr>
        <p:blipFill>
          <a:blip r:embed="rId2"/>
          <a:stretch>
            <a:fillRect/>
          </a:stretch>
        </p:blipFill>
        <p:spPr>
          <a:xfrm>
            <a:off x="457200" y="1280160"/>
            <a:ext cx="5532120" cy="3457575"/>
          </a:xfrm>
          <a:prstGeom prst="rect">
            <a:avLst/>
          </a:prstGeom>
        </p:spPr>
      </p:pic>
      <p:sp>
        <p:nvSpPr>
          <p:cNvPr id="8" name="frame-315"/>
          <p:cNvSpPr/>
          <p:nvPr/>
        </p:nvSpPr>
        <p:spPr>
          <a:xfrm>
            <a:off x="457200" y="1280160"/>
            <a:ext cx="5532120" cy="3457575"/>
          </a:xfrm>
          <a:prstGeom prst="rect">
            <a:avLst/>
          </a:prstGeom>
          <a:ln w="9525">
            <a:solidFill>
              <a:srgbClr val="BFBFBF"/>
            </a:solidFill>
            <a:prstDash val="solid"/>
          </a:ln>
        </p:spPr>
      </p:sp>
      <p:sp>
        <p:nvSpPr>
          <p:cNvPr id="9" name="t-316"/>
          <p:cNvSpPr txBox="1"/>
          <p:nvPr/>
        </p:nvSpPr>
        <p:spPr>
          <a:xfrm>
            <a:off x="45720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Ask tab: question answered from the transcript, with timestamped moments</a:t>
            </a:r>
            <a:endParaRPr lang="en-US" sz="1200" dirty="0"/>
          </a:p>
        </p:txBody>
      </p:sp>
      <p:pic>
        <p:nvPicPr>
          <p:cNvPr id="10" name="img-317" descr="/Users/mithilesh/Downloads/cloudnote-site (1)/docs/manual/img/10-notes-ask.jpg">    </p:cNvPr>
          <p:cNvPicPr>
            <a:picLocks noChangeAspect="1"/>
          </p:cNvPicPr>
          <p:nvPr/>
        </p:nvPicPr>
        <p:blipFill>
          <a:blip r:embed="rId3"/>
          <a:stretch>
            <a:fillRect/>
          </a:stretch>
        </p:blipFill>
        <p:spPr>
          <a:xfrm>
            <a:off x="6217920" y="1280160"/>
            <a:ext cx="5532120" cy="3457575"/>
          </a:xfrm>
          <a:prstGeom prst="rect">
            <a:avLst/>
          </a:prstGeom>
        </p:spPr>
      </p:pic>
      <p:sp>
        <p:nvSpPr>
          <p:cNvPr id="11" name="frame-318"/>
          <p:cNvSpPr/>
          <p:nvPr/>
        </p:nvSpPr>
        <p:spPr>
          <a:xfrm>
            <a:off x="6217920" y="1280160"/>
            <a:ext cx="5532120" cy="3457575"/>
          </a:xfrm>
          <a:prstGeom prst="rect">
            <a:avLst/>
          </a:prstGeom>
          <a:ln w="9525">
            <a:solidFill>
              <a:srgbClr val="BFBFBF"/>
            </a:solidFill>
            <a:prstDash val="solid"/>
          </a:ln>
        </p:spPr>
      </p:sp>
      <p:sp>
        <p:nvSpPr>
          <p:cNvPr id="12" name="t-319"/>
          <p:cNvSpPr txBox="1"/>
          <p:nvPr/>
        </p:nvSpPr>
        <p:spPr>
          <a:xfrm>
            <a:off x="621792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Ask your notes: answer with numbered citations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logo-320"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21"/>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(2/4): Context Recovery</a:t>
            </a:r>
            <a:endParaRPr lang="en-US" sz="4000" dirty="0"/>
          </a:p>
        </p:txBody>
      </p:sp>
      <p:sp>
        <p:nvSpPr>
          <p:cNvPr id="4" name="t-322"/>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23"/>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24"/>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19</a:t>
            </a:r>
            <a:endParaRPr lang="en-US" sz="1100" dirty="0"/>
          </a:p>
        </p:txBody>
      </p:sp>
      <p:pic>
        <p:nvPicPr>
          <p:cNvPr id="7" name="img-325" descr="/Users/mithilesh/Downloads/cloudnote-site (1)/docs/manual/img/07-video-context.jpg">    </p:cNvPr>
          <p:cNvPicPr>
            <a:picLocks noChangeAspect="1"/>
          </p:cNvPicPr>
          <p:nvPr/>
        </p:nvPicPr>
        <p:blipFill>
          <a:blip r:embed="rId2"/>
          <a:stretch>
            <a:fillRect/>
          </a:stretch>
        </p:blipFill>
        <p:spPr>
          <a:xfrm>
            <a:off x="457200" y="1280160"/>
            <a:ext cx="5532120" cy="3457575"/>
          </a:xfrm>
          <a:prstGeom prst="rect">
            <a:avLst/>
          </a:prstGeom>
        </p:spPr>
      </p:pic>
      <p:sp>
        <p:nvSpPr>
          <p:cNvPr id="8" name="frame-326"/>
          <p:cNvSpPr/>
          <p:nvPr/>
        </p:nvSpPr>
        <p:spPr>
          <a:xfrm>
            <a:off x="457200" y="1280160"/>
            <a:ext cx="5532120" cy="3457575"/>
          </a:xfrm>
          <a:prstGeom prst="rect">
            <a:avLst/>
          </a:prstGeom>
          <a:ln w="9525">
            <a:solidFill>
              <a:srgbClr val="BFBFBF"/>
            </a:solidFill>
            <a:prstDash val="solid"/>
          </a:ln>
        </p:spPr>
      </p:sp>
      <p:sp>
        <p:nvSpPr>
          <p:cNvPr id="9" name="t-327"/>
          <p:cNvSpPr txBox="1"/>
          <p:nvPr/>
        </p:nvSpPr>
        <p:spPr>
          <a:xfrm>
            <a:off x="45720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Context tab: detected references and suggested sources</a:t>
            </a:r>
            <a:endParaRPr lang="en-US" sz="1200" dirty="0"/>
          </a:p>
        </p:txBody>
      </p:sp>
      <p:pic>
        <p:nvPicPr>
          <p:cNvPr id="10" name="img-328" descr="/Users/mithilesh/Downloads/cloudnote-site (1)/docs/manual/img/13-map.jpg">    </p:cNvPr>
          <p:cNvPicPr>
            <a:picLocks noChangeAspect="1"/>
          </p:cNvPicPr>
          <p:nvPr/>
        </p:nvPicPr>
        <p:blipFill>
          <a:blip r:embed="rId3"/>
          <a:stretch>
            <a:fillRect/>
          </a:stretch>
        </p:blipFill>
        <p:spPr>
          <a:xfrm>
            <a:off x="6217920" y="1280160"/>
            <a:ext cx="5532120" cy="3457575"/>
          </a:xfrm>
          <a:prstGeom prst="rect">
            <a:avLst/>
          </a:prstGeom>
        </p:spPr>
      </p:pic>
      <p:sp>
        <p:nvSpPr>
          <p:cNvPr id="11" name="frame-329"/>
          <p:cNvSpPr/>
          <p:nvPr/>
        </p:nvSpPr>
        <p:spPr>
          <a:xfrm>
            <a:off x="6217920" y="1280160"/>
            <a:ext cx="5532120" cy="3457575"/>
          </a:xfrm>
          <a:prstGeom prst="rect">
            <a:avLst/>
          </a:prstGeom>
          <a:ln w="9525">
            <a:solidFill>
              <a:srgbClr val="BFBFBF"/>
            </a:solidFill>
            <a:prstDash val="solid"/>
          </a:ln>
        </p:spPr>
      </p:sp>
      <p:sp>
        <p:nvSpPr>
          <p:cNvPr id="12" name="t-330"/>
          <p:cNvSpPr txBox="1"/>
          <p:nvPr/>
        </p:nvSpPr>
        <p:spPr>
          <a:xfrm>
            <a:off x="6217920" y="4792599"/>
            <a:ext cx="5532120" cy="274320"/>
          </a:xfrm>
          <a:prstGeom prst="rect">
            <a:avLst/>
          </a:prstGeom>
          <a:noFill/>
          <a:ln/>
        </p:spPr>
        <p:txBody>
          <a:bodyPr wrap="square" lIns="0" tIns="0" rIns="0" bIns="0" rtlCol="0" anchor="ctr"/>
          <a:lstStyle/>
          <a:p>
            <a:pPr algn="ctr" indent="0" marL="0">
              <a:buNone/>
            </a:pPr>
            <a:r>
              <a:rPr lang="en-US" sz="1200" i="1" dirty="0">
                <a:solidFill>
                  <a:srgbClr val="595959"/>
                </a:solidFill>
                <a:latin typeface="Calibri" pitchFamily="34" charset="0"/>
                <a:ea typeface="Calibri" pitchFamily="34" charset="-122"/>
                <a:cs typeface="Calibri" pitchFamily="34" charset="-120"/>
              </a:rPr>
              <a:t>Library map: dependencies, watch order and gaps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logo-33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3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(3/4): Testing</a:t>
            </a:r>
            <a:endParaRPr lang="en-US" sz="4000" dirty="0"/>
          </a:p>
        </p:txBody>
      </p:sp>
      <p:sp>
        <p:nvSpPr>
          <p:cNvPr id="4" name="t-33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3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3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20</a:t>
            </a:r>
            <a:endParaRPr lang="en-US" sz="1100" dirty="0"/>
          </a:p>
        </p:txBody>
      </p:sp>
      <p:graphicFrame>
        <p:nvGraphicFramePr>
          <p:cNvPr id="7" name="testchart" descr=""/>
          <p:cNvGraphicFramePr/>
          <p:nvPr/>
        </p:nvGraphicFramePr>
        <p:xfrm>
          <a:off x="457200" y="1234440"/>
          <a:ext cx="6949440" cy="4937760"/>
        </p:xfrm>
        <a:graphic xmlns:a="http://schemas.openxmlformats.org/drawingml/2006/main">
          <a:graphicData uri="http://schemas.openxmlformats.org/drawingml/2006/chart">
            <c:chart xmlns:c="http://schemas.openxmlformats.org/drawingml/2006/chart" r:id="rId2"/>
          </a:graphicData>
        </a:graphic>
      </p:graphicFrame>
      <p:sp>
        <p:nvSpPr>
          <p:cNvPr id="8" name="t-336"/>
          <p:cNvSpPr txBox="1"/>
          <p:nvPr/>
        </p:nvSpPr>
        <p:spPr>
          <a:xfrm>
            <a:off x="7680960" y="1371600"/>
            <a:ext cx="4023360" cy="822960"/>
          </a:xfrm>
          <a:prstGeom prst="rect">
            <a:avLst/>
          </a:prstGeom>
          <a:noFill/>
          <a:ln/>
        </p:spPr>
        <p:txBody>
          <a:bodyPr wrap="square" lIns="0" tIns="0" rIns="0" bIns="0" rtlCol="0" anchor="ctr"/>
          <a:lstStyle/>
          <a:p>
            <a:pPr algn="ctr" indent="0" marL="0">
              <a:buNone/>
            </a:pPr>
            <a:r>
              <a:rPr lang="en-US" sz="4800" b="1" dirty="0">
                <a:solidFill>
                  <a:srgbClr val="548235"/>
                </a:solidFill>
                <a:latin typeface="Times New Roman" pitchFamily="34" charset="0"/>
                <a:ea typeface="Times New Roman" pitchFamily="34" charset="-122"/>
                <a:cs typeface="Times New Roman" pitchFamily="34" charset="-120"/>
              </a:rPr>
              <a:t>102 / 102</a:t>
            </a:r>
            <a:endParaRPr lang="en-US" sz="4800" dirty="0"/>
          </a:p>
        </p:txBody>
      </p:sp>
      <p:sp>
        <p:nvSpPr>
          <p:cNvPr id="9" name="t-337"/>
          <p:cNvSpPr txBox="1"/>
          <p:nvPr/>
        </p:nvSpPr>
        <p:spPr>
          <a:xfrm>
            <a:off x="7680960" y="2194560"/>
            <a:ext cx="402336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tests passed, 0 failed</a:t>
            </a:r>
            <a:endParaRPr lang="en-US" sz="1500" dirty="0"/>
          </a:p>
        </p:txBody>
      </p:sp>
      <p:sp>
        <p:nvSpPr>
          <p:cNvPr id="10" name="t-338"/>
          <p:cNvSpPr txBox="1"/>
          <p:nvPr/>
        </p:nvSpPr>
        <p:spPr>
          <a:xfrm>
            <a:off x="7680960" y="2743200"/>
            <a:ext cx="4023360" cy="33832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Security (live):</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cross-user access returns 404; unsigned S3 write 403; no token 401</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Transcription (live):</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real clip transcribed and noted in 16.4 s</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Grounding:</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uncited answers rejected; off-topic questions declined</a:t>
            </a:r>
            <a:endParaRPr lang="en-US" sz="1400" dirty="0"/>
          </a:p>
          <a:p>
            <a:pPr marL="342900" indent="-342900">
              <a:spcAft>
                <a:spcPts val="600"/>
              </a:spcAft>
              <a:buSzPct val="100000"/>
              <a:buChar char="•"/>
            </a:pPr>
            <a:r>
              <a:rPr lang="en-US" sz="1400" b="1" dirty="0">
                <a:solidFill>
                  <a:srgbClr val="000000"/>
                </a:solidFill>
                <a:latin typeface="Calibri" pitchFamily="34" charset="0"/>
                <a:ea typeface="Calibri" pitchFamily="34" charset="-122"/>
                <a:cs typeface="Calibri" pitchFamily="34" charset="-120"/>
              </a:rPr>
              <a:t>Found and fixed on real AWS:</a:t>
            </a:r>
            <a:pPr indent="0" marL="0">
              <a:spcAft>
                <a:spcPts val="600"/>
              </a:spcAft>
              <a:buNone/>
            </a:pPr>
            <a:r>
              <a:rPr lang="en-US" sz="1400" dirty="0">
                <a:solidFill>
                  <a:srgbClr val="000000"/>
                </a:solidFill>
                <a:latin typeface="Calibri" pitchFamily="34" charset="0"/>
                <a:ea typeface="Calibri" pitchFamily="34" charset="-122"/>
                <a:cs typeface="Calibri" pitchFamily="34" charset="-120"/>
              </a:rPr>
              <a:t> 6 issues (packaging, IAM, plan, Bedrock quota, model retirement, citation formats)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logo-339"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40"/>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Results &amp; Discussion (4/4): Performance</a:t>
            </a:r>
            <a:endParaRPr lang="en-US" sz="4000" dirty="0"/>
          </a:p>
        </p:txBody>
      </p:sp>
      <p:sp>
        <p:nvSpPr>
          <p:cNvPr id="4" name="t-34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4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4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21</a:t>
            </a:r>
            <a:endParaRPr lang="en-US" sz="1100" dirty="0"/>
          </a:p>
        </p:txBody>
      </p:sp>
      <p:graphicFrame>
        <p:nvGraphicFramePr>
          <p:cNvPr id="7" name="perfchart" descr=""/>
          <p:cNvGraphicFramePr/>
          <p:nvPr/>
        </p:nvGraphicFramePr>
        <p:xfrm>
          <a:off x="457200" y="1234440"/>
          <a:ext cx="694944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22" name="tbl-344"/>
          <p:cNvGraphicFramePr>
            <a:graphicFrameLocks noGrp="1"/>
          </p:cNvGraphicFramePr>
          <p:nvPr>
            <p:extLst>
              <p:ext uri="{D42A27DB-BD31-4B8C-83A1-F6EECF244321}">
                <p14:modId xmlns:p14="http://schemas.microsoft.com/office/powerpoint/2010/main" val="1579011935"/>
              </p:ext>
            </p:extLst>
          </p:nvPr>
        </p:nvGraphicFramePr>
        <p:xfrm>
          <a:off x="7680960" y="1325880"/>
          <a:ext cx="4023360" cy="914400"/>
        </p:xfrm>
        <a:graphic>
          <a:graphicData uri="http://schemas.openxmlformats.org/drawingml/2006/table">
            <a:tbl>
              <a:tblPr/>
              <a:tblGrid>
                <a:gridCol w="2651760"/>
                <a:gridCol w="1371600"/>
              </a:tblGrid>
              <a:tr h="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2F2F2"/>
                    </a:solidFill>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Lambda API median (server side)</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14.9 ms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Network floor India → us-east-1</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~340 ms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11-s clip: upload → AI notes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17.3 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AI answer (median)</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~2.5 s</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App JavaScript (gzip)</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47 KB</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AWS cost, Oct 2026</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~0.00 USD</a:t>
                      </a:r>
                      <a:endParaRPr lang="en-US" sz="1300" dirty="0">
                        <a:latin typeface="Calibri" charset="0"/>
                        <a:ea typeface="Calibri" charset="0"/>
                        <a:cs typeface="Calibri" charset="0"/>
                      </a:endParaRPr>
                    </a:p>
                  </a:txBody>
                  <a:tcPr marL="50800" marR="50800" marT="25400" marB="2540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bl>
          </a:graphicData>
        </a:graphic>
      </p:graphicFrame>
      <p:sp>
        <p:nvSpPr>
          <p:cNvPr id="9" name="t-345"/>
          <p:cNvSpPr txBox="1"/>
          <p:nvPr/>
        </p:nvSpPr>
        <p:spPr>
          <a:xfrm>
            <a:off x="7680960" y="4343400"/>
            <a:ext cx="4023360" cy="1737360"/>
          </a:xfrm>
          <a:prstGeom prst="rect">
            <a:avLst/>
          </a:prstGeom>
          <a:noFill/>
          <a:ln/>
        </p:spPr>
        <p:txBody>
          <a:bodyPr wrap="square" lIns="0" tIns="0" rIns="0" bIns="0" rtlCol="0" anchor="t"/>
          <a:lstStyle/>
          <a:p>
            <a:pPr indent="0" marL="0">
              <a:buNone/>
            </a:pPr>
            <a:r>
              <a:rPr lang="en-US" sz="1400" i="1" dirty="0">
                <a:solidFill>
                  <a:srgbClr val="000000"/>
                </a:solidFill>
                <a:latin typeface="Calibri" pitchFamily="34" charset="0"/>
                <a:ea typeface="Calibri" pitchFamily="34" charset="-122"/>
                <a:cs typeface="Calibri" pitchFamily="34" charset="-120"/>
              </a:rPr>
              <a:t>Discussion: the server answers in about 15 ms; most user-visible delay is the round trip to the US region. Deploying in Mumbai (ap-south-1) would remove most of it.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logo-346"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47"/>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Conclusion</a:t>
            </a:r>
            <a:endParaRPr lang="en-US" sz="4000" dirty="0"/>
          </a:p>
        </p:txBody>
      </p:sp>
      <p:sp>
        <p:nvSpPr>
          <p:cNvPr id="4" name="t-348"/>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49"/>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50"/>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22</a:t>
            </a:r>
            <a:endParaRPr lang="en-US" sz="1100" dirty="0"/>
          </a:p>
        </p:txBody>
      </p:sp>
      <p:sp>
        <p:nvSpPr>
          <p:cNvPr id="7" name="t-351"/>
          <p:cNvSpPr txBox="1"/>
          <p:nvPr/>
        </p:nvSpPr>
        <p:spPr>
          <a:xfrm>
            <a:off x="685800" y="1234440"/>
            <a:ext cx="5394960" cy="411480"/>
          </a:xfrm>
          <a:prstGeom prst="rect">
            <a:avLst/>
          </a:prstGeom>
          <a:noFill/>
          <a:ln/>
        </p:spPr>
        <p:txBody>
          <a:bodyPr wrap="square" lIns="0" tIns="0" rIns="0" bIns="0" rtlCol="0" anchor="ctr"/>
          <a:lstStyle/>
          <a:p>
            <a:pPr indent="0" marL="0">
              <a:buNone/>
            </a:pPr>
            <a:r>
              <a:rPr lang="en-US" sz="2200" b="1" dirty="0">
                <a:solidFill>
                  <a:srgbClr val="960000"/>
                </a:solidFill>
                <a:latin typeface="Times New Roman" pitchFamily="34" charset="0"/>
                <a:ea typeface="Times New Roman" pitchFamily="34" charset="-122"/>
                <a:cs typeface="Times New Roman" pitchFamily="34" charset="-120"/>
              </a:rPr>
              <a:t>Summary of the proposal</a:t>
            </a:r>
            <a:endParaRPr lang="en-US" sz="2200" dirty="0"/>
          </a:p>
        </p:txBody>
      </p:sp>
      <p:sp>
        <p:nvSpPr>
          <p:cNvPr id="8" name="t-352"/>
          <p:cNvSpPr txBox="1"/>
          <p:nvPr/>
        </p:nvSpPr>
        <p:spPr>
          <a:xfrm>
            <a:off x="685800" y="1737360"/>
            <a:ext cx="5394960" cy="42062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CloudNote AI is built and deployed on AWS, open for sign-up</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Every note and answer points to a playable moment</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References between recordings are detected, linked and remembered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Layered security verified live; 102/102 tests passed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Pay-per-use: near-zero cost so far</a:t>
            </a:r>
            <a:endParaRPr lang="en-US" sz="1800" dirty="0"/>
          </a:p>
        </p:txBody>
      </p:sp>
      <p:sp>
        <p:nvSpPr>
          <p:cNvPr id="9" name="t-353"/>
          <p:cNvSpPr txBox="1"/>
          <p:nvPr/>
        </p:nvSpPr>
        <p:spPr>
          <a:xfrm>
            <a:off x="6400800" y="1234440"/>
            <a:ext cx="5394960" cy="411480"/>
          </a:xfrm>
          <a:prstGeom prst="rect">
            <a:avLst/>
          </a:prstGeom>
          <a:noFill/>
          <a:ln/>
        </p:spPr>
        <p:txBody>
          <a:bodyPr wrap="square" lIns="0" tIns="0" rIns="0" bIns="0" rtlCol="0" anchor="ctr"/>
          <a:lstStyle/>
          <a:p>
            <a:pPr indent="0" marL="0">
              <a:buNone/>
            </a:pPr>
            <a:r>
              <a:rPr lang="en-US" sz="2200" b="1" dirty="0">
                <a:solidFill>
                  <a:srgbClr val="960000"/>
                </a:solidFill>
                <a:latin typeface="Times New Roman" pitchFamily="34" charset="0"/>
                <a:ea typeface="Times New Roman" pitchFamily="34" charset="-122"/>
                <a:cs typeface="Times New Roman" pitchFamily="34" charset="-120"/>
              </a:rPr>
              <a:t>Next steps for the next evaluation phase</a:t>
            </a:r>
            <a:endParaRPr lang="en-US" sz="2200" dirty="0"/>
          </a:p>
        </p:txBody>
      </p:sp>
      <p:sp>
        <p:nvSpPr>
          <p:cNvPr id="10" name="t-354"/>
          <p:cNvSpPr txBox="1"/>
          <p:nvPr/>
        </p:nvSpPr>
        <p:spPr>
          <a:xfrm>
            <a:off x="6400800" y="1737360"/>
            <a:ext cx="5394960" cy="42062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Measure reference-detection accuracy on real lecture series</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Enable Bedrock and Titan semantic search when the quota is raised</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Hindi and Telugu reference patterns</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Shared course libraries for a class; MFA and WAF</a:t>
            </a:r>
            <a:endParaRPr lang="en-US" sz="1800" dirty="0"/>
          </a:p>
          <a:p>
            <a:pPr marL="342900" indent="-342900">
              <a:spcAft>
                <a:spcPts val="600"/>
              </a:spcAft>
              <a:buSzPct val="100000"/>
              <a:buChar char="•"/>
            </a:pPr>
            <a:r>
              <a:rPr lang="en-US" sz="1800" dirty="0">
                <a:solidFill>
                  <a:srgbClr val="000000"/>
                </a:solidFill>
                <a:latin typeface="Calibri" pitchFamily="34" charset="0"/>
                <a:ea typeface="Calibri" pitchFamily="34" charset="-122"/>
                <a:cs typeface="Calibri" pitchFamily="34" charset="-120"/>
              </a:rPr>
              <a:t>Move to the Mumbai region; user study with students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logo-355"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56"/>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References (1/2)</a:t>
            </a:r>
            <a:endParaRPr lang="en-US" sz="4000" dirty="0"/>
          </a:p>
        </p:txBody>
      </p:sp>
      <p:sp>
        <p:nvSpPr>
          <p:cNvPr id="4" name="t-357"/>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58"/>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59"/>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23</a:t>
            </a:r>
            <a:endParaRPr lang="en-US" sz="1100" dirty="0"/>
          </a:p>
        </p:txBody>
      </p:sp>
      <p:sp>
        <p:nvSpPr>
          <p:cNvPr id="7" name="t-360"/>
          <p:cNvSpPr txBox="1"/>
          <p:nvPr/>
        </p:nvSpPr>
        <p:spPr>
          <a:xfrm>
            <a:off x="548640" y="1234440"/>
            <a:ext cx="11064240" cy="498348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 Baevski, A., Zhou, H., Mohamed, A., &amp; Auli, M. (2020). wav2vec 2.0: A framework for self-supervised learning of speech representations. Advances in Neural Information Processing Systems, 33. https://doi.org/10.48550/arXiv.2006.11477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[2] Gao, T., Yen, H., Yu, J., &amp; Chen, D. (2023). Enabling large language models to generate text with citations. Proceedings of EMNLP 2023. https://doi.org/10.48550/arXiv.2305.14627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[3] Ji, Z., Lee, N., Frieske, R., et al. (2023). Survey of hallucination in natural language generation. ACM Computing Surveys, 55(12). https://doi.org/10.1145/3571730</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[4] Karpukhin, V., Oguz, B., Min, S., et al. (2020). Dense passage retrieval for open-domain question answering. Proceedings of EMNLP 2020. https://doi.org/10.18653/v1/2020.emnlp-main.550</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[5] Kasneci, E., Sessler, K., Küchemann, S., et al. (2023). ChatGPT for good? On opportunities and challenges of large language models for education. Learning and Individual Differences, 103, 102274. https://doi.org/10.1016/j.lindif.2023.102274</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[6] Khattab, O., &amp; Zaharia, M. (2020). ColBERT: Efficient and effective passage search via contextualized late interaction over BERT. Proceedings of SIGIR 2020. https://doi.org/10.1145/3397271.3401075</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[7] Lewis, M., Liu, Y., Goyal, N., et al. (2020). BART: Denoising sequence-to-sequence pre-training for natural language generation, translation, and comprehension. Proceedings of ACL 2020. https://doi.org/10.18653/v1/2020.acl-main.703</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[8] Lewis, P., Perez, E., Piktus, A., et al. (2020). Retrieval-augmented generation for knowledge-intensive NLP tasks. Advances in Neural Information Processing Systems, 33. https://doi.org/10.48550/arXiv.2005.11401</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logo-361"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62"/>
          <p:cNvSpPr txBox="1"/>
          <p:nvPr/>
        </p:nvSpPr>
        <p:spPr>
          <a:xfrm>
            <a:off x="1463040" y="274320"/>
            <a:ext cx="9235440" cy="868680"/>
          </a:xfrm>
          <a:prstGeom prst="rect">
            <a:avLst/>
          </a:prstGeom>
          <a:noFill/>
          <a:ln/>
        </p:spPr>
        <p:txBody>
          <a:bodyPr wrap="square" lIns="0" tIns="0" rIns="0" bIns="0" rtlCol="0" anchor="ctr">
            <a:normAutofit/>
          </a:bodyP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References (2/2)</a:t>
            </a:r>
            <a:endParaRPr lang="en-US" sz="4000" dirty="0"/>
          </a:p>
        </p:txBody>
      </p:sp>
      <p:sp>
        <p:nvSpPr>
          <p:cNvPr id="4" name="t-363"/>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5" name="t-364"/>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6" name="t-365"/>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24</a:t>
            </a:r>
            <a:endParaRPr lang="en-US" sz="1100" dirty="0"/>
          </a:p>
        </p:txBody>
      </p:sp>
      <p:sp>
        <p:nvSpPr>
          <p:cNvPr id="7" name="t-366"/>
          <p:cNvSpPr txBox="1"/>
          <p:nvPr/>
        </p:nvSpPr>
        <p:spPr>
          <a:xfrm>
            <a:off x="548640" y="1234440"/>
            <a:ext cx="11064240" cy="320040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[9] Liu, N. F., Lin, K., Hewitt, J., et al. (2024). Lost in the middle: How language models use long contexts. Transactions of the ACL, 12. https://doi.org/10.1162/tacl_a_00638</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[10] Menick, J., Trebacz, M., Mikulik, V., et al. (2022). Teaching language models to support answers with verified quotes. arXiv. https://doi.org/10.48550/arXiv.2203.11147</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[11] Nakano, R., Hilton, J., Balaji, S., et al. (2021). WebGPT: Browser-assisted question-answering with human feedback. arXiv. https://doi.org/10.48550/arXiv.2112.09332</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[12] Radford, A., Kim, J. W., Xu, T., Brockman, G., McLeavey, C., &amp; Sutskever, I. (2023). Robust speech recognition via large-scale weak supervision. Proceedings of ICML 2023. https://doi.org/10.48550/arXiv.2212.04356</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[13] Shahrad, M., Fonseca, R., Goiri, Í., et al. (2020). Serverless in the wild: Characterizing and optimizing the serverless workload at a large cloud provider. USENIX ATC 2020. https://doi.org/10.48550/arXiv.2003.03423</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[14] Thakur, N., Reimers, N., Rücklé, A., Srivastava, A., &amp; Gurevych, I. (2021). BEIR: A heterogeneous benchmark for zero-shot evaluation of information retrieval models. NeurIPS Datasets and Benchmarks. https://doi.org/10.48550/arXiv.2104.08663</a:t>
            </a:r>
            <a:endParaRPr lang="en-US" sz="1200" dirty="0"/>
          </a:p>
          <a:p>
            <a:pPr indent="0" marL="0">
              <a:spcAft>
                <a:spcPts val="400"/>
              </a:spcAft>
              <a:buNone/>
            </a:pPr>
            <a:r>
              <a:rPr lang="en-US" sz="1200" dirty="0">
                <a:solidFill>
                  <a:srgbClr val="000000"/>
                </a:solidFill>
                <a:latin typeface="Calibri" pitchFamily="34" charset="0"/>
                <a:ea typeface="Calibri" pitchFamily="34" charset="-122"/>
                <a:cs typeface="Calibri" pitchFamily="34" charset="-120"/>
              </a:rPr>
              <a:t>[15] Zhang, J., Zhao, Y., Saleh, M., &amp; Liu, P. J. (2020). PEGASUS: Pre-training with extracted gap-sentences for abstractive summarization. Proceedings of ICML 2020. https://doi.org/10.48550/arXiv.1912.08777</a:t>
            </a:r>
            <a:endParaRPr lang="en-US" sz="1200" dirty="0"/>
          </a:p>
        </p:txBody>
      </p:sp>
      <p:sp>
        <p:nvSpPr>
          <p:cNvPr id="8" name="t-367"/>
          <p:cNvSpPr txBox="1"/>
          <p:nvPr/>
        </p:nvSpPr>
        <p:spPr>
          <a:xfrm>
            <a:off x="548640" y="4434840"/>
            <a:ext cx="7772400" cy="320040"/>
          </a:xfrm>
          <a:prstGeom prst="rect">
            <a:avLst/>
          </a:prstGeom>
          <a:noFill/>
          <a:ln/>
        </p:spPr>
        <p:txBody>
          <a:bodyPr wrap="square" lIns="0" tIns="0" rIns="0" bIns="0" rtlCol="0" anchor="ctr"/>
          <a:lstStyle/>
          <a:p>
            <a:pPr indent="0" marL="0">
              <a:buNone/>
            </a:pPr>
            <a:r>
              <a:rPr lang="en-US" sz="1500" b="1" dirty="0">
                <a:solidFill>
                  <a:srgbClr val="960000"/>
                </a:solidFill>
                <a:latin typeface="Times New Roman" pitchFamily="34" charset="0"/>
                <a:ea typeface="Times New Roman" pitchFamily="34" charset="-122"/>
                <a:cs typeface="Times New Roman" pitchFamily="34" charset="-120"/>
              </a:rPr>
              <a:t>Other sources: documentation, textbook, software</a:t>
            </a:r>
            <a:endParaRPr lang="en-US" sz="1500" dirty="0"/>
          </a:p>
        </p:txBody>
      </p:sp>
      <p:sp>
        <p:nvSpPr>
          <p:cNvPr id="9" name="t-368"/>
          <p:cNvSpPr txBox="1"/>
          <p:nvPr/>
        </p:nvSpPr>
        <p:spPr>
          <a:xfrm>
            <a:off x="548640" y="4754880"/>
            <a:ext cx="8778240" cy="15087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Amazon Transcribe developer guide. https://docs.aws.amazon.com/transcribe/</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Amazon Bedrock user guide. https://docs.aws.amazon.com/bedrock/</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Amazon Web Services. (2026). AWS Serverless Application Model developer guide. https://docs.aws.amazon.com/serverless-application-model/</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Manning, C. D., Raghavan, P., &amp; Schütze, H. (2008). Introduction to information retrieval. Cambridge University Press.</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OWASP Foundation. (2021). OWASP Top 10: 2021. https://owasp.org/Top10/</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CloudNote AI source code (GitHub): https://github.com/kmithileshhhhh05/cloudnote-ai</a:t>
            </a:r>
            <a:endParaRPr lang="en-US" sz="1100" dirty="0"/>
          </a:p>
          <a:p>
            <a:pPr marL="342900" indent="-342900">
              <a:spcAft>
                <a:spcPts val="200"/>
              </a:spcAft>
              <a:buSzPct val="100000"/>
              <a:buChar char="•"/>
            </a:pPr>
            <a:r>
              <a:rPr lang="en-US" sz="1100" dirty="0">
                <a:solidFill>
                  <a:srgbClr val="000000"/>
                </a:solidFill>
                <a:latin typeface="Calibri" pitchFamily="34" charset="0"/>
                <a:ea typeface="Calibri" pitchFamily="34" charset="-122"/>
                <a:cs typeface="Calibri" pitchFamily="34" charset="-120"/>
              </a:rPr>
              <a:t>CloudNote AI live system: https://d349qer3boe6fg.cloudfront.net</a:t>
            </a:r>
            <a:endParaRPr lang="en-US" sz="1100" dirty="0"/>
          </a:p>
        </p:txBody>
      </p:sp>
      <p:pic>
        <p:nvPicPr>
          <p:cNvPr id="10" name="qrg" descr="/private/tmp/claude-501/-Users-mithilesh-Downloads-cloudnote-site--1-/6c250750-b801-43eb-9bc6-27723f42fa53/scratchpad/docgen/img/qr_git.png">    </p:cNvPr>
          <p:cNvPicPr>
            <a:picLocks noChangeAspect="1"/>
          </p:cNvPicPr>
          <p:nvPr/>
        </p:nvPicPr>
        <p:blipFill>
          <a:blip r:embed="rId2"/>
          <a:stretch>
            <a:fillRect/>
          </a:stretch>
        </p:blipFill>
        <p:spPr>
          <a:xfrm>
            <a:off x="9829800" y="4480560"/>
            <a:ext cx="1280160" cy="1280160"/>
          </a:xfrm>
          <a:prstGeom prst="rect">
            <a:avLst/>
          </a:prstGeom>
        </p:spPr>
      </p:pic>
      <p:sp>
        <p:nvSpPr>
          <p:cNvPr id="11" name="t-369"/>
          <p:cNvSpPr txBox="1"/>
          <p:nvPr/>
        </p:nvSpPr>
        <p:spPr>
          <a:xfrm>
            <a:off x="9555480" y="5779008"/>
            <a:ext cx="1828800"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Calibri" pitchFamily="34" charset="0"/>
                <a:ea typeface="Calibri" pitchFamily="34" charset="-122"/>
                <a:cs typeface="Calibri" pitchFamily="34" charset="-120"/>
              </a:rPr>
              <a:t>GitHub</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logo-370" descr="/private/tmp/claude-501/-Users-mithilesh-Downloads-cloudnote-site--1-/6c250750-b801-43eb-9bc6-27723f42fa53/scratchpad/docgen/img/klh_small.png">    </p:cNvPr>
          <p:cNvPicPr>
            <a:picLocks noChangeAspect="1"/>
          </p:cNvPicPr>
          <p:nvPr/>
        </p:nvPicPr>
        <p:blipFill>
          <a:blip r:embed="rId1"/>
          <a:stretch>
            <a:fillRect/>
          </a:stretch>
        </p:blipFill>
        <p:spPr>
          <a:xfrm>
            <a:off x="45720" y="109728"/>
            <a:ext cx="1325880" cy="628048"/>
          </a:xfrm>
          <a:prstGeom prst="rect">
            <a:avLst/>
          </a:prstGeom>
        </p:spPr>
      </p:pic>
      <p:sp>
        <p:nvSpPr>
          <p:cNvPr id="3" name="t-371"/>
          <p:cNvSpPr txBox="1"/>
          <p:nvPr/>
        </p:nvSpPr>
        <p:spPr>
          <a:xfrm>
            <a:off x="685800" y="6355080"/>
            <a:ext cx="2286000" cy="27432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31-10-2026</a:t>
            </a:r>
            <a:endParaRPr lang="en-US" sz="1100" dirty="0"/>
          </a:p>
        </p:txBody>
      </p:sp>
      <p:sp>
        <p:nvSpPr>
          <p:cNvPr id="4" name="t-372"/>
          <p:cNvSpPr txBox="1"/>
          <p:nvPr/>
        </p:nvSpPr>
        <p:spPr>
          <a:xfrm>
            <a:off x="4937760" y="6355080"/>
            <a:ext cx="2286000" cy="274320"/>
          </a:xfrm>
          <a:prstGeom prst="rect">
            <a:avLst/>
          </a:prstGeom>
          <a:noFill/>
          <a:ln/>
        </p:spPr>
        <p:txBody>
          <a:bodyPr wrap="square" lIns="0" tIns="0" rIns="0" bIns="0" rtlCol="0" anchor="ctr"/>
          <a:lstStyle/>
          <a:p>
            <a:pPr algn="ctr" indent="0" marL="0">
              <a:buNone/>
            </a:pPr>
            <a:r>
              <a:rPr lang="en-US" sz="1100" dirty="0">
                <a:solidFill>
                  <a:srgbClr val="8C8C8C"/>
                </a:solidFill>
                <a:latin typeface="Calibri" pitchFamily="34" charset="0"/>
                <a:ea typeface="Calibri" pitchFamily="34" charset="-122"/>
                <a:cs typeface="Calibri" pitchFamily="34" charset="-120"/>
              </a:rPr>
              <a:t>PRC-III</a:t>
            </a:r>
            <a:endParaRPr lang="en-US" sz="1100" dirty="0"/>
          </a:p>
        </p:txBody>
      </p:sp>
      <p:sp>
        <p:nvSpPr>
          <p:cNvPr id="5" name="t-373"/>
          <p:cNvSpPr txBox="1"/>
          <p:nvPr/>
        </p:nvSpPr>
        <p:spPr>
          <a:xfrm>
            <a:off x="10607040" y="6355080"/>
            <a:ext cx="822960" cy="274320"/>
          </a:xfrm>
          <a:prstGeom prst="rect">
            <a:avLst/>
          </a:prstGeom>
          <a:noFill/>
          <a:ln/>
        </p:spPr>
        <p:txBody>
          <a:bodyPr wrap="square" lIns="0" tIns="0" rIns="0" bIns="0" rtlCol="0" anchor="ctr"/>
          <a:lstStyle/>
          <a:p>
            <a:pPr algn="r" indent="0" marL="0">
              <a:buNone/>
            </a:pPr>
            <a:r>
              <a:rPr lang="en-US" sz="1100" dirty="0">
                <a:solidFill>
                  <a:srgbClr val="8C8C8C"/>
                </a:solidFill>
                <a:latin typeface="Calibri" pitchFamily="34" charset="0"/>
                <a:ea typeface="Calibri" pitchFamily="34" charset="-122"/>
                <a:cs typeface="Calibri" pitchFamily="34" charset="-120"/>
              </a:rPr>
              <a:t>25</a:t>
            </a:r>
            <a:endParaRPr lang="en-US" sz="1100" dirty="0"/>
          </a:p>
        </p:txBody>
      </p:sp>
      <p:sp>
        <p:nvSpPr>
          <p:cNvPr id="6" name="t-374"/>
          <p:cNvSpPr txBox="1"/>
          <p:nvPr/>
        </p:nvSpPr>
        <p:spPr>
          <a:xfrm>
            <a:off x="2286000" y="2743200"/>
            <a:ext cx="7589520" cy="914400"/>
          </a:xfrm>
          <a:prstGeom prst="rect">
            <a:avLst/>
          </a:prstGeom>
          <a:noFill/>
          <a:ln/>
        </p:spPr>
        <p:txBody>
          <a:bodyPr wrap="square" lIns="0" tIns="0" rIns="0" bIns="0" rtlCol="0" anchor="ctr"/>
          <a:lstStyle/>
          <a:p>
            <a:pPr algn="ctr" indent="0" marL="0">
              <a:buNone/>
            </a:pPr>
            <a:r>
              <a:rPr lang="en-US" sz="4800" dirty="0">
                <a:solidFill>
                  <a:srgbClr val="000000"/>
                </a:solidFill>
                <a:latin typeface="Calibri" pitchFamily="34" charset="0"/>
                <a:ea typeface="Calibri" pitchFamily="34" charset="-122"/>
                <a:cs typeface="Calibri" pitchFamily="34" charset="-120"/>
              </a:rPr>
              <a:t>THANK YOU</a:t>
            </a:r>
            <a:endParaRPr lang="en-US" sz="4800" dirty="0"/>
          </a:p>
        </p:txBody>
      </p:sp>
      <p:pic>
        <p:nvPicPr>
          <p:cNvPr id="7" name="qrl" descr="/private/tmp/claude-501/-Users-mithilesh-Downloads-cloudnote-site--1-/6c250750-b801-43eb-9bc6-27723f42fa53/scratchpad/docgen/img/qr_live.png">    </p:cNvPr>
          <p:cNvPicPr>
            <a:picLocks noChangeAspect="1"/>
          </p:cNvPicPr>
          <p:nvPr/>
        </p:nvPicPr>
        <p:blipFill>
          <a:blip r:embed="rId2"/>
          <a:stretch>
            <a:fillRect/>
          </a:stretch>
        </p:blipFill>
        <p:spPr>
          <a:xfrm>
            <a:off x="5440680" y="3931920"/>
            <a:ext cx="1280160" cy="1280160"/>
          </a:xfrm>
          <a:prstGeom prst="rect">
            <a:avLst/>
          </a:prstGeom>
        </p:spPr>
      </p:pic>
      <p:sp>
        <p:nvSpPr>
          <p:cNvPr id="8" name="t-375"/>
          <p:cNvSpPr txBox="1"/>
          <p:nvPr/>
        </p:nvSpPr>
        <p:spPr>
          <a:xfrm>
            <a:off x="3200400" y="5257800"/>
            <a:ext cx="5760720" cy="320040"/>
          </a:xfrm>
          <a:prstGeom prst="rect">
            <a:avLst/>
          </a:prstGeom>
          <a:noFill/>
          <a:ln/>
        </p:spPr>
        <p:txBody>
          <a:bodyPr wrap="square" lIns="0" tIns="0" rIns="0" bIns="0" rtlCol="0" anchor="ctr"/>
          <a:lstStyle/>
          <a:p>
            <a:pPr algn="ctr" indent="0" marL="0">
              <a:buNone/>
            </a:pPr>
            <a:r>
              <a:rPr lang="en-US" sz="1300" dirty="0">
                <a:solidFill>
                  <a:srgbClr val="404040"/>
                </a:solidFill>
                <a:latin typeface="Calibri" pitchFamily="34" charset="0"/>
                <a:ea typeface="Calibri" pitchFamily="34" charset="-122"/>
                <a:cs typeface="Calibri" pitchFamily="34" charset="-120"/>
              </a:rPr>
              <a:t>Live demo: d349qer3boe6fg.cloudfront.net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CloudNote AI - Project Review-3</dc:title>
  <dc:subject>PptxGenJS Presentation</dc:subject>
  <dc:creator>CloudNote AI Project Team</dc:creator>
  <cp:lastModifiedBy>CloudNote AI Project Team</cp:lastModifiedBy>
  <cp:revision>1</cp:revision>
  <dcterms:created xsi:type="dcterms:W3CDTF">2026-10-31T05:30:17Z</dcterms:created>
  <dcterms:modified xsi:type="dcterms:W3CDTF">2026-10-31T05:30:17Z</dcterms:modified>
</cp:coreProperties>
</file>